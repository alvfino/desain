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7" r:id="rId3"/>
    <p:sldId id="257" r:id="rId4"/>
    <p:sldId id="258" r:id="rId5"/>
    <p:sldId id="259" r:id="rId6"/>
    <p:sldId id="260" r:id="rId7"/>
    <p:sldId id="261" r:id="rId8"/>
    <p:sldId id="262" r:id="rId9"/>
    <p:sldId id="265" r:id="rId10"/>
    <p:sldId id="266" r:id="rId11"/>
    <p:sldId id="267" r:id="rId12"/>
    <p:sldId id="268" r:id="rId13"/>
    <p:sldId id="269" r:id="rId14"/>
    <p:sldId id="270" r:id="rId15"/>
    <p:sldId id="271" r:id="rId16"/>
    <p:sldId id="272" r:id="rId17"/>
    <p:sldId id="273" r:id="rId18"/>
    <p:sldId id="274" r:id="rId19"/>
    <p:sldId id="276" r:id="rId20"/>
  </p:sldIdLst>
  <p:sldSz cx="18288000" cy="10287000"/>
  <p:notesSz cx="6858000" cy="9144000"/>
  <p:embeddedFontLst>
    <p:embeddedFont>
      <p:font typeface="Open Sauce" panose="020B0604020202020204" charset="0"/>
      <p:regular r:id="rId21"/>
    </p:embeddedFont>
    <p:embeddedFont>
      <p:font typeface="Open Sauce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8.svg"/><Relationship Id="rId12"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4.pn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3.svg"/><Relationship Id="rId14"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svg"/><Relationship Id="rId7"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oleObject" Target="../embeddings/oleObject1.bin"/><Relationship Id="rId5" Type="http://schemas.openxmlformats.org/officeDocument/2006/relationships/image" Target="../media/image20.svg"/><Relationship Id="rId10" Type="http://schemas.openxmlformats.org/officeDocument/2006/relationships/image" Target="../media/image23.svg"/><Relationship Id="rId4" Type="http://schemas.openxmlformats.org/officeDocument/2006/relationships/image" Target="../media/image19.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3.svg"/><Relationship Id="rId7" Type="http://schemas.openxmlformats.org/officeDocument/2006/relationships/image" Target="../media/image24.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0.sv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13.svg"/><Relationship Id="rId3" Type="http://schemas.openxmlformats.org/officeDocument/2006/relationships/image" Target="../media/image27.svg"/><Relationship Id="rId7" Type="http://schemas.openxmlformats.org/officeDocument/2006/relationships/image" Target="../media/image31.svg"/><Relationship Id="rId12" Type="http://schemas.openxmlformats.org/officeDocument/2006/relationships/image" Target="../media/image12.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8.svg"/><Relationship Id="rId5" Type="http://schemas.openxmlformats.org/officeDocument/2006/relationships/image" Target="../media/image29.svg"/><Relationship Id="rId15" Type="http://schemas.openxmlformats.org/officeDocument/2006/relationships/image" Target="../media/image34.png"/><Relationship Id="rId10" Type="http://schemas.openxmlformats.org/officeDocument/2006/relationships/image" Target="../media/image7.png"/><Relationship Id="rId4" Type="http://schemas.openxmlformats.org/officeDocument/2006/relationships/image" Target="../media/image28.png"/><Relationship Id="rId9" Type="http://schemas.openxmlformats.org/officeDocument/2006/relationships/image" Target="../media/image33.svg"/><Relationship Id="rId1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37.png"/><Relationship Id="rId3" Type="http://schemas.openxmlformats.org/officeDocument/2006/relationships/image" Target="../media/image2.svg"/><Relationship Id="rId7" Type="http://schemas.openxmlformats.org/officeDocument/2006/relationships/image" Target="../media/image8.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36.svg"/><Relationship Id="rId5" Type="http://schemas.openxmlformats.org/officeDocument/2006/relationships/image" Target="../media/image6.svg"/><Relationship Id="rId10" Type="http://schemas.openxmlformats.org/officeDocument/2006/relationships/image" Target="../media/image35.png"/><Relationship Id="rId4" Type="http://schemas.openxmlformats.org/officeDocument/2006/relationships/image" Target="../media/image5.png"/><Relationship Id="rId9" Type="http://schemas.openxmlformats.org/officeDocument/2006/relationships/image" Target="../media/image13.svg"/><Relationship Id="rId14" Type="http://schemas.openxmlformats.org/officeDocument/2006/relationships/image" Target="../media/image38.sv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39.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3.sv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1.svg"/><Relationship Id="rId7" Type="http://schemas.openxmlformats.org/officeDocument/2006/relationships/image" Target="../media/image10.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3.svg"/><Relationship Id="rId7" Type="http://schemas.openxmlformats.org/officeDocument/2006/relationships/image" Target="../media/image8.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0.sv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44.png"/></Relationships>
</file>

<file path=ppt/slides/_rels/slide1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9.png"/><Relationship Id="rId7" Type="http://schemas.openxmlformats.org/officeDocument/2006/relationships/image" Target="../media/image11.png"/><Relationship Id="rId2" Type="http://schemas.openxmlformats.org/officeDocument/2006/relationships/image" Target="../media/image45.jpe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20.svg"/><Relationship Id="rId9" Type="http://schemas.openxmlformats.org/officeDocument/2006/relationships/image" Target="../media/image47.svg"/></Relationships>
</file>

<file path=ppt/slides/_rels/slide14.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0.sv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3.svg"/><Relationship Id="rId7" Type="http://schemas.openxmlformats.org/officeDocument/2006/relationships/image" Target="../media/image20.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49.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3.sv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8.svg"/><Relationship Id="rId7" Type="http://schemas.openxmlformats.org/officeDocument/2006/relationships/image" Target="../media/image5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3.sv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5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3.sv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Freeform 2"/>
          <p:cNvSpPr/>
          <p:nvPr/>
        </p:nvSpPr>
        <p:spPr>
          <a:xfrm>
            <a:off x="8734220" y="3985839"/>
            <a:ext cx="243681" cy="243681"/>
          </a:xfrm>
          <a:custGeom>
            <a:avLst/>
            <a:gdLst/>
            <a:ahLst/>
            <a:cxnLst/>
            <a:rect l="l" t="t" r="r" b="b"/>
            <a:pathLst>
              <a:path w="243681" h="243681">
                <a:moveTo>
                  <a:pt x="0" y="0"/>
                </a:moveTo>
                <a:lnTo>
                  <a:pt x="243681" y="0"/>
                </a:lnTo>
                <a:lnTo>
                  <a:pt x="243681" y="243681"/>
                </a:lnTo>
                <a:lnTo>
                  <a:pt x="0" y="243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751983" y="4798250"/>
            <a:ext cx="1544385" cy="154438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045A"/>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0" y="0"/>
            <a:ext cx="15201900" cy="2876911"/>
            <a:chOff x="0" y="0"/>
            <a:chExt cx="2355172" cy="445709"/>
          </a:xfrm>
        </p:grpSpPr>
        <p:sp>
          <p:nvSpPr>
            <p:cNvPr id="7" name="Freeform 7"/>
            <p:cNvSpPr/>
            <p:nvPr/>
          </p:nvSpPr>
          <p:spPr>
            <a:xfrm>
              <a:off x="0" y="0"/>
              <a:ext cx="2355172" cy="445709"/>
            </a:xfrm>
            <a:custGeom>
              <a:avLst/>
              <a:gdLst/>
              <a:ahLst/>
              <a:cxnLst/>
              <a:rect l="l" t="t" r="r" b="b"/>
              <a:pathLst>
                <a:path w="2355172" h="445709">
                  <a:moveTo>
                    <a:pt x="0" y="0"/>
                  </a:moveTo>
                  <a:lnTo>
                    <a:pt x="2355172" y="0"/>
                  </a:lnTo>
                  <a:lnTo>
                    <a:pt x="2355172" y="445709"/>
                  </a:lnTo>
                  <a:lnTo>
                    <a:pt x="0" y="445709"/>
                  </a:lnTo>
                  <a:close/>
                </a:path>
              </a:pathLst>
            </a:custGeom>
            <a:blipFill>
              <a:blip r:embed="rId4">
                <a:alphaModFix amt="30000"/>
              </a:blip>
              <a:stretch>
                <a:fillRect l="-9298" t="-217853" b="-66936"/>
              </a:stretch>
            </a:blipFill>
          </p:spPr>
        </p:sp>
      </p:grpSp>
      <p:grpSp>
        <p:nvGrpSpPr>
          <p:cNvPr id="8" name="Group 8"/>
          <p:cNvGrpSpPr/>
          <p:nvPr/>
        </p:nvGrpSpPr>
        <p:grpSpPr>
          <a:xfrm>
            <a:off x="6835013" y="-200442"/>
            <a:ext cx="4617975" cy="6972888"/>
            <a:chOff x="0" y="0"/>
            <a:chExt cx="660400" cy="997168"/>
          </a:xfrm>
        </p:grpSpPr>
        <p:sp>
          <p:nvSpPr>
            <p:cNvPr id="9" name="Freeform 9"/>
            <p:cNvSpPr/>
            <p:nvPr/>
          </p:nvSpPr>
          <p:spPr>
            <a:xfrm>
              <a:off x="0" y="0"/>
              <a:ext cx="660400" cy="997168"/>
            </a:xfrm>
            <a:custGeom>
              <a:avLst/>
              <a:gdLst/>
              <a:ahLst/>
              <a:cxnLst/>
              <a:rect l="l" t="t" r="r" b="b"/>
              <a:pathLst>
                <a:path w="660400" h="997168">
                  <a:moveTo>
                    <a:pt x="220252" y="978099"/>
                  </a:moveTo>
                  <a:cubicBezTo>
                    <a:pt x="254109" y="989613"/>
                    <a:pt x="292600" y="997168"/>
                    <a:pt x="330378" y="997168"/>
                  </a:cubicBezTo>
                  <a:cubicBezTo>
                    <a:pt x="368157" y="997168"/>
                    <a:pt x="404509" y="990691"/>
                    <a:pt x="438009" y="979177"/>
                  </a:cubicBezTo>
                  <a:cubicBezTo>
                    <a:pt x="438723" y="978817"/>
                    <a:pt x="439435" y="978817"/>
                    <a:pt x="440148" y="978458"/>
                  </a:cubicBezTo>
                  <a:cubicBezTo>
                    <a:pt x="565955" y="932403"/>
                    <a:pt x="658618" y="810789"/>
                    <a:pt x="660400" y="664570"/>
                  </a:cubicBezTo>
                  <a:lnTo>
                    <a:pt x="660400" y="0"/>
                  </a:lnTo>
                  <a:lnTo>
                    <a:pt x="0" y="0"/>
                  </a:lnTo>
                  <a:lnTo>
                    <a:pt x="0" y="664077"/>
                  </a:lnTo>
                  <a:cubicBezTo>
                    <a:pt x="1782" y="811508"/>
                    <a:pt x="93019" y="933123"/>
                    <a:pt x="220252" y="978099"/>
                  </a:cubicBezTo>
                  <a:close/>
                </a:path>
              </a:pathLst>
            </a:custGeom>
            <a:blipFill>
              <a:blip r:embed="rId5"/>
              <a:stretch>
                <a:fillRect l="-153240"/>
              </a:stretch>
            </a:blipFill>
          </p:spPr>
        </p:sp>
      </p:grpSp>
      <p:grpSp>
        <p:nvGrpSpPr>
          <p:cNvPr id="10" name="Group 10"/>
          <p:cNvGrpSpPr/>
          <p:nvPr/>
        </p:nvGrpSpPr>
        <p:grpSpPr>
          <a:xfrm>
            <a:off x="15201900" y="0"/>
            <a:ext cx="3086100" cy="10287000"/>
            <a:chOff x="0" y="0"/>
            <a:chExt cx="812800" cy="2709333"/>
          </a:xfrm>
        </p:grpSpPr>
        <p:sp>
          <p:nvSpPr>
            <p:cNvPr id="11" name="Freeform 11"/>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12" name="TextBox 12"/>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13" name="Freeform 13"/>
          <p:cNvSpPr/>
          <p:nvPr/>
        </p:nvSpPr>
        <p:spPr>
          <a:xfrm>
            <a:off x="1415066" y="8029928"/>
            <a:ext cx="790703" cy="790703"/>
          </a:xfrm>
          <a:custGeom>
            <a:avLst/>
            <a:gdLst/>
            <a:ahLst/>
            <a:cxnLst/>
            <a:rect l="l" t="t" r="r" b="b"/>
            <a:pathLst>
              <a:path w="790703" h="790703">
                <a:moveTo>
                  <a:pt x="0" y="0"/>
                </a:moveTo>
                <a:lnTo>
                  <a:pt x="790703" y="0"/>
                </a:lnTo>
                <a:lnTo>
                  <a:pt x="790703" y="790703"/>
                </a:lnTo>
                <a:lnTo>
                  <a:pt x="0" y="790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rot="5400000">
            <a:off x="15274810" y="7212982"/>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rot="-5400000">
            <a:off x="4757539" y="4025156"/>
            <a:ext cx="3791214" cy="1895607"/>
          </a:xfrm>
          <a:custGeom>
            <a:avLst/>
            <a:gdLst/>
            <a:ahLst/>
            <a:cxnLst/>
            <a:rect l="l" t="t" r="r" b="b"/>
            <a:pathLst>
              <a:path w="3791214" h="1895607">
                <a:moveTo>
                  <a:pt x="0" y="0"/>
                </a:moveTo>
                <a:lnTo>
                  <a:pt x="3791213" y="0"/>
                </a:lnTo>
                <a:lnTo>
                  <a:pt x="3791213" y="1895607"/>
                </a:lnTo>
                <a:lnTo>
                  <a:pt x="0" y="189560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a:off x="7077871" y="1014527"/>
            <a:ext cx="2655387" cy="847857"/>
          </a:xfrm>
          <a:custGeom>
            <a:avLst/>
            <a:gdLst/>
            <a:ahLst/>
            <a:cxnLst/>
            <a:rect l="l" t="t" r="r" b="b"/>
            <a:pathLst>
              <a:path w="2655387" h="847857">
                <a:moveTo>
                  <a:pt x="0" y="0"/>
                </a:moveTo>
                <a:lnTo>
                  <a:pt x="2655387" y="0"/>
                </a:lnTo>
                <a:lnTo>
                  <a:pt x="2655387" y="847857"/>
                </a:lnTo>
                <a:lnTo>
                  <a:pt x="0" y="84785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p:cNvSpPr txBox="1"/>
          <p:nvPr/>
        </p:nvSpPr>
        <p:spPr>
          <a:xfrm>
            <a:off x="6835013" y="4533541"/>
            <a:ext cx="6775589" cy="574003"/>
          </a:xfrm>
          <a:prstGeom prst="rect">
            <a:avLst/>
          </a:prstGeom>
        </p:spPr>
        <p:txBody>
          <a:bodyPr wrap="square" lIns="0" tIns="0" rIns="0" bIns="0" rtlCol="0" anchor="t">
            <a:spAutoFit/>
          </a:bodyPr>
          <a:lstStyle/>
          <a:p>
            <a:pPr algn="l">
              <a:lnSpc>
                <a:spcPts val="5648"/>
              </a:lnSpc>
            </a:pPr>
            <a:r>
              <a:rPr lang="en-US" sz="1100" b="1" spc="-179" dirty="0">
                <a:solidFill>
                  <a:srgbClr val="FFFFFF"/>
                </a:solidFill>
                <a:latin typeface="Open Sauce Bold"/>
                <a:ea typeface="Open Sauce Bold"/>
                <a:cs typeface="Open Sauce Bold"/>
                <a:sym typeface="Open Sauce Bold"/>
              </a:rPr>
              <a:t>JANGAN LUPA LIKE COMMENT &amp; SUBSCRIBE</a:t>
            </a:r>
          </a:p>
        </p:txBody>
      </p:sp>
      <p:sp>
        <p:nvSpPr>
          <p:cNvPr id="19" name="TextBox 19"/>
          <p:cNvSpPr txBox="1"/>
          <p:nvPr/>
        </p:nvSpPr>
        <p:spPr>
          <a:xfrm>
            <a:off x="8033443" y="5869462"/>
            <a:ext cx="2286047" cy="769441"/>
          </a:xfrm>
          <a:prstGeom prst="rect">
            <a:avLst/>
          </a:prstGeom>
        </p:spPr>
        <p:txBody>
          <a:bodyPr wrap="square" lIns="0" tIns="0" rIns="0" bIns="0" rtlCol="0" anchor="t">
            <a:spAutoFit/>
          </a:bodyPr>
          <a:lstStyle/>
          <a:p>
            <a:pPr algn="just"/>
            <a:r>
              <a:rPr lang="en-US" sz="1000" dirty="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a:t>
            </a:r>
          </a:p>
        </p:txBody>
      </p:sp>
      <p:sp>
        <p:nvSpPr>
          <p:cNvPr id="20" name="TextBox 20"/>
          <p:cNvSpPr txBox="1"/>
          <p:nvPr/>
        </p:nvSpPr>
        <p:spPr>
          <a:xfrm>
            <a:off x="6537390" y="4469120"/>
            <a:ext cx="3636760" cy="365692"/>
          </a:xfrm>
          <a:prstGeom prst="rect">
            <a:avLst/>
          </a:prstGeom>
        </p:spPr>
        <p:txBody>
          <a:bodyPr lIns="0" tIns="0" rIns="0" bIns="0" rtlCol="0" anchor="t">
            <a:spAutoFit/>
          </a:bodyPr>
          <a:lstStyle/>
          <a:p>
            <a:pPr marL="0" lvl="0" indent="0" algn="l">
              <a:lnSpc>
                <a:spcPts val="2940"/>
              </a:lnSpc>
              <a:spcBef>
                <a:spcPct val="0"/>
              </a:spcBef>
            </a:pPr>
            <a:r>
              <a:rPr lang="en-US" sz="2100" dirty="0">
                <a:solidFill>
                  <a:srgbClr val="FFFFFF"/>
                </a:solidFill>
                <a:latin typeface="Open Sauce"/>
                <a:ea typeface="Open Sauce"/>
                <a:cs typeface="Open Sauce"/>
                <a:sym typeface="Open Sauce"/>
              </a:rPr>
              <a:t>PROPSAL SKRIPSI</a:t>
            </a:r>
          </a:p>
        </p:txBody>
      </p:sp>
      <p:sp>
        <p:nvSpPr>
          <p:cNvPr id="21" name="TextBox 21"/>
          <p:cNvSpPr txBox="1"/>
          <p:nvPr/>
        </p:nvSpPr>
        <p:spPr>
          <a:xfrm>
            <a:off x="6914267" y="4533541"/>
            <a:ext cx="2229733" cy="1084592"/>
          </a:xfrm>
          <a:prstGeom prst="rect">
            <a:avLst/>
          </a:prstGeom>
        </p:spPr>
        <p:txBody>
          <a:bodyPr wrap="square" lIns="0" tIns="0" rIns="0" bIns="0" rtlCol="0" anchor="t">
            <a:spAutoFit/>
          </a:bodyPr>
          <a:lstStyle/>
          <a:p>
            <a:pPr marL="0" lvl="0" indent="0" algn="l">
              <a:lnSpc>
                <a:spcPts val="2940"/>
              </a:lnSpc>
              <a:spcBef>
                <a:spcPct val="0"/>
              </a:spcBef>
            </a:pPr>
            <a:r>
              <a:rPr lang="en-US" sz="2100" dirty="0" err="1">
                <a:solidFill>
                  <a:srgbClr val="FFFFFF"/>
                </a:solidFill>
                <a:latin typeface="Open Sauce"/>
                <a:ea typeface="Open Sauce"/>
                <a:cs typeface="Open Sauce"/>
                <a:sym typeface="Open Sauce"/>
              </a:rPr>
              <a:t>Reqwes</a:t>
            </a:r>
            <a:r>
              <a:rPr lang="en-US" sz="2100" dirty="0">
                <a:solidFill>
                  <a:srgbClr val="FFFFFF"/>
                </a:solidFill>
                <a:latin typeface="Open Sauce"/>
                <a:ea typeface="Open Sauce"/>
                <a:cs typeface="Open Sauce"/>
                <a:sym typeface="Open Sauce"/>
              </a:rPr>
              <a:t> By : Mohamad </a:t>
            </a:r>
            <a:r>
              <a:rPr lang="en-US" sz="2100" dirty="0" err="1">
                <a:solidFill>
                  <a:srgbClr val="FFFFFF"/>
                </a:solidFill>
                <a:latin typeface="Open Sauce"/>
                <a:ea typeface="Open Sauce"/>
                <a:cs typeface="Open Sauce"/>
                <a:sym typeface="Open Sauce"/>
              </a:rPr>
              <a:t>Rafli</a:t>
            </a:r>
            <a:r>
              <a:rPr lang="en-US" sz="2100" dirty="0">
                <a:solidFill>
                  <a:srgbClr val="FFFFFF"/>
                </a:solidFill>
                <a:latin typeface="Open Sauce"/>
                <a:ea typeface="Open Sauce"/>
                <a:cs typeface="Open Sauce"/>
                <a:sym typeface="Open Sauce"/>
              </a:rPr>
              <a:t> Firmansyah</a:t>
            </a:r>
          </a:p>
        </p:txBody>
      </p:sp>
      <p:sp>
        <p:nvSpPr>
          <p:cNvPr id="17" name="Freeform 17"/>
          <p:cNvSpPr/>
          <p:nvPr/>
        </p:nvSpPr>
        <p:spPr>
          <a:xfrm>
            <a:off x="6268696" y="1922946"/>
            <a:ext cx="5750608" cy="5750608"/>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12"/>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a:extLst>
            <a:ext uri="{FF2B5EF4-FFF2-40B4-BE49-F238E27FC236}">
              <a16:creationId xmlns:a16="http://schemas.microsoft.com/office/drawing/2014/main" id="{9727FF4E-3910-5C54-4975-563C779687A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4E850C-89D3-34E5-7D52-3E1B185B4F7B}"/>
              </a:ext>
            </a:extLst>
          </p:cNvPr>
          <p:cNvSpPr/>
          <p:nvPr/>
        </p:nvSpPr>
        <p:spPr>
          <a:xfrm>
            <a:off x="1028700" y="3448791"/>
            <a:ext cx="243681" cy="243681"/>
          </a:xfrm>
          <a:custGeom>
            <a:avLst/>
            <a:gdLst/>
            <a:ahLst/>
            <a:cxnLst/>
            <a:rect l="l" t="t" r="r" b="b"/>
            <a:pathLst>
              <a:path w="243681" h="243681">
                <a:moveTo>
                  <a:pt x="0" y="0"/>
                </a:moveTo>
                <a:lnTo>
                  <a:pt x="243681" y="0"/>
                </a:lnTo>
                <a:lnTo>
                  <a:pt x="243681" y="243681"/>
                </a:lnTo>
                <a:lnTo>
                  <a:pt x="0" y="243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6FD08836-F1AB-7C08-D739-594F6AE7D010}"/>
              </a:ext>
            </a:extLst>
          </p:cNvPr>
          <p:cNvGrpSpPr/>
          <p:nvPr/>
        </p:nvGrpSpPr>
        <p:grpSpPr>
          <a:xfrm>
            <a:off x="1028700" y="7653087"/>
            <a:ext cx="1544385" cy="1544385"/>
            <a:chOff x="0" y="0"/>
            <a:chExt cx="812800" cy="812800"/>
          </a:xfrm>
        </p:grpSpPr>
        <p:sp>
          <p:nvSpPr>
            <p:cNvPr id="4" name="Freeform 4">
              <a:extLst>
                <a:ext uri="{FF2B5EF4-FFF2-40B4-BE49-F238E27FC236}">
                  <a16:creationId xmlns:a16="http://schemas.microsoft.com/office/drawing/2014/main" id="{8DA50BE3-4565-48A2-54E1-BBAE82023C3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045A"/>
            </a:solidFill>
          </p:spPr>
        </p:sp>
        <p:sp>
          <p:nvSpPr>
            <p:cNvPr id="5" name="TextBox 5">
              <a:extLst>
                <a:ext uri="{FF2B5EF4-FFF2-40B4-BE49-F238E27FC236}">
                  <a16:creationId xmlns:a16="http://schemas.microsoft.com/office/drawing/2014/main" id="{99BE3802-9161-6C7C-893C-38A8534A2653}"/>
                </a:ext>
              </a:extLst>
            </p:cNvPr>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6" name="Group 6">
            <a:extLst>
              <a:ext uri="{FF2B5EF4-FFF2-40B4-BE49-F238E27FC236}">
                <a16:creationId xmlns:a16="http://schemas.microsoft.com/office/drawing/2014/main" id="{A041AEE6-1915-EA8D-5F6B-1186C8968271}"/>
              </a:ext>
            </a:extLst>
          </p:cNvPr>
          <p:cNvGrpSpPr/>
          <p:nvPr/>
        </p:nvGrpSpPr>
        <p:grpSpPr>
          <a:xfrm>
            <a:off x="0" y="0"/>
            <a:ext cx="15201900" cy="2876911"/>
            <a:chOff x="0" y="0"/>
            <a:chExt cx="2355172" cy="445709"/>
          </a:xfrm>
        </p:grpSpPr>
        <p:sp>
          <p:nvSpPr>
            <p:cNvPr id="7" name="Freeform 7">
              <a:extLst>
                <a:ext uri="{FF2B5EF4-FFF2-40B4-BE49-F238E27FC236}">
                  <a16:creationId xmlns:a16="http://schemas.microsoft.com/office/drawing/2014/main" id="{AB6EA5FA-7B44-642E-A9EC-18574920CAF8}"/>
                </a:ext>
              </a:extLst>
            </p:cNvPr>
            <p:cNvSpPr/>
            <p:nvPr/>
          </p:nvSpPr>
          <p:spPr>
            <a:xfrm>
              <a:off x="0" y="0"/>
              <a:ext cx="2355172" cy="445709"/>
            </a:xfrm>
            <a:custGeom>
              <a:avLst/>
              <a:gdLst/>
              <a:ahLst/>
              <a:cxnLst/>
              <a:rect l="l" t="t" r="r" b="b"/>
              <a:pathLst>
                <a:path w="2355172" h="445709">
                  <a:moveTo>
                    <a:pt x="0" y="0"/>
                  </a:moveTo>
                  <a:lnTo>
                    <a:pt x="2355172" y="0"/>
                  </a:lnTo>
                  <a:lnTo>
                    <a:pt x="2355172" y="445709"/>
                  </a:lnTo>
                  <a:lnTo>
                    <a:pt x="0" y="445709"/>
                  </a:lnTo>
                  <a:close/>
                </a:path>
              </a:pathLst>
            </a:custGeom>
            <a:blipFill>
              <a:blip r:embed="rId4">
                <a:alphaModFix amt="30000"/>
              </a:blip>
              <a:stretch>
                <a:fillRect l="-9298" t="-217853" b="-66936"/>
              </a:stretch>
            </a:blipFill>
          </p:spPr>
        </p:sp>
      </p:grpSp>
      <p:grpSp>
        <p:nvGrpSpPr>
          <p:cNvPr id="8" name="Group 8">
            <a:extLst>
              <a:ext uri="{FF2B5EF4-FFF2-40B4-BE49-F238E27FC236}">
                <a16:creationId xmlns:a16="http://schemas.microsoft.com/office/drawing/2014/main" id="{F97E547E-4F42-0CB0-319A-4795AB0CBB9A}"/>
              </a:ext>
            </a:extLst>
          </p:cNvPr>
          <p:cNvGrpSpPr/>
          <p:nvPr/>
        </p:nvGrpSpPr>
        <p:grpSpPr>
          <a:xfrm>
            <a:off x="9938068" y="0"/>
            <a:ext cx="4617975" cy="6972888"/>
            <a:chOff x="0" y="0"/>
            <a:chExt cx="660400" cy="997168"/>
          </a:xfrm>
        </p:grpSpPr>
        <p:sp>
          <p:nvSpPr>
            <p:cNvPr id="9" name="Freeform 9">
              <a:extLst>
                <a:ext uri="{FF2B5EF4-FFF2-40B4-BE49-F238E27FC236}">
                  <a16:creationId xmlns:a16="http://schemas.microsoft.com/office/drawing/2014/main" id="{C37700CA-F370-E4B3-DCF7-E61CED2A8A99}"/>
                </a:ext>
              </a:extLst>
            </p:cNvPr>
            <p:cNvSpPr/>
            <p:nvPr/>
          </p:nvSpPr>
          <p:spPr>
            <a:xfrm>
              <a:off x="0" y="0"/>
              <a:ext cx="660400" cy="997168"/>
            </a:xfrm>
            <a:custGeom>
              <a:avLst/>
              <a:gdLst/>
              <a:ahLst/>
              <a:cxnLst/>
              <a:rect l="l" t="t" r="r" b="b"/>
              <a:pathLst>
                <a:path w="660400" h="997168">
                  <a:moveTo>
                    <a:pt x="220252" y="978099"/>
                  </a:moveTo>
                  <a:cubicBezTo>
                    <a:pt x="254109" y="989613"/>
                    <a:pt x="292600" y="997168"/>
                    <a:pt x="330378" y="997168"/>
                  </a:cubicBezTo>
                  <a:cubicBezTo>
                    <a:pt x="368157" y="997168"/>
                    <a:pt x="404509" y="990691"/>
                    <a:pt x="438009" y="979177"/>
                  </a:cubicBezTo>
                  <a:cubicBezTo>
                    <a:pt x="438723" y="978817"/>
                    <a:pt x="439435" y="978817"/>
                    <a:pt x="440148" y="978458"/>
                  </a:cubicBezTo>
                  <a:cubicBezTo>
                    <a:pt x="565955" y="932403"/>
                    <a:pt x="658618" y="810789"/>
                    <a:pt x="660400" y="664570"/>
                  </a:cubicBezTo>
                  <a:lnTo>
                    <a:pt x="660400" y="0"/>
                  </a:lnTo>
                  <a:lnTo>
                    <a:pt x="0" y="0"/>
                  </a:lnTo>
                  <a:lnTo>
                    <a:pt x="0" y="664077"/>
                  </a:lnTo>
                  <a:cubicBezTo>
                    <a:pt x="1782" y="811508"/>
                    <a:pt x="93019" y="933123"/>
                    <a:pt x="220252" y="978099"/>
                  </a:cubicBezTo>
                  <a:close/>
                </a:path>
              </a:pathLst>
            </a:custGeom>
            <a:blipFill>
              <a:blip r:embed="rId5"/>
              <a:stretch>
                <a:fillRect l="-153240"/>
              </a:stretch>
            </a:blipFill>
          </p:spPr>
        </p:sp>
      </p:grpSp>
      <p:grpSp>
        <p:nvGrpSpPr>
          <p:cNvPr id="10" name="Group 10">
            <a:extLst>
              <a:ext uri="{FF2B5EF4-FFF2-40B4-BE49-F238E27FC236}">
                <a16:creationId xmlns:a16="http://schemas.microsoft.com/office/drawing/2014/main" id="{A85943F0-4B8A-035C-FBC1-4E5DD0B6F3B0}"/>
              </a:ext>
            </a:extLst>
          </p:cNvPr>
          <p:cNvGrpSpPr/>
          <p:nvPr/>
        </p:nvGrpSpPr>
        <p:grpSpPr>
          <a:xfrm>
            <a:off x="15201900" y="0"/>
            <a:ext cx="3086100" cy="10287000"/>
            <a:chOff x="0" y="0"/>
            <a:chExt cx="812800" cy="2709333"/>
          </a:xfrm>
        </p:grpSpPr>
        <p:sp>
          <p:nvSpPr>
            <p:cNvPr id="11" name="Freeform 11">
              <a:extLst>
                <a:ext uri="{FF2B5EF4-FFF2-40B4-BE49-F238E27FC236}">
                  <a16:creationId xmlns:a16="http://schemas.microsoft.com/office/drawing/2014/main" id="{2B17CF5E-0834-6C9D-D52F-EAE8FA8319FC}"/>
                </a:ext>
              </a:extLst>
            </p:cNvPr>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12" name="TextBox 12">
              <a:extLst>
                <a:ext uri="{FF2B5EF4-FFF2-40B4-BE49-F238E27FC236}">
                  <a16:creationId xmlns:a16="http://schemas.microsoft.com/office/drawing/2014/main" id="{289401E0-E9E5-5507-5B0E-6B35319718A2}"/>
                </a:ext>
              </a:extLst>
            </p:cNvPr>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13" name="Freeform 13">
            <a:extLst>
              <a:ext uri="{FF2B5EF4-FFF2-40B4-BE49-F238E27FC236}">
                <a16:creationId xmlns:a16="http://schemas.microsoft.com/office/drawing/2014/main" id="{433E73E8-18F2-466E-3789-4B8811ABEEBC}"/>
              </a:ext>
            </a:extLst>
          </p:cNvPr>
          <p:cNvSpPr/>
          <p:nvPr/>
        </p:nvSpPr>
        <p:spPr>
          <a:xfrm>
            <a:off x="1415066" y="8029928"/>
            <a:ext cx="790703" cy="790703"/>
          </a:xfrm>
          <a:custGeom>
            <a:avLst/>
            <a:gdLst/>
            <a:ahLst/>
            <a:cxnLst/>
            <a:rect l="l" t="t" r="r" b="b"/>
            <a:pathLst>
              <a:path w="790703" h="790703">
                <a:moveTo>
                  <a:pt x="0" y="0"/>
                </a:moveTo>
                <a:lnTo>
                  <a:pt x="790703" y="0"/>
                </a:lnTo>
                <a:lnTo>
                  <a:pt x="790703" y="790703"/>
                </a:lnTo>
                <a:lnTo>
                  <a:pt x="0" y="790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44DC9696-399E-3E54-0FB3-BC1A4AFD1B54}"/>
              </a:ext>
            </a:extLst>
          </p:cNvPr>
          <p:cNvSpPr/>
          <p:nvPr/>
        </p:nvSpPr>
        <p:spPr>
          <a:xfrm rot="5400000">
            <a:off x="15274810" y="7212982"/>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a:extLst>
              <a:ext uri="{FF2B5EF4-FFF2-40B4-BE49-F238E27FC236}">
                <a16:creationId xmlns:a16="http://schemas.microsoft.com/office/drawing/2014/main" id="{0B25E71B-6FDD-04AE-D8F8-A549D07AB0D1}"/>
              </a:ext>
            </a:extLst>
          </p:cNvPr>
          <p:cNvSpPr/>
          <p:nvPr/>
        </p:nvSpPr>
        <p:spPr>
          <a:xfrm rot="-5400000">
            <a:off x="15463640" y="1976503"/>
            <a:ext cx="3791214" cy="1895607"/>
          </a:xfrm>
          <a:custGeom>
            <a:avLst/>
            <a:gdLst/>
            <a:ahLst/>
            <a:cxnLst/>
            <a:rect l="l" t="t" r="r" b="b"/>
            <a:pathLst>
              <a:path w="3791214" h="1895607">
                <a:moveTo>
                  <a:pt x="0" y="0"/>
                </a:moveTo>
                <a:lnTo>
                  <a:pt x="3791213" y="0"/>
                </a:lnTo>
                <a:lnTo>
                  <a:pt x="3791213" y="1895607"/>
                </a:lnTo>
                <a:lnTo>
                  <a:pt x="0" y="189560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a:extLst>
              <a:ext uri="{FF2B5EF4-FFF2-40B4-BE49-F238E27FC236}">
                <a16:creationId xmlns:a16="http://schemas.microsoft.com/office/drawing/2014/main" id="{FA2D0CC2-6F3C-37E1-8B1D-A53CEEE10991}"/>
              </a:ext>
            </a:extLst>
          </p:cNvPr>
          <p:cNvSpPr/>
          <p:nvPr/>
        </p:nvSpPr>
        <p:spPr>
          <a:xfrm>
            <a:off x="7077871" y="1014527"/>
            <a:ext cx="2655387" cy="847857"/>
          </a:xfrm>
          <a:custGeom>
            <a:avLst/>
            <a:gdLst/>
            <a:ahLst/>
            <a:cxnLst/>
            <a:rect l="l" t="t" r="r" b="b"/>
            <a:pathLst>
              <a:path w="2655387" h="847857">
                <a:moveTo>
                  <a:pt x="0" y="0"/>
                </a:moveTo>
                <a:lnTo>
                  <a:pt x="2655387" y="0"/>
                </a:lnTo>
                <a:lnTo>
                  <a:pt x="2655387" y="847857"/>
                </a:lnTo>
                <a:lnTo>
                  <a:pt x="0" y="84785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Freeform 17">
            <a:extLst>
              <a:ext uri="{FF2B5EF4-FFF2-40B4-BE49-F238E27FC236}">
                <a16:creationId xmlns:a16="http://schemas.microsoft.com/office/drawing/2014/main" id="{6241D84D-035E-FAA2-C26F-D2ABB6A59A2C}"/>
              </a:ext>
            </a:extLst>
          </p:cNvPr>
          <p:cNvSpPr/>
          <p:nvPr/>
        </p:nvSpPr>
        <p:spPr>
          <a:xfrm>
            <a:off x="11028405" y="1767134"/>
            <a:ext cx="5750608" cy="5750608"/>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12"/>
            <a:stretch>
              <a:fillRect/>
            </a:stretch>
          </a:blipFill>
        </p:spPr>
      </p:sp>
      <p:sp>
        <p:nvSpPr>
          <p:cNvPr id="18" name="TextBox 18">
            <a:extLst>
              <a:ext uri="{FF2B5EF4-FFF2-40B4-BE49-F238E27FC236}">
                <a16:creationId xmlns:a16="http://schemas.microsoft.com/office/drawing/2014/main" id="{EB22CE35-5656-278E-C2CB-25F36648F613}"/>
              </a:ext>
            </a:extLst>
          </p:cNvPr>
          <p:cNvSpPr txBox="1"/>
          <p:nvPr/>
        </p:nvSpPr>
        <p:spPr>
          <a:xfrm>
            <a:off x="1028700" y="4714076"/>
            <a:ext cx="8476295" cy="1462916"/>
          </a:xfrm>
          <a:prstGeom prst="rect">
            <a:avLst/>
          </a:prstGeom>
        </p:spPr>
        <p:txBody>
          <a:bodyPr lIns="0" tIns="0" rIns="0" bIns="0" rtlCol="0" anchor="t">
            <a:spAutoFit/>
          </a:bodyPr>
          <a:lstStyle/>
          <a:p>
            <a:pPr algn="l">
              <a:lnSpc>
                <a:spcPts val="5648"/>
              </a:lnSpc>
            </a:pPr>
            <a:r>
              <a:rPr lang="en-US" sz="5431" b="1" spc="-179">
                <a:solidFill>
                  <a:srgbClr val="FFFFFF"/>
                </a:solidFill>
                <a:latin typeface="Open Sauce Bold"/>
                <a:ea typeface="Open Sauce Bold"/>
                <a:cs typeface="Open Sauce Bold"/>
                <a:sym typeface="Open Sauce Bold"/>
              </a:rPr>
              <a:t>JANGAN LUPA LIKE COMMENT &amp; SUBSCRIBE</a:t>
            </a:r>
          </a:p>
        </p:txBody>
      </p:sp>
      <p:sp>
        <p:nvSpPr>
          <p:cNvPr id="19" name="TextBox 19">
            <a:extLst>
              <a:ext uri="{FF2B5EF4-FFF2-40B4-BE49-F238E27FC236}">
                <a16:creationId xmlns:a16="http://schemas.microsoft.com/office/drawing/2014/main" id="{A4E34FCA-D8D2-B31B-570B-85D01DE57AC1}"/>
              </a:ext>
            </a:extLst>
          </p:cNvPr>
          <p:cNvSpPr txBox="1"/>
          <p:nvPr/>
        </p:nvSpPr>
        <p:spPr>
          <a:xfrm>
            <a:off x="3258433" y="7737975"/>
            <a:ext cx="10939388" cy="1336490"/>
          </a:xfrm>
          <a:prstGeom prst="rect">
            <a:avLst/>
          </a:prstGeom>
        </p:spPr>
        <p:txBody>
          <a:bodyPr lIns="0" tIns="0" rIns="0" bIns="0" rtlCol="0" anchor="t">
            <a:spAutoFit/>
          </a:bodyPr>
          <a:lstStyle/>
          <a:p>
            <a:pPr algn="just">
              <a:lnSpc>
                <a:spcPts val="3583"/>
              </a:lnSpc>
            </a:pPr>
            <a:r>
              <a:rPr lang="en-US" sz="2756">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a:t>
            </a:r>
          </a:p>
        </p:txBody>
      </p:sp>
      <p:sp>
        <p:nvSpPr>
          <p:cNvPr id="20" name="TextBox 20">
            <a:extLst>
              <a:ext uri="{FF2B5EF4-FFF2-40B4-BE49-F238E27FC236}">
                <a16:creationId xmlns:a16="http://schemas.microsoft.com/office/drawing/2014/main" id="{2D27DD55-CB53-65E5-7B31-B886EF6F7633}"/>
              </a:ext>
            </a:extLst>
          </p:cNvPr>
          <p:cNvSpPr txBox="1"/>
          <p:nvPr/>
        </p:nvSpPr>
        <p:spPr>
          <a:xfrm>
            <a:off x="1440053" y="3353161"/>
            <a:ext cx="3636760" cy="365692"/>
          </a:xfrm>
          <a:prstGeom prst="rect">
            <a:avLst/>
          </a:prstGeom>
        </p:spPr>
        <p:txBody>
          <a:bodyPr lIns="0" tIns="0" rIns="0" bIns="0" rtlCol="0" anchor="t">
            <a:spAutoFit/>
          </a:bodyPr>
          <a:lstStyle/>
          <a:p>
            <a:pPr marL="0" lvl="0" indent="0" algn="l">
              <a:lnSpc>
                <a:spcPts val="2940"/>
              </a:lnSpc>
              <a:spcBef>
                <a:spcPct val="0"/>
              </a:spcBef>
            </a:pPr>
            <a:r>
              <a:rPr lang="en-US" sz="2100">
                <a:solidFill>
                  <a:srgbClr val="FFFFFF"/>
                </a:solidFill>
                <a:latin typeface="Open Sauce"/>
                <a:ea typeface="Open Sauce"/>
                <a:cs typeface="Open Sauce"/>
                <a:sym typeface="Open Sauce"/>
              </a:rPr>
              <a:t>PROPSAL SKRIPSI</a:t>
            </a:r>
          </a:p>
        </p:txBody>
      </p:sp>
      <p:sp>
        <p:nvSpPr>
          <p:cNvPr id="21" name="TextBox 21">
            <a:extLst>
              <a:ext uri="{FF2B5EF4-FFF2-40B4-BE49-F238E27FC236}">
                <a16:creationId xmlns:a16="http://schemas.microsoft.com/office/drawing/2014/main" id="{C1B81060-9502-5B8B-3DE4-A280153D6221}"/>
              </a:ext>
            </a:extLst>
          </p:cNvPr>
          <p:cNvSpPr txBox="1"/>
          <p:nvPr/>
        </p:nvSpPr>
        <p:spPr>
          <a:xfrm>
            <a:off x="1028700" y="1072644"/>
            <a:ext cx="5839621" cy="365692"/>
          </a:xfrm>
          <a:prstGeom prst="rect">
            <a:avLst/>
          </a:prstGeom>
        </p:spPr>
        <p:txBody>
          <a:bodyPr lIns="0" tIns="0" rIns="0" bIns="0" rtlCol="0" anchor="t">
            <a:spAutoFit/>
          </a:bodyPr>
          <a:lstStyle/>
          <a:p>
            <a:pPr marL="0" lvl="0" indent="0" algn="l">
              <a:lnSpc>
                <a:spcPts val="2940"/>
              </a:lnSpc>
              <a:spcBef>
                <a:spcPct val="0"/>
              </a:spcBef>
            </a:pPr>
            <a:r>
              <a:rPr lang="en-US" sz="2100">
                <a:solidFill>
                  <a:srgbClr val="FFFFFF"/>
                </a:solidFill>
                <a:latin typeface="Open Sauce"/>
                <a:ea typeface="Open Sauce"/>
                <a:cs typeface="Open Sauce"/>
                <a:sym typeface="Open Sauce"/>
              </a:rPr>
              <a:t>Reqwes By : Mohamad Rafli Firmansyah</a:t>
            </a:r>
          </a:p>
        </p:txBody>
      </p:sp>
    </p:spTree>
    <p:extLst>
      <p:ext uri="{BB962C8B-B14F-4D97-AF65-F5344CB8AC3E}">
        <p14:creationId xmlns:p14="http://schemas.microsoft.com/office/powerpoint/2010/main" val="18503317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Freeform 2"/>
          <p:cNvSpPr/>
          <p:nvPr/>
        </p:nvSpPr>
        <p:spPr>
          <a:xfrm>
            <a:off x="1028700" y="3448791"/>
            <a:ext cx="243681" cy="243681"/>
          </a:xfrm>
          <a:custGeom>
            <a:avLst/>
            <a:gdLst/>
            <a:ahLst/>
            <a:cxnLst/>
            <a:rect l="l" t="t" r="r" b="b"/>
            <a:pathLst>
              <a:path w="243681" h="243681">
                <a:moveTo>
                  <a:pt x="0" y="0"/>
                </a:moveTo>
                <a:lnTo>
                  <a:pt x="243681" y="0"/>
                </a:lnTo>
                <a:lnTo>
                  <a:pt x="243681" y="243681"/>
                </a:lnTo>
                <a:lnTo>
                  <a:pt x="0" y="243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7653087"/>
            <a:ext cx="1544385" cy="154438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6593596" y="-725901"/>
            <a:ext cx="15201900" cy="2876911"/>
            <a:chOff x="0" y="0"/>
            <a:chExt cx="2355172" cy="445709"/>
          </a:xfrm>
        </p:grpSpPr>
        <p:sp>
          <p:nvSpPr>
            <p:cNvPr id="7" name="Freeform 7"/>
            <p:cNvSpPr/>
            <p:nvPr/>
          </p:nvSpPr>
          <p:spPr>
            <a:xfrm>
              <a:off x="0" y="0"/>
              <a:ext cx="2355172" cy="445709"/>
            </a:xfrm>
            <a:custGeom>
              <a:avLst/>
              <a:gdLst/>
              <a:ahLst/>
              <a:cxnLst/>
              <a:rect l="l" t="t" r="r" b="b"/>
              <a:pathLst>
                <a:path w="2355172" h="445709">
                  <a:moveTo>
                    <a:pt x="0" y="0"/>
                  </a:moveTo>
                  <a:lnTo>
                    <a:pt x="2355172" y="0"/>
                  </a:lnTo>
                  <a:lnTo>
                    <a:pt x="2355172" y="445709"/>
                  </a:lnTo>
                  <a:lnTo>
                    <a:pt x="0" y="445709"/>
                  </a:lnTo>
                  <a:close/>
                </a:path>
              </a:pathLst>
            </a:custGeom>
            <a:solidFill>
              <a:srgbClr val="000000">
                <a:alpha val="0"/>
              </a:srgbClr>
            </a:solidFill>
            <a:ln w="12700">
              <a:solidFill>
                <a:srgbClr val="000000"/>
              </a:solidFill>
            </a:ln>
          </p:spPr>
        </p:sp>
      </p:grpSp>
      <p:grpSp>
        <p:nvGrpSpPr>
          <p:cNvPr id="8" name="Group 8"/>
          <p:cNvGrpSpPr/>
          <p:nvPr/>
        </p:nvGrpSpPr>
        <p:grpSpPr>
          <a:xfrm>
            <a:off x="2961099" y="-5975616"/>
            <a:ext cx="3086100" cy="10287000"/>
            <a:chOff x="0" y="0"/>
            <a:chExt cx="812800" cy="2709333"/>
          </a:xfrm>
        </p:grpSpPr>
        <p:sp>
          <p:nvSpPr>
            <p:cNvPr id="9" name="Freeform 9"/>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10" name="TextBox 10"/>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11" name="Freeform 11"/>
          <p:cNvSpPr/>
          <p:nvPr/>
        </p:nvSpPr>
        <p:spPr>
          <a:xfrm>
            <a:off x="1415066" y="8029928"/>
            <a:ext cx="790703" cy="790703"/>
          </a:xfrm>
          <a:custGeom>
            <a:avLst/>
            <a:gdLst/>
            <a:ahLst/>
            <a:cxnLst/>
            <a:rect l="l" t="t" r="r" b="b"/>
            <a:pathLst>
              <a:path w="790703" h="790703">
                <a:moveTo>
                  <a:pt x="0" y="0"/>
                </a:moveTo>
                <a:lnTo>
                  <a:pt x="790703" y="0"/>
                </a:lnTo>
                <a:lnTo>
                  <a:pt x="790703" y="790703"/>
                </a:lnTo>
                <a:lnTo>
                  <a:pt x="0" y="7907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0874654" y="7944992"/>
            <a:ext cx="3008405" cy="960574"/>
          </a:xfrm>
          <a:custGeom>
            <a:avLst/>
            <a:gdLst/>
            <a:ahLst/>
            <a:cxnLst/>
            <a:rect l="l" t="t" r="r" b="b"/>
            <a:pathLst>
              <a:path w="3008405" h="960574">
                <a:moveTo>
                  <a:pt x="0" y="0"/>
                </a:moveTo>
                <a:lnTo>
                  <a:pt x="3008404" y="0"/>
                </a:lnTo>
                <a:lnTo>
                  <a:pt x="3008404" y="960574"/>
                </a:lnTo>
                <a:lnTo>
                  <a:pt x="0" y="9605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rot="-5400000">
            <a:off x="15759078" y="727221"/>
            <a:ext cx="3791214" cy="1895607"/>
          </a:xfrm>
          <a:custGeom>
            <a:avLst/>
            <a:gdLst/>
            <a:ahLst/>
            <a:cxnLst/>
            <a:rect l="l" t="t" r="r" b="b"/>
            <a:pathLst>
              <a:path w="3791214" h="1895607">
                <a:moveTo>
                  <a:pt x="0" y="0"/>
                </a:moveTo>
                <a:lnTo>
                  <a:pt x="3791214" y="0"/>
                </a:lnTo>
                <a:lnTo>
                  <a:pt x="3791214" y="1895607"/>
                </a:lnTo>
                <a:lnTo>
                  <a:pt x="0" y="18956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Freeform 14"/>
          <p:cNvSpPr/>
          <p:nvPr/>
        </p:nvSpPr>
        <p:spPr>
          <a:xfrm>
            <a:off x="1028700" y="1028700"/>
            <a:ext cx="2655387" cy="847857"/>
          </a:xfrm>
          <a:custGeom>
            <a:avLst/>
            <a:gdLst/>
            <a:ahLst/>
            <a:cxnLst/>
            <a:rect l="l" t="t" r="r" b="b"/>
            <a:pathLst>
              <a:path w="2655387" h="847857">
                <a:moveTo>
                  <a:pt x="0" y="0"/>
                </a:moveTo>
                <a:lnTo>
                  <a:pt x="2655387" y="0"/>
                </a:lnTo>
                <a:lnTo>
                  <a:pt x="2655387" y="847857"/>
                </a:lnTo>
                <a:lnTo>
                  <a:pt x="0" y="8478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1800892" y="2077938"/>
            <a:ext cx="5750608" cy="5750608"/>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10"/>
            <a:stretch>
              <a:fillRect/>
            </a:stretch>
          </a:blipFill>
        </p:spPr>
      </p:sp>
      <p:sp>
        <p:nvSpPr>
          <p:cNvPr id="16" name="Freeform 16"/>
          <p:cNvSpPr/>
          <p:nvPr/>
        </p:nvSpPr>
        <p:spPr>
          <a:xfrm>
            <a:off x="-622272" y="6763231"/>
            <a:ext cx="5656082" cy="4114800"/>
          </a:xfrm>
          <a:custGeom>
            <a:avLst/>
            <a:gdLst/>
            <a:ahLst/>
            <a:cxnLst/>
            <a:rect l="l" t="t" r="r" b="b"/>
            <a:pathLst>
              <a:path w="5656082" h="4114800">
                <a:moveTo>
                  <a:pt x="0" y="0"/>
                </a:moveTo>
                <a:lnTo>
                  <a:pt x="5656082" y="0"/>
                </a:lnTo>
                <a:lnTo>
                  <a:pt x="5656082"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2972010" y="838442"/>
            <a:ext cx="3566160" cy="4114800"/>
          </a:xfrm>
          <a:custGeom>
            <a:avLst/>
            <a:gdLst/>
            <a:ahLst/>
            <a:cxnLst/>
            <a:rect l="l" t="t" r="r" b="b"/>
            <a:pathLst>
              <a:path w="3566160" h="4114800">
                <a:moveTo>
                  <a:pt x="0" y="0"/>
                </a:moveTo>
                <a:lnTo>
                  <a:pt x="3566160" y="0"/>
                </a:lnTo>
                <a:lnTo>
                  <a:pt x="356616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8" name="TextBox 18"/>
          <p:cNvSpPr txBox="1"/>
          <p:nvPr/>
        </p:nvSpPr>
        <p:spPr>
          <a:xfrm>
            <a:off x="7768436" y="3932202"/>
            <a:ext cx="9886248" cy="2525413"/>
          </a:xfrm>
          <a:prstGeom prst="rect">
            <a:avLst/>
          </a:prstGeom>
        </p:spPr>
        <p:txBody>
          <a:bodyPr lIns="0" tIns="0" rIns="0" bIns="0" rtlCol="0" anchor="t">
            <a:spAutoFit/>
          </a:bodyPr>
          <a:lstStyle/>
          <a:p>
            <a:pPr algn="l">
              <a:lnSpc>
                <a:spcPts val="9815"/>
              </a:lnSpc>
            </a:pPr>
            <a:r>
              <a:rPr lang="en-US" sz="9438" b="1" spc="-311">
                <a:solidFill>
                  <a:srgbClr val="FFFFFF"/>
                </a:solidFill>
                <a:latin typeface="Open Sauce Bold"/>
                <a:ea typeface="Open Sauce Bold"/>
                <a:cs typeface="Open Sauce Bold"/>
                <a:sym typeface="Open Sauce Bold"/>
              </a:rPr>
              <a:t>BAB I</a:t>
            </a:r>
          </a:p>
          <a:p>
            <a:pPr algn="l">
              <a:lnSpc>
                <a:spcPts val="9815"/>
              </a:lnSpc>
            </a:pPr>
            <a:r>
              <a:rPr lang="en-US" sz="9438" b="1" spc="-311">
                <a:solidFill>
                  <a:srgbClr val="FFFFFF"/>
                </a:solidFill>
                <a:latin typeface="Open Sauce Bold"/>
                <a:ea typeface="Open Sauce Bold"/>
                <a:cs typeface="Open Sauce Bold"/>
                <a:sym typeface="Open Sauce Bold"/>
              </a:rPr>
              <a:t>PENDAHULUAN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43050" y="8391393"/>
            <a:ext cx="3791214" cy="1895607"/>
          </a:xfrm>
          <a:custGeom>
            <a:avLst/>
            <a:gdLst/>
            <a:ahLst/>
            <a:cxnLst/>
            <a:rect l="l" t="t" r="r" b="b"/>
            <a:pathLst>
              <a:path w="3791214" h="1895607">
                <a:moveTo>
                  <a:pt x="0" y="0"/>
                </a:moveTo>
                <a:lnTo>
                  <a:pt x="3791214" y="0"/>
                </a:lnTo>
                <a:lnTo>
                  <a:pt x="3791214" y="1895607"/>
                </a:lnTo>
                <a:lnTo>
                  <a:pt x="0" y="18956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446986" y="0"/>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2855BF"/>
            </a:solidFill>
          </p:spPr>
        </p:sp>
        <p:sp>
          <p:nvSpPr>
            <p:cNvPr id="5" name="TextBox 5"/>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13206071" y="0"/>
            <a:ext cx="5098053" cy="10287000"/>
            <a:chOff x="0" y="0"/>
            <a:chExt cx="1342697" cy="2709333"/>
          </a:xfrm>
        </p:grpSpPr>
        <p:sp>
          <p:nvSpPr>
            <p:cNvPr id="7" name="Freeform 7"/>
            <p:cNvSpPr/>
            <p:nvPr/>
          </p:nvSpPr>
          <p:spPr>
            <a:xfrm>
              <a:off x="0" y="0"/>
              <a:ext cx="1342697" cy="2709333"/>
            </a:xfrm>
            <a:custGeom>
              <a:avLst/>
              <a:gdLst/>
              <a:ahLst/>
              <a:cxnLst/>
              <a:rect l="l" t="t" r="r" b="b"/>
              <a:pathLst>
                <a:path w="1342697" h="2709333">
                  <a:moveTo>
                    <a:pt x="0" y="0"/>
                  </a:moveTo>
                  <a:lnTo>
                    <a:pt x="1342697" y="0"/>
                  </a:lnTo>
                  <a:lnTo>
                    <a:pt x="1342697" y="2709333"/>
                  </a:lnTo>
                  <a:lnTo>
                    <a:pt x="0" y="2709333"/>
                  </a:lnTo>
                  <a:close/>
                </a:path>
              </a:pathLst>
            </a:custGeom>
            <a:solidFill>
              <a:srgbClr val="2855BF"/>
            </a:solidFill>
          </p:spPr>
        </p:sp>
        <p:sp>
          <p:nvSpPr>
            <p:cNvPr id="8" name="TextBox 8"/>
            <p:cNvSpPr txBox="1"/>
            <p:nvPr/>
          </p:nvSpPr>
          <p:spPr>
            <a:xfrm>
              <a:off x="0" y="-47625"/>
              <a:ext cx="1342697" cy="2756958"/>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a:off x="14250895" y="1971424"/>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a:off x="7443209" y="9806713"/>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1" name="Freeform 11"/>
          <p:cNvSpPr/>
          <p:nvPr/>
        </p:nvSpPr>
        <p:spPr>
          <a:xfrm>
            <a:off x="10250520" y="1563174"/>
            <a:ext cx="1656127" cy="1656127"/>
          </a:xfrm>
          <a:custGeom>
            <a:avLst/>
            <a:gdLst/>
            <a:ahLst/>
            <a:cxnLst/>
            <a:rect l="l" t="t" r="r" b="b"/>
            <a:pathLst>
              <a:path w="1656127" h="1656127">
                <a:moveTo>
                  <a:pt x="0" y="0"/>
                </a:moveTo>
                <a:lnTo>
                  <a:pt x="1656127" y="0"/>
                </a:lnTo>
                <a:lnTo>
                  <a:pt x="1656127" y="1656127"/>
                </a:lnTo>
                <a:lnTo>
                  <a:pt x="0" y="1656127"/>
                </a:lnTo>
                <a:lnTo>
                  <a:pt x="0" y="0"/>
                </a:lnTo>
                <a:close/>
              </a:path>
            </a:pathLst>
          </a:custGeom>
          <a:blipFill>
            <a:blip r:embed="rId6"/>
            <a:stretch>
              <a:fillRect/>
            </a:stretch>
          </a:blipFill>
        </p:spPr>
      </p:sp>
      <p:sp>
        <p:nvSpPr>
          <p:cNvPr id="12" name="Freeform 12"/>
          <p:cNvSpPr/>
          <p:nvPr/>
        </p:nvSpPr>
        <p:spPr>
          <a:xfrm>
            <a:off x="10681457" y="1563174"/>
            <a:ext cx="7622667" cy="8229600"/>
          </a:xfrm>
          <a:custGeom>
            <a:avLst/>
            <a:gdLst/>
            <a:ahLst/>
            <a:cxnLst/>
            <a:rect l="l" t="t" r="r" b="b"/>
            <a:pathLst>
              <a:path w="7622667" h="8229600">
                <a:moveTo>
                  <a:pt x="0" y="0"/>
                </a:moveTo>
                <a:lnTo>
                  <a:pt x="7622667" y="0"/>
                </a:lnTo>
                <a:lnTo>
                  <a:pt x="7622667" y="8229600"/>
                </a:lnTo>
                <a:lnTo>
                  <a:pt x="0" y="8229600"/>
                </a:lnTo>
                <a:lnTo>
                  <a:pt x="0" y="0"/>
                </a:lnTo>
                <a:close/>
              </a:path>
            </a:pathLst>
          </a:custGeom>
          <a:blipFill>
            <a:blip r:embed="rId7"/>
            <a:stretch>
              <a:fillRect/>
            </a:stretch>
          </a:blipFill>
        </p:spPr>
      </p:sp>
      <p:sp>
        <p:nvSpPr>
          <p:cNvPr id="13" name="TextBox 13"/>
          <p:cNvSpPr txBox="1"/>
          <p:nvPr/>
        </p:nvSpPr>
        <p:spPr>
          <a:xfrm>
            <a:off x="1028700" y="3374880"/>
            <a:ext cx="8186870" cy="4177002"/>
          </a:xfrm>
          <a:prstGeom prst="rect">
            <a:avLst/>
          </a:prstGeom>
        </p:spPr>
        <p:txBody>
          <a:bodyPr lIns="0" tIns="0" rIns="0" bIns="0" rtlCol="0" anchor="t">
            <a:spAutoFit/>
          </a:bodyPr>
          <a:lstStyle/>
          <a:p>
            <a:pPr algn="just">
              <a:lnSpc>
                <a:spcPts val="3360"/>
              </a:lnSpc>
            </a:pPr>
            <a:r>
              <a:rPr lang="en-US" sz="2400">
                <a:solidFill>
                  <a:srgbClr val="03045A"/>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14" name="TextBox 14"/>
          <p:cNvSpPr txBox="1"/>
          <p:nvPr/>
        </p:nvSpPr>
        <p:spPr>
          <a:xfrm>
            <a:off x="1028700" y="1811277"/>
            <a:ext cx="6877571" cy="1102771"/>
          </a:xfrm>
          <a:prstGeom prst="rect">
            <a:avLst/>
          </a:prstGeom>
        </p:spPr>
        <p:txBody>
          <a:bodyPr lIns="0" tIns="0" rIns="0" bIns="0" rtlCol="0" anchor="t">
            <a:spAutoFit/>
          </a:bodyPr>
          <a:lstStyle/>
          <a:p>
            <a:pPr algn="l">
              <a:lnSpc>
                <a:spcPts val="8986"/>
              </a:lnSpc>
            </a:pPr>
            <a:r>
              <a:rPr lang="en-US" sz="6912" b="1" spc="-228">
                <a:solidFill>
                  <a:srgbClr val="03045A"/>
                </a:solidFill>
                <a:latin typeface="Open Sauce Bold"/>
                <a:ea typeface="Open Sauce Bold"/>
                <a:cs typeface="Open Sauce Bold"/>
                <a:sym typeface="Open Sauce Bold"/>
              </a:rPr>
              <a:t>Latar Belakang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Freeform 2"/>
          <p:cNvSpPr/>
          <p:nvPr/>
        </p:nvSpPr>
        <p:spPr>
          <a:xfrm>
            <a:off x="1543050" y="8391393"/>
            <a:ext cx="3791214" cy="1895607"/>
          </a:xfrm>
          <a:custGeom>
            <a:avLst/>
            <a:gdLst/>
            <a:ahLst/>
            <a:cxnLst/>
            <a:rect l="l" t="t" r="r" b="b"/>
            <a:pathLst>
              <a:path w="3791214" h="1895607">
                <a:moveTo>
                  <a:pt x="0" y="0"/>
                </a:moveTo>
                <a:lnTo>
                  <a:pt x="3791214" y="0"/>
                </a:lnTo>
                <a:lnTo>
                  <a:pt x="3791214" y="1895607"/>
                </a:lnTo>
                <a:lnTo>
                  <a:pt x="0" y="18956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446986" y="0"/>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5" name="TextBox 5"/>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13206071" y="0"/>
            <a:ext cx="5098053" cy="10287000"/>
            <a:chOff x="0" y="0"/>
            <a:chExt cx="1342697" cy="2709333"/>
          </a:xfrm>
        </p:grpSpPr>
        <p:sp>
          <p:nvSpPr>
            <p:cNvPr id="7" name="Freeform 7"/>
            <p:cNvSpPr/>
            <p:nvPr/>
          </p:nvSpPr>
          <p:spPr>
            <a:xfrm>
              <a:off x="0" y="0"/>
              <a:ext cx="1342697" cy="2709333"/>
            </a:xfrm>
            <a:custGeom>
              <a:avLst/>
              <a:gdLst/>
              <a:ahLst/>
              <a:cxnLst/>
              <a:rect l="l" t="t" r="r" b="b"/>
              <a:pathLst>
                <a:path w="1342697" h="2709333">
                  <a:moveTo>
                    <a:pt x="0" y="0"/>
                  </a:moveTo>
                  <a:lnTo>
                    <a:pt x="1342697" y="0"/>
                  </a:lnTo>
                  <a:lnTo>
                    <a:pt x="1342697" y="2709333"/>
                  </a:lnTo>
                  <a:lnTo>
                    <a:pt x="0" y="2709333"/>
                  </a:lnTo>
                  <a:close/>
                </a:path>
              </a:pathLst>
            </a:custGeom>
            <a:solidFill>
              <a:srgbClr val="03045A"/>
            </a:solidFill>
          </p:spPr>
        </p:sp>
        <p:sp>
          <p:nvSpPr>
            <p:cNvPr id="8" name="TextBox 8"/>
            <p:cNvSpPr txBox="1"/>
            <p:nvPr/>
          </p:nvSpPr>
          <p:spPr>
            <a:xfrm>
              <a:off x="0" y="-47625"/>
              <a:ext cx="1342697" cy="2756958"/>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a:off x="14250895" y="1971424"/>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a:off x="7443209" y="9806713"/>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graphicFrame>
        <p:nvGraphicFramePr>
          <p:cNvPr id="11" name="Object 11"/>
          <p:cNvGraphicFramePr/>
          <p:nvPr/>
        </p:nvGraphicFramePr>
        <p:xfrm>
          <a:off x="1028700" y="1028700"/>
          <a:ext cx="7543800" cy="4400550"/>
        </p:xfrm>
        <a:graphic>
          <a:graphicData uri="http://schemas.openxmlformats.org/presentationml/2006/ole">
            <mc:AlternateContent xmlns:mc="http://schemas.openxmlformats.org/markup-compatibility/2006">
              <mc:Choice xmlns:v="urn:schemas-microsoft-com:vml" Requires="v">
                <p:oleObj name="Worksheet" r:id="rId6" imgW="9042400" imgH="5905500" progId="Excel.Sheet.12">
                  <p:embed/>
                </p:oleObj>
              </mc:Choice>
              <mc:Fallback>
                <p:oleObj name="Worksheet" r:id="rId6" imgW="9042400" imgH="5905500" progId="Excel.Sheet.12">
                  <p:embed/>
                  <p:pic>
                    <p:nvPicPr>
                      <p:cNvPr id="0" name=""/>
                      <p:cNvPicPr/>
                      <p:nvPr/>
                    </p:nvPicPr>
                    <p:blipFill>
                      <a:blip r:embed="rId7"/>
                      <a:stretch>
                        <a:fillRect/>
                      </a:stretch>
                    </p:blipFill>
                    <p:spPr>
                      <a:xfrm>
                        <a:off x="1028700" y="1028700"/>
                        <a:ext cx="7543800" cy="4400550"/>
                      </a:xfrm>
                      <a:prstGeom prst="rect">
                        <a:avLst/>
                      </a:prstGeom>
                    </p:spPr>
                  </p:pic>
                </p:oleObj>
              </mc:Fallback>
            </mc:AlternateContent>
          </a:graphicData>
        </a:graphic>
      </p:graphicFrame>
      <p:sp>
        <p:nvSpPr>
          <p:cNvPr id="12" name="Freeform 12"/>
          <p:cNvSpPr/>
          <p:nvPr/>
        </p:nvSpPr>
        <p:spPr>
          <a:xfrm>
            <a:off x="12378007" y="1143360"/>
            <a:ext cx="1656127" cy="1656127"/>
          </a:xfrm>
          <a:custGeom>
            <a:avLst/>
            <a:gdLst/>
            <a:ahLst/>
            <a:cxnLst/>
            <a:rect l="l" t="t" r="r" b="b"/>
            <a:pathLst>
              <a:path w="1656127" h="1656127">
                <a:moveTo>
                  <a:pt x="0" y="0"/>
                </a:moveTo>
                <a:lnTo>
                  <a:pt x="1656128" y="0"/>
                </a:lnTo>
                <a:lnTo>
                  <a:pt x="1656128" y="1656127"/>
                </a:lnTo>
                <a:lnTo>
                  <a:pt x="0" y="1656127"/>
                </a:lnTo>
                <a:lnTo>
                  <a:pt x="0" y="0"/>
                </a:lnTo>
                <a:close/>
              </a:path>
            </a:pathLst>
          </a:custGeom>
          <a:blipFill>
            <a:blip r:embed="rId8"/>
            <a:stretch>
              <a:fillRect/>
            </a:stretch>
          </a:blipFill>
        </p:spPr>
      </p:sp>
      <p:sp>
        <p:nvSpPr>
          <p:cNvPr id="13" name="Freeform 13"/>
          <p:cNvSpPr/>
          <p:nvPr/>
        </p:nvSpPr>
        <p:spPr>
          <a:xfrm>
            <a:off x="9329657" y="4274596"/>
            <a:ext cx="7315200" cy="3410712"/>
          </a:xfrm>
          <a:custGeom>
            <a:avLst/>
            <a:gdLst/>
            <a:ahLst/>
            <a:cxnLst/>
            <a:rect l="l" t="t" r="r" b="b"/>
            <a:pathLst>
              <a:path w="7315200" h="3410712">
                <a:moveTo>
                  <a:pt x="0" y="0"/>
                </a:moveTo>
                <a:lnTo>
                  <a:pt x="7315200" y="0"/>
                </a:lnTo>
                <a:lnTo>
                  <a:pt x="7315200" y="3410712"/>
                </a:lnTo>
                <a:lnTo>
                  <a:pt x="0" y="341071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4" name="TextBox 14"/>
          <p:cNvSpPr txBox="1"/>
          <p:nvPr/>
        </p:nvSpPr>
        <p:spPr>
          <a:xfrm>
            <a:off x="1028700" y="5835767"/>
            <a:ext cx="16230600" cy="2902527"/>
          </a:xfrm>
          <a:prstGeom prst="rect">
            <a:avLst/>
          </a:prstGeom>
        </p:spPr>
        <p:txBody>
          <a:bodyPr lIns="0" tIns="0" rIns="0" bIns="0" rtlCol="0" anchor="t">
            <a:spAutoFit/>
          </a:bodyPr>
          <a:lstStyle/>
          <a:p>
            <a:pPr algn="just">
              <a:lnSpc>
                <a:spcPts val="3840"/>
              </a:lnSpc>
            </a:pPr>
            <a:r>
              <a:rPr lang="en-US" sz="2742">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15" name="TextBox 15"/>
          <p:cNvSpPr txBox="1"/>
          <p:nvPr/>
        </p:nvSpPr>
        <p:spPr>
          <a:xfrm>
            <a:off x="9767285" y="3171825"/>
            <a:ext cx="6877571" cy="1102771"/>
          </a:xfrm>
          <a:prstGeom prst="rect">
            <a:avLst/>
          </a:prstGeom>
        </p:spPr>
        <p:txBody>
          <a:bodyPr lIns="0" tIns="0" rIns="0" bIns="0" rtlCol="0" anchor="t">
            <a:spAutoFit/>
          </a:bodyPr>
          <a:lstStyle/>
          <a:p>
            <a:pPr algn="ctr">
              <a:lnSpc>
                <a:spcPts val="8986"/>
              </a:lnSpc>
            </a:pPr>
            <a:r>
              <a:rPr lang="en-US" sz="6912" b="1" spc="-228">
                <a:solidFill>
                  <a:srgbClr val="FFFFFF"/>
                </a:solidFill>
                <a:latin typeface="Open Sauce Bold"/>
                <a:ea typeface="Open Sauce Bold"/>
                <a:cs typeface="Open Sauce Bold"/>
                <a:sym typeface="Open Sauce Bold"/>
              </a:rPr>
              <a:t>Tabel 1.1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58829"/>
            <a:ext cx="5465454" cy="953662"/>
            <a:chOff x="0" y="0"/>
            <a:chExt cx="1439461" cy="251170"/>
          </a:xfrm>
        </p:grpSpPr>
        <p:sp>
          <p:nvSpPr>
            <p:cNvPr id="3" name="Freeform 3"/>
            <p:cNvSpPr/>
            <p:nvPr/>
          </p:nvSpPr>
          <p:spPr>
            <a:xfrm>
              <a:off x="0" y="0"/>
              <a:ext cx="1439461" cy="251170"/>
            </a:xfrm>
            <a:custGeom>
              <a:avLst/>
              <a:gdLst/>
              <a:ahLst/>
              <a:cxnLst/>
              <a:rect l="l" t="t" r="r" b="b"/>
              <a:pathLst>
                <a:path w="1439461" h="251170">
                  <a:moveTo>
                    <a:pt x="125585" y="0"/>
                  </a:moveTo>
                  <a:lnTo>
                    <a:pt x="1313876" y="0"/>
                  </a:lnTo>
                  <a:cubicBezTo>
                    <a:pt x="1347183" y="0"/>
                    <a:pt x="1379126" y="13231"/>
                    <a:pt x="1402678" y="36783"/>
                  </a:cubicBezTo>
                  <a:cubicBezTo>
                    <a:pt x="1426230" y="60335"/>
                    <a:pt x="1439461" y="92278"/>
                    <a:pt x="1439461" y="125585"/>
                  </a:cubicBezTo>
                  <a:lnTo>
                    <a:pt x="1439461" y="125585"/>
                  </a:lnTo>
                  <a:cubicBezTo>
                    <a:pt x="1439461" y="194944"/>
                    <a:pt x="1383235" y="251170"/>
                    <a:pt x="1313876" y="251170"/>
                  </a:cubicBezTo>
                  <a:lnTo>
                    <a:pt x="125585" y="251170"/>
                  </a:lnTo>
                  <a:cubicBezTo>
                    <a:pt x="56226" y="251170"/>
                    <a:pt x="0" y="194944"/>
                    <a:pt x="0" y="125585"/>
                  </a:cubicBezTo>
                  <a:lnTo>
                    <a:pt x="0" y="125585"/>
                  </a:lnTo>
                  <a:cubicBezTo>
                    <a:pt x="0" y="56226"/>
                    <a:pt x="56226" y="0"/>
                    <a:pt x="125585" y="0"/>
                  </a:cubicBezTo>
                  <a:close/>
                </a:path>
              </a:pathLst>
            </a:custGeom>
            <a:solidFill>
              <a:srgbClr val="03045A"/>
            </a:solidFill>
          </p:spPr>
        </p:sp>
        <p:sp>
          <p:nvSpPr>
            <p:cNvPr id="4" name="TextBox 4"/>
            <p:cNvSpPr txBox="1"/>
            <p:nvPr/>
          </p:nvSpPr>
          <p:spPr>
            <a:xfrm>
              <a:off x="0" y="-47625"/>
              <a:ext cx="1439461" cy="298795"/>
            </a:xfrm>
            <a:prstGeom prst="rect">
              <a:avLst/>
            </a:prstGeom>
          </p:spPr>
          <p:txBody>
            <a:bodyPr lIns="50800" tIns="50800" rIns="50800" bIns="50800" rtlCol="0" anchor="ctr"/>
            <a:lstStyle/>
            <a:p>
              <a:pPr algn="ctr">
                <a:lnSpc>
                  <a:spcPts val="3500"/>
                </a:lnSpc>
              </a:pPr>
              <a:endParaRPr/>
            </a:p>
          </p:txBody>
        </p:sp>
      </p:grpSp>
      <p:grpSp>
        <p:nvGrpSpPr>
          <p:cNvPr id="5" name="Group 5"/>
          <p:cNvGrpSpPr/>
          <p:nvPr/>
        </p:nvGrpSpPr>
        <p:grpSpPr>
          <a:xfrm>
            <a:off x="1028700" y="5143500"/>
            <a:ext cx="5465454" cy="953662"/>
            <a:chOff x="0" y="0"/>
            <a:chExt cx="1439461" cy="251170"/>
          </a:xfrm>
        </p:grpSpPr>
        <p:sp>
          <p:nvSpPr>
            <p:cNvPr id="6" name="Freeform 6"/>
            <p:cNvSpPr/>
            <p:nvPr/>
          </p:nvSpPr>
          <p:spPr>
            <a:xfrm>
              <a:off x="0" y="0"/>
              <a:ext cx="1439461" cy="251170"/>
            </a:xfrm>
            <a:custGeom>
              <a:avLst/>
              <a:gdLst/>
              <a:ahLst/>
              <a:cxnLst/>
              <a:rect l="l" t="t" r="r" b="b"/>
              <a:pathLst>
                <a:path w="1439461" h="251170">
                  <a:moveTo>
                    <a:pt x="125585" y="0"/>
                  </a:moveTo>
                  <a:lnTo>
                    <a:pt x="1313876" y="0"/>
                  </a:lnTo>
                  <a:cubicBezTo>
                    <a:pt x="1347183" y="0"/>
                    <a:pt x="1379126" y="13231"/>
                    <a:pt x="1402678" y="36783"/>
                  </a:cubicBezTo>
                  <a:cubicBezTo>
                    <a:pt x="1426230" y="60335"/>
                    <a:pt x="1439461" y="92278"/>
                    <a:pt x="1439461" y="125585"/>
                  </a:cubicBezTo>
                  <a:lnTo>
                    <a:pt x="1439461" y="125585"/>
                  </a:lnTo>
                  <a:cubicBezTo>
                    <a:pt x="1439461" y="194944"/>
                    <a:pt x="1383235" y="251170"/>
                    <a:pt x="1313876" y="251170"/>
                  </a:cubicBezTo>
                  <a:lnTo>
                    <a:pt x="125585" y="251170"/>
                  </a:lnTo>
                  <a:cubicBezTo>
                    <a:pt x="56226" y="251170"/>
                    <a:pt x="0" y="194944"/>
                    <a:pt x="0" y="125585"/>
                  </a:cubicBezTo>
                  <a:lnTo>
                    <a:pt x="0" y="125585"/>
                  </a:lnTo>
                  <a:cubicBezTo>
                    <a:pt x="0" y="56226"/>
                    <a:pt x="56226" y="0"/>
                    <a:pt x="125585" y="0"/>
                  </a:cubicBezTo>
                  <a:close/>
                </a:path>
              </a:pathLst>
            </a:custGeom>
            <a:solidFill>
              <a:srgbClr val="03045A"/>
            </a:solidFill>
          </p:spPr>
        </p:sp>
        <p:sp>
          <p:nvSpPr>
            <p:cNvPr id="7" name="TextBox 7"/>
            <p:cNvSpPr txBox="1"/>
            <p:nvPr/>
          </p:nvSpPr>
          <p:spPr>
            <a:xfrm>
              <a:off x="0" y="-47625"/>
              <a:ext cx="1439461" cy="298795"/>
            </a:xfrm>
            <a:prstGeom prst="rect">
              <a:avLst/>
            </a:prstGeom>
          </p:spPr>
          <p:txBody>
            <a:bodyPr lIns="50800" tIns="50800" rIns="50800" bIns="50800" rtlCol="0" anchor="ctr"/>
            <a:lstStyle/>
            <a:p>
              <a:pPr algn="ctr">
                <a:lnSpc>
                  <a:spcPts val="3500"/>
                </a:lnSpc>
              </a:pPr>
              <a:endParaRPr/>
            </a:p>
          </p:txBody>
        </p:sp>
      </p:grpSp>
      <p:sp>
        <p:nvSpPr>
          <p:cNvPr id="8" name="Freeform 8"/>
          <p:cNvSpPr/>
          <p:nvPr/>
        </p:nvSpPr>
        <p:spPr>
          <a:xfrm flipV="1">
            <a:off x="11584466" y="0"/>
            <a:ext cx="3791214" cy="1895607"/>
          </a:xfrm>
          <a:custGeom>
            <a:avLst/>
            <a:gdLst/>
            <a:ahLst/>
            <a:cxnLst/>
            <a:rect l="l" t="t" r="r" b="b"/>
            <a:pathLst>
              <a:path w="3791214" h="1895607">
                <a:moveTo>
                  <a:pt x="0" y="1895607"/>
                </a:moveTo>
                <a:lnTo>
                  <a:pt x="3791214" y="1895607"/>
                </a:lnTo>
                <a:lnTo>
                  <a:pt x="3791214" y="0"/>
                </a:lnTo>
                <a:lnTo>
                  <a:pt x="0" y="0"/>
                </a:lnTo>
                <a:lnTo>
                  <a:pt x="0" y="189560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028700" y="8316055"/>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810603" y="7533671"/>
            <a:ext cx="5465454" cy="953662"/>
            <a:chOff x="0" y="0"/>
            <a:chExt cx="1439461" cy="251170"/>
          </a:xfrm>
        </p:grpSpPr>
        <p:sp>
          <p:nvSpPr>
            <p:cNvPr id="11" name="Freeform 11"/>
            <p:cNvSpPr/>
            <p:nvPr/>
          </p:nvSpPr>
          <p:spPr>
            <a:xfrm>
              <a:off x="0" y="0"/>
              <a:ext cx="1439461" cy="251170"/>
            </a:xfrm>
            <a:custGeom>
              <a:avLst/>
              <a:gdLst/>
              <a:ahLst/>
              <a:cxnLst/>
              <a:rect l="l" t="t" r="r" b="b"/>
              <a:pathLst>
                <a:path w="1439461" h="251170">
                  <a:moveTo>
                    <a:pt x="125585" y="0"/>
                  </a:moveTo>
                  <a:lnTo>
                    <a:pt x="1313876" y="0"/>
                  </a:lnTo>
                  <a:cubicBezTo>
                    <a:pt x="1347183" y="0"/>
                    <a:pt x="1379126" y="13231"/>
                    <a:pt x="1402678" y="36783"/>
                  </a:cubicBezTo>
                  <a:cubicBezTo>
                    <a:pt x="1426230" y="60335"/>
                    <a:pt x="1439461" y="92278"/>
                    <a:pt x="1439461" y="125585"/>
                  </a:cubicBezTo>
                  <a:lnTo>
                    <a:pt x="1439461" y="125585"/>
                  </a:lnTo>
                  <a:cubicBezTo>
                    <a:pt x="1439461" y="194944"/>
                    <a:pt x="1383235" y="251170"/>
                    <a:pt x="1313876" y="251170"/>
                  </a:cubicBezTo>
                  <a:lnTo>
                    <a:pt x="125585" y="251170"/>
                  </a:lnTo>
                  <a:cubicBezTo>
                    <a:pt x="56226" y="251170"/>
                    <a:pt x="0" y="194944"/>
                    <a:pt x="0" y="125585"/>
                  </a:cubicBezTo>
                  <a:lnTo>
                    <a:pt x="0" y="125585"/>
                  </a:lnTo>
                  <a:cubicBezTo>
                    <a:pt x="0" y="56226"/>
                    <a:pt x="56226" y="0"/>
                    <a:pt x="125585" y="0"/>
                  </a:cubicBezTo>
                  <a:close/>
                </a:path>
              </a:pathLst>
            </a:custGeom>
            <a:solidFill>
              <a:srgbClr val="03045A"/>
            </a:solidFill>
          </p:spPr>
        </p:sp>
        <p:sp>
          <p:nvSpPr>
            <p:cNvPr id="12" name="TextBox 12"/>
            <p:cNvSpPr txBox="1"/>
            <p:nvPr/>
          </p:nvSpPr>
          <p:spPr>
            <a:xfrm>
              <a:off x="0" y="-47625"/>
              <a:ext cx="1439461" cy="298795"/>
            </a:xfrm>
            <a:prstGeom prst="rect">
              <a:avLst/>
            </a:prstGeom>
          </p:spPr>
          <p:txBody>
            <a:bodyPr lIns="50800" tIns="50800" rIns="50800" bIns="50800" rtlCol="0" anchor="ctr"/>
            <a:lstStyle/>
            <a:p>
              <a:pPr algn="ctr">
                <a:lnSpc>
                  <a:spcPts val="3500"/>
                </a:lnSpc>
              </a:pPr>
              <a:endParaRPr/>
            </a:p>
          </p:txBody>
        </p:sp>
      </p:grpSp>
      <p:sp>
        <p:nvSpPr>
          <p:cNvPr id="13" name="Freeform 13"/>
          <p:cNvSpPr/>
          <p:nvPr/>
        </p:nvSpPr>
        <p:spPr>
          <a:xfrm>
            <a:off x="10120736" y="947803"/>
            <a:ext cx="1656127" cy="1656127"/>
          </a:xfrm>
          <a:custGeom>
            <a:avLst/>
            <a:gdLst/>
            <a:ahLst/>
            <a:cxnLst/>
            <a:rect l="l" t="t" r="r" b="b"/>
            <a:pathLst>
              <a:path w="1656127" h="1656127">
                <a:moveTo>
                  <a:pt x="0" y="0"/>
                </a:moveTo>
                <a:lnTo>
                  <a:pt x="1656127" y="0"/>
                </a:lnTo>
                <a:lnTo>
                  <a:pt x="1656127" y="1656128"/>
                </a:lnTo>
                <a:lnTo>
                  <a:pt x="0" y="1656128"/>
                </a:lnTo>
                <a:lnTo>
                  <a:pt x="0" y="0"/>
                </a:lnTo>
                <a:close/>
              </a:path>
            </a:pathLst>
          </a:custGeom>
          <a:blipFill>
            <a:blip r:embed="rId6"/>
            <a:stretch>
              <a:fillRect/>
            </a:stretch>
          </a:blipFill>
        </p:spPr>
      </p:sp>
      <p:sp>
        <p:nvSpPr>
          <p:cNvPr id="14" name="Freeform 14"/>
          <p:cNvSpPr/>
          <p:nvPr/>
        </p:nvSpPr>
        <p:spPr>
          <a:xfrm>
            <a:off x="13480073" y="910925"/>
            <a:ext cx="3011747" cy="6767972"/>
          </a:xfrm>
          <a:custGeom>
            <a:avLst/>
            <a:gdLst/>
            <a:ahLst/>
            <a:cxnLst/>
            <a:rect l="l" t="t" r="r" b="b"/>
            <a:pathLst>
              <a:path w="3011747" h="6767972">
                <a:moveTo>
                  <a:pt x="0" y="0"/>
                </a:moveTo>
                <a:lnTo>
                  <a:pt x="3011747" y="0"/>
                </a:lnTo>
                <a:lnTo>
                  <a:pt x="3011747" y="6767971"/>
                </a:lnTo>
                <a:lnTo>
                  <a:pt x="0" y="67679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1028700" y="1066800"/>
            <a:ext cx="8115300" cy="943577"/>
          </a:xfrm>
          <a:prstGeom prst="rect">
            <a:avLst/>
          </a:prstGeom>
        </p:spPr>
        <p:txBody>
          <a:bodyPr lIns="0" tIns="0" rIns="0" bIns="0" rtlCol="0" anchor="t">
            <a:spAutoFit/>
          </a:bodyPr>
          <a:lstStyle/>
          <a:p>
            <a:pPr marL="0" lvl="0" indent="0" algn="l">
              <a:lnSpc>
                <a:spcPts val="7344"/>
              </a:lnSpc>
            </a:pPr>
            <a:r>
              <a:rPr lang="en-US" sz="6499" b="1" spc="-214">
                <a:solidFill>
                  <a:srgbClr val="FFFFFF"/>
                </a:solidFill>
                <a:latin typeface="Open Sauce Bold"/>
                <a:ea typeface="Open Sauce Bold"/>
                <a:cs typeface="Open Sauce Bold"/>
                <a:sym typeface="Open Sauce Bold"/>
              </a:rPr>
              <a:t>Rumusan Masalah</a:t>
            </a:r>
          </a:p>
        </p:txBody>
      </p:sp>
      <p:sp>
        <p:nvSpPr>
          <p:cNvPr id="16" name="TextBox 16"/>
          <p:cNvSpPr txBox="1"/>
          <p:nvPr/>
        </p:nvSpPr>
        <p:spPr>
          <a:xfrm>
            <a:off x="1028700" y="3515199"/>
            <a:ext cx="11615634" cy="779712"/>
          </a:xfrm>
          <a:prstGeom prst="rect">
            <a:avLst/>
          </a:prstGeom>
        </p:spPr>
        <p:txBody>
          <a:bodyPr lIns="0" tIns="0" rIns="0" bIns="0" rtlCol="0" anchor="t">
            <a:spAutoFit/>
          </a:bodyPr>
          <a:lstStyle/>
          <a:p>
            <a:pPr marL="0" lvl="0" indent="0" algn="just">
              <a:lnSpc>
                <a:spcPts val="3220"/>
              </a:lnSpc>
              <a:spcBef>
                <a:spcPct val="0"/>
              </a:spcBef>
            </a:pPr>
            <a:r>
              <a:rPr lang="en-US" sz="2300">
                <a:solidFill>
                  <a:srgbClr val="FFFFFF"/>
                </a:solidFill>
                <a:latin typeface="Open Sauce"/>
                <a:ea typeface="Open Sauce"/>
                <a:cs typeface="Open Sauce"/>
                <a:sym typeface="Open Sauce"/>
              </a:rPr>
              <a:t>Lorem Ipsum is s</a:t>
            </a:r>
            <a:r>
              <a:rPr lang="en-US" sz="2300" u="none" strike="noStrike">
                <a:solidFill>
                  <a:srgbClr val="FFFFFF"/>
                </a:solidFill>
                <a:latin typeface="Open Sauce"/>
                <a:ea typeface="Open Sauce"/>
                <a:cs typeface="Open Sauce"/>
                <a:sym typeface="Open Sauce"/>
              </a:rPr>
              <a:t>imply dummy text of the printing and typesetting industry. Lorem Ipsum has been the industry's standard </a:t>
            </a:r>
          </a:p>
        </p:txBody>
      </p:sp>
      <p:sp>
        <p:nvSpPr>
          <p:cNvPr id="17" name="TextBox 17"/>
          <p:cNvSpPr txBox="1"/>
          <p:nvPr/>
        </p:nvSpPr>
        <p:spPr>
          <a:xfrm>
            <a:off x="1943047" y="2700760"/>
            <a:ext cx="3636760" cy="423133"/>
          </a:xfrm>
          <a:prstGeom prst="rect">
            <a:avLst/>
          </a:prstGeom>
        </p:spPr>
        <p:txBody>
          <a:bodyPr lIns="0" tIns="0" rIns="0" bIns="0" rtlCol="0" anchor="t">
            <a:spAutoFit/>
          </a:bodyPr>
          <a:lstStyle/>
          <a:p>
            <a:pPr marL="0" lvl="0" indent="0" algn="ctr">
              <a:lnSpc>
                <a:spcPts val="3456"/>
              </a:lnSpc>
              <a:spcBef>
                <a:spcPct val="0"/>
              </a:spcBef>
            </a:pPr>
            <a:r>
              <a:rPr lang="en-US" sz="2468" b="1">
                <a:solidFill>
                  <a:srgbClr val="FFFFFF"/>
                </a:solidFill>
                <a:latin typeface="Open Sauce Bold"/>
                <a:ea typeface="Open Sauce Bold"/>
                <a:cs typeface="Open Sauce Bold"/>
                <a:sym typeface="Open Sauce Bold"/>
              </a:rPr>
              <a:t>Masalah 1</a:t>
            </a:r>
          </a:p>
        </p:txBody>
      </p:sp>
      <p:sp>
        <p:nvSpPr>
          <p:cNvPr id="18" name="TextBox 18"/>
          <p:cNvSpPr txBox="1"/>
          <p:nvPr/>
        </p:nvSpPr>
        <p:spPr>
          <a:xfrm>
            <a:off x="1996906" y="5385431"/>
            <a:ext cx="3529042" cy="423133"/>
          </a:xfrm>
          <a:prstGeom prst="rect">
            <a:avLst/>
          </a:prstGeom>
        </p:spPr>
        <p:txBody>
          <a:bodyPr lIns="0" tIns="0" rIns="0" bIns="0" rtlCol="0" anchor="t">
            <a:spAutoFit/>
          </a:bodyPr>
          <a:lstStyle/>
          <a:p>
            <a:pPr marL="0" lvl="0" indent="0" algn="ctr">
              <a:lnSpc>
                <a:spcPts val="3456"/>
              </a:lnSpc>
              <a:spcBef>
                <a:spcPct val="0"/>
              </a:spcBef>
            </a:pPr>
            <a:r>
              <a:rPr lang="en-US" sz="2468" b="1">
                <a:solidFill>
                  <a:srgbClr val="FFFFFF"/>
                </a:solidFill>
                <a:latin typeface="Open Sauce Bold"/>
                <a:ea typeface="Open Sauce Bold"/>
                <a:cs typeface="Open Sauce Bold"/>
                <a:sym typeface="Open Sauce Bold"/>
              </a:rPr>
              <a:t>Masalah 2</a:t>
            </a:r>
          </a:p>
        </p:txBody>
      </p:sp>
      <p:sp>
        <p:nvSpPr>
          <p:cNvPr id="19" name="TextBox 19"/>
          <p:cNvSpPr txBox="1"/>
          <p:nvPr/>
        </p:nvSpPr>
        <p:spPr>
          <a:xfrm>
            <a:off x="1028700" y="6210886"/>
            <a:ext cx="9920099" cy="1179729"/>
          </a:xfrm>
          <a:prstGeom prst="rect">
            <a:avLst/>
          </a:prstGeom>
        </p:spPr>
        <p:txBody>
          <a:bodyPr lIns="0" tIns="0" rIns="0" bIns="0" rtlCol="0" anchor="t">
            <a:spAutoFit/>
          </a:bodyPr>
          <a:lstStyle/>
          <a:p>
            <a:pPr marL="0" lvl="0" indent="0" algn="just">
              <a:lnSpc>
                <a:spcPts val="3220"/>
              </a:lnSpc>
              <a:spcBef>
                <a:spcPct val="0"/>
              </a:spcBef>
            </a:pPr>
            <a:r>
              <a:rPr lang="en-US" sz="2300">
                <a:solidFill>
                  <a:srgbClr val="FFFFFF"/>
                </a:solidFill>
                <a:latin typeface="Open Sauce"/>
                <a:ea typeface="Open Sauce"/>
                <a:cs typeface="Open Sauce"/>
                <a:sym typeface="Open Sauce"/>
              </a:rPr>
              <a:t>Lorem Ipsum is simply</a:t>
            </a:r>
            <a:r>
              <a:rPr lang="en-US" sz="2300" u="none" strike="noStrike">
                <a:solidFill>
                  <a:srgbClr val="FFFFFF"/>
                </a:solidFill>
                <a:latin typeface="Open Sauce"/>
                <a:ea typeface="Open Sauce"/>
                <a:cs typeface="Open Sauce"/>
                <a:sym typeface="Open Sauce"/>
              </a:rPr>
              <a:t> dummy text of the printing and typesetting industry. Lorem Ipsum has been the industry's standard dummy text ever since the 1500s, w</a:t>
            </a:r>
          </a:p>
        </p:txBody>
      </p:sp>
      <p:sp>
        <p:nvSpPr>
          <p:cNvPr id="20" name="TextBox 20"/>
          <p:cNvSpPr txBox="1"/>
          <p:nvPr/>
        </p:nvSpPr>
        <p:spPr>
          <a:xfrm>
            <a:off x="5778808" y="7775602"/>
            <a:ext cx="3529042" cy="423133"/>
          </a:xfrm>
          <a:prstGeom prst="rect">
            <a:avLst/>
          </a:prstGeom>
        </p:spPr>
        <p:txBody>
          <a:bodyPr lIns="0" tIns="0" rIns="0" bIns="0" rtlCol="0" anchor="t">
            <a:spAutoFit/>
          </a:bodyPr>
          <a:lstStyle/>
          <a:p>
            <a:pPr marL="0" lvl="0" indent="0" algn="ctr">
              <a:lnSpc>
                <a:spcPts val="3456"/>
              </a:lnSpc>
              <a:spcBef>
                <a:spcPct val="0"/>
              </a:spcBef>
            </a:pPr>
            <a:r>
              <a:rPr lang="en-US" sz="2468" b="1">
                <a:solidFill>
                  <a:srgbClr val="FFFFFF"/>
                </a:solidFill>
                <a:latin typeface="Open Sauce Bold"/>
                <a:ea typeface="Open Sauce Bold"/>
                <a:cs typeface="Open Sauce Bold"/>
                <a:sym typeface="Open Sauce Bold"/>
              </a:rPr>
              <a:t>Masalah 3</a:t>
            </a:r>
          </a:p>
        </p:txBody>
      </p:sp>
      <p:sp>
        <p:nvSpPr>
          <p:cNvPr id="21" name="TextBox 21"/>
          <p:cNvSpPr txBox="1"/>
          <p:nvPr/>
        </p:nvSpPr>
        <p:spPr>
          <a:xfrm>
            <a:off x="4810603" y="8601057"/>
            <a:ext cx="12448697" cy="779712"/>
          </a:xfrm>
          <a:prstGeom prst="rect">
            <a:avLst/>
          </a:prstGeom>
        </p:spPr>
        <p:txBody>
          <a:bodyPr lIns="0" tIns="0" rIns="0" bIns="0" rtlCol="0" anchor="t">
            <a:spAutoFit/>
          </a:bodyPr>
          <a:lstStyle/>
          <a:p>
            <a:pPr marL="0" lvl="0" indent="0" algn="just">
              <a:lnSpc>
                <a:spcPts val="3220"/>
              </a:lnSpc>
              <a:spcBef>
                <a:spcPct val="0"/>
              </a:spcBef>
            </a:pPr>
            <a:r>
              <a:rPr lang="en-US" sz="2300">
                <a:solidFill>
                  <a:srgbClr val="FFFFFF"/>
                </a:solidFill>
                <a:latin typeface="Open Sauce"/>
                <a:ea typeface="Open Sauce"/>
                <a:cs typeface="Open Sauce"/>
                <a:sym typeface="Open Sauce"/>
              </a:rPr>
              <a:t>Lore</a:t>
            </a:r>
            <a:r>
              <a:rPr lang="en-US" sz="2300" u="none" strike="noStrike">
                <a:solidFill>
                  <a:srgbClr val="FFFFFF"/>
                </a:solidFill>
                <a:latin typeface="Open Sauce"/>
                <a:ea typeface="Open Sauce"/>
                <a:cs typeface="Open Sauce"/>
                <a:sym typeface="Open Sauce"/>
              </a:rPr>
              <a:t>m Ipsum is simply dummy text of the printing and typesetting industry. Lorem Ipsum has been the industry's standard dummy text ever since the 1500s,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grpSp>
        <p:nvGrpSpPr>
          <p:cNvPr id="2" name="Group 2"/>
          <p:cNvGrpSpPr/>
          <p:nvPr/>
        </p:nvGrpSpPr>
        <p:grpSpPr>
          <a:xfrm>
            <a:off x="10905918" y="2767823"/>
            <a:ext cx="1021661" cy="1021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5" name="Group 5"/>
          <p:cNvGrpSpPr/>
          <p:nvPr/>
        </p:nvGrpSpPr>
        <p:grpSpPr>
          <a:xfrm>
            <a:off x="2033056" y="6217770"/>
            <a:ext cx="1021661" cy="102166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8" name="Group 8"/>
          <p:cNvGrpSpPr/>
          <p:nvPr/>
        </p:nvGrpSpPr>
        <p:grpSpPr>
          <a:xfrm>
            <a:off x="10905918" y="6136873"/>
            <a:ext cx="1021661" cy="102166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sp>
        <p:nvSpPr>
          <p:cNvPr id="11" name="Freeform 11"/>
          <p:cNvSpPr/>
          <p:nvPr/>
        </p:nvSpPr>
        <p:spPr>
          <a:xfrm>
            <a:off x="11091150" y="2985876"/>
            <a:ext cx="651197" cy="585556"/>
          </a:xfrm>
          <a:custGeom>
            <a:avLst/>
            <a:gdLst/>
            <a:ahLst/>
            <a:cxnLst/>
            <a:rect l="l" t="t" r="r" b="b"/>
            <a:pathLst>
              <a:path w="651197" h="585556">
                <a:moveTo>
                  <a:pt x="0" y="0"/>
                </a:moveTo>
                <a:lnTo>
                  <a:pt x="651196" y="0"/>
                </a:lnTo>
                <a:lnTo>
                  <a:pt x="651196" y="585556"/>
                </a:lnTo>
                <a:lnTo>
                  <a:pt x="0" y="5855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1168129" y="6400289"/>
            <a:ext cx="497239" cy="482774"/>
          </a:xfrm>
          <a:custGeom>
            <a:avLst/>
            <a:gdLst/>
            <a:ahLst/>
            <a:cxnLst/>
            <a:rect l="l" t="t" r="r" b="b"/>
            <a:pathLst>
              <a:path w="497239" h="482774">
                <a:moveTo>
                  <a:pt x="0" y="0"/>
                </a:moveTo>
                <a:lnTo>
                  <a:pt x="497239" y="0"/>
                </a:lnTo>
                <a:lnTo>
                  <a:pt x="497239" y="482774"/>
                </a:lnTo>
                <a:lnTo>
                  <a:pt x="0" y="48277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3" name="Freeform 13"/>
          <p:cNvSpPr/>
          <p:nvPr/>
        </p:nvSpPr>
        <p:spPr>
          <a:xfrm>
            <a:off x="11102347" y="7759382"/>
            <a:ext cx="628803" cy="419583"/>
          </a:xfrm>
          <a:custGeom>
            <a:avLst/>
            <a:gdLst/>
            <a:ahLst/>
            <a:cxnLst/>
            <a:rect l="l" t="t" r="r" b="b"/>
            <a:pathLst>
              <a:path w="628803" h="419583">
                <a:moveTo>
                  <a:pt x="0" y="0"/>
                </a:moveTo>
                <a:lnTo>
                  <a:pt x="628803" y="0"/>
                </a:lnTo>
                <a:lnTo>
                  <a:pt x="628803" y="419583"/>
                </a:lnTo>
                <a:lnTo>
                  <a:pt x="0" y="419583"/>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14" name="Freeform 14"/>
          <p:cNvSpPr/>
          <p:nvPr/>
        </p:nvSpPr>
        <p:spPr>
          <a:xfrm>
            <a:off x="2379253" y="6493410"/>
            <a:ext cx="329267" cy="470381"/>
          </a:xfrm>
          <a:custGeom>
            <a:avLst/>
            <a:gdLst/>
            <a:ahLst/>
            <a:cxnLst/>
            <a:rect l="l" t="t" r="r" b="b"/>
            <a:pathLst>
              <a:path w="329267" h="470381">
                <a:moveTo>
                  <a:pt x="0" y="0"/>
                </a:moveTo>
                <a:lnTo>
                  <a:pt x="329267" y="0"/>
                </a:lnTo>
                <a:lnTo>
                  <a:pt x="329267" y="470381"/>
                </a:lnTo>
                <a:lnTo>
                  <a:pt x="0" y="470381"/>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5" name="Freeform 15"/>
          <p:cNvSpPr/>
          <p:nvPr/>
        </p:nvSpPr>
        <p:spPr>
          <a:xfrm rot="-5400000">
            <a:off x="305445" y="3393539"/>
            <a:ext cx="3145523" cy="1004356"/>
          </a:xfrm>
          <a:custGeom>
            <a:avLst/>
            <a:gdLst/>
            <a:ahLst/>
            <a:cxnLst/>
            <a:rect l="l" t="t" r="r" b="b"/>
            <a:pathLst>
              <a:path w="3145523" h="1004356">
                <a:moveTo>
                  <a:pt x="0" y="0"/>
                </a:moveTo>
                <a:lnTo>
                  <a:pt x="3145522" y="0"/>
                </a:lnTo>
                <a:lnTo>
                  <a:pt x="3145522" y="1004355"/>
                </a:lnTo>
                <a:lnTo>
                  <a:pt x="0" y="10043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a:off x="-1758158" y="8391393"/>
            <a:ext cx="3791214" cy="1895607"/>
          </a:xfrm>
          <a:custGeom>
            <a:avLst/>
            <a:gdLst/>
            <a:ahLst/>
            <a:cxnLst/>
            <a:rect l="l" t="t" r="r" b="b"/>
            <a:pathLst>
              <a:path w="3791214" h="1895607">
                <a:moveTo>
                  <a:pt x="0" y="0"/>
                </a:moveTo>
                <a:lnTo>
                  <a:pt x="3791214" y="0"/>
                </a:lnTo>
                <a:lnTo>
                  <a:pt x="3791214" y="1895607"/>
                </a:lnTo>
                <a:lnTo>
                  <a:pt x="0" y="189560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7" name="Freeform 17"/>
          <p:cNvSpPr/>
          <p:nvPr/>
        </p:nvSpPr>
        <p:spPr>
          <a:xfrm>
            <a:off x="1028700" y="1028700"/>
            <a:ext cx="1656127" cy="1656127"/>
          </a:xfrm>
          <a:custGeom>
            <a:avLst/>
            <a:gdLst/>
            <a:ahLst/>
            <a:cxnLst/>
            <a:rect l="l" t="t" r="r" b="b"/>
            <a:pathLst>
              <a:path w="1656127" h="1656127">
                <a:moveTo>
                  <a:pt x="0" y="0"/>
                </a:moveTo>
                <a:lnTo>
                  <a:pt x="1656127" y="0"/>
                </a:lnTo>
                <a:lnTo>
                  <a:pt x="1656127" y="1656127"/>
                </a:lnTo>
                <a:lnTo>
                  <a:pt x="0" y="1656127"/>
                </a:lnTo>
                <a:lnTo>
                  <a:pt x="0" y="0"/>
                </a:lnTo>
                <a:close/>
              </a:path>
            </a:pathLst>
          </a:custGeom>
          <a:blipFill>
            <a:blip r:embed="rId14"/>
            <a:stretch>
              <a:fillRect/>
            </a:stretch>
          </a:blipFill>
        </p:spPr>
      </p:sp>
      <p:sp>
        <p:nvSpPr>
          <p:cNvPr id="18" name="Freeform 18"/>
          <p:cNvSpPr/>
          <p:nvPr/>
        </p:nvSpPr>
        <p:spPr>
          <a:xfrm>
            <a:off x="200747" y="-2467329"/>
            <a:ext cx="10705171" cy="8229600"/>
          </a:xfrm>
          <a:custGeom>
            <a:avLst/>
            <a:gdLst/>
            <a:ahLst/>
            <a:cxnLst/>
            <a:rect l="l" t="t" r="r" b="b"/>
            <a:pathLst>
              <a:path w="10705171" h="8229600">
                <a:moveTo>
                  <a:pt x="0" y="0"/>
                </a:moveTo>
                <a:lnTo>
                  <a:pt x="10705171" y="0"/>
                </a:lnTo>
                <a:lnTo>
                  <a:pt x="10705171" y="8229600"/>
                </a:lnTo>
                <a:lnTo>
                  <a:pt x="0" y="8229600"/>
                </a:lnTo>
                <a:lnTo>
                  <a:pt x="0" y="0"/>
                </a:lnTo>
                <a:close/>
              </a:path>
            </a:pathLst>
          </a:custGeom>
          <a:blipFill>
            <a:blip r:embed="rId15"/>
            <a:stretch>
              <a:fillRect/>
            </a:stretch>
          </a:blipFill>
        </p:spPr>
      </p:sp>
      <p:sp>
        <p:nvSpPr>
          <p:cNvPr id="19" name="TextBox 19"/>
          <p:cNvSpPr txBox="1"/>
          <p:nvPr/>
        </p:nvSpPr>
        <p:spPr>
          <a:xfrm>
            <a:off x="9144000" y="1260534"/>
            <a:ext cx="8115300" cy="811973"/>
          </a:xfrm>
          <a:prstGeom prst="rect">
            <a:avLst/>
          </a:prstGeom>
        </p:spPr>
        <p:txBody>
          <a:bodyPr lIns="0" tIns="0" rIns="0" bIns="0" rtlCol="0" anchor="t">
            <a:spAutoFit/>
          </a:bodyPr>
          <a:lstStyle/>
          <a:p>
            <a:pPr marL="0" lvl="0" indent="0" algn="r">
              <a:lnSpc>
                <a:spcPts val="6360"/>
              </a:lnSpc>
              <a:spcBef>
                <a:spcPct val="0"/>
              </a:spcBef>
            </a:pPr>
            <a:r>
              <a:rPr lang="en-US" sz="5628" b="1" spc="-185">
                <a:solidFill>
                  <a:srgbClr val="FFFFFF"/>
                </a:solidFill>
                <a:latin typeface="Open Sauce Bold"/>
                <a:ea typeface="Open Sauce Bold"/>
                <a:cs typeface="Open Sauce Bold"/>
                <a:sym typeface="Open Sauce Bold"/>
              </a:rPr>
              <a:t>Tujuan Penelitian</a:t>
            </a:r>
          </a:p>
        </p:txBody>
      </p:sp>
      <p:sp>
        <p:nvSpPr>
          <p:cNvPr id="20" name="TextBox 20"/>
          <p:cNvSpPr txBox="1"/>
          <p:nvPr/>
        </p:nvSpPr>
        <p:spPr>
          <a:xfrm>
            <a:off x="12284251" y="2720198"/>
            <a:ext cx="3152029" cy="423133"/>
          </a:xfrm>
          <a:prstGeom prst="rect">
            <a:avLst/>
          </a:prstGeom>
        </p:spPr>
        <p:txBody>
          <a:bodyPr lIns="0" tIns="0" rIns="0" bIns="0" rtlCol="0" anchor="t">
            <a:spAutoFit/>
          </a:bodyPr>
          <a:lstStyle/>
          <a:p>
            <a:pPr marL="0" lvl="0" indent="0" algn="l">
              <a:lnSpc>
                <a:spcPts val="3456"/>
              </a:lnSpc>
              <a:spcBef>
                <a:spcPct val="0"/>
              </a:spcBef>
            </a:pPr>
            <a:r>
              <a:rPr lang="en-US" sz="2468" b="1">
                <a:solidFill>
                  <a:srgbClr val="FFFFFF"/>
                </a:solidFill>
                <a:latin typeface="Open Sauce Bold"/>
                <a:ea typeface="Open Sauce Bold"/>
                <a:cs typeface="Open Sauce Bold"/>
                <a:sym typeface="Open Sauce Bold"/>
              </a:rPr>
              <a:t>Tujuan 1</a:t>
            </a:r>
          </a:p>
        </p:txBody>
      </p:sp>
      <p:sp>
        <p:nvSpPr>
          <p:cNvPr id="21" name="TextBox 21"/>
          <p:cNvSpPr txBox="1"/>
          <p:nvPr/>
        </p:nvSpPr>
        <p:spPr>
          <a:xfrm>
            <a:off x="3411389" y="6357442"/>
            <a:ext cx="3152029" cy="423133"/>
          </a:xfrm>
          <a:prstGeom prst="rect">
            <a:avLst/>
          </a:prstGeom>
        </p:spPr>
        <p:txBody>
          <a:bodyPr lIns="0" tIns="0" rIns="0" bIns="0" rtlCol="0" anchor="t">
            <a:spAutoFit/>
          </a:bodyPr>
          <a:lstStyle/>
          <a:p>
            <a:pPr marL="0" lvl="0" indent="0" algn="l">
              <a:lnSpc>
                <a:spcPts val="3456"/>
              </a:lnSpc>
              <a:spcBef>
                <a:spcPct val="0"/>
              </a:spcBef>
            </a:pPr>
            <a:r>
              <a:rPr lang="en-US" sz="2468" b="1">
                <a:solidFill>
                  <a:srgbClr val="FFFFFF"/>
                </a:solidFill>
                <a:latin typeface="Open Sauce Bold"/>
                <a:ea typeface="Open Sauce Bold"/>
                <a:cs typeface="Open Sauce Bold"/>
                <a:sym typeface="Open Sauce Bold"/>
              </a:rPr>
              <a:t>Tujuan 2</a:t>
            </a:r>
          </a:p>
        </p:txBody>
      </p:sp>
      <p:sp>
        <p:nvSpPr>
          <p:cNvPr id="22" name="TextBox 22"/>
          <p:cNvSpPr txBox="1"/>
          <p:nvPr/>
        </p:nvSpPr>
        <p:spPr>
          <a:xfrm>
            <a:off x="12289529" y="6276545"/>
            <a:ext cx="3152029" cy="423133"/>
          </a:xfrm>
          <a:prstGeom prst="rect">
            <a:avLst/>
          </a:prstGeom>
        </p:spPr>
        <p:txBody>
          <a:bodyPr lIns="0" tIns="0" rIns="0" bIns="0" rtlCol="0" anchor="t">
            <a:spAutoFit/>
          </a:bodyPr>
          <a:lstStyle/>
          <a:p>
            <a:pPr marL="0" lvl="0" indent="0" algn="l">
              <a:lnSpc>
                <a:spcPts val="3456"/>
              </a:lnSpc>
              <a:spcBef>
                <a:spcPct val="0"/>
              </a:spcBef>
            </a:pPr>
            <a:r>
              <a:rPr lang="en-US" sz="2468" b="1">
                <a:solidFill>
                  <a:srgbClr val="FFFFFF"/>
                </a:solidFill>
                <a:latin typeface="Open Sauce Bold"/>
                <a:ea typeface="Open Sauce Bold"/>
                <a:cs typeface="Open Sauce Bold"/>
                <a:sym typeface="Open Sauce Bold"/>
              </a:rPr>
              <a:t>Tujuan 3</a:t>
            </a:r>
          </a:p>
        </p:txBody>
      </p:sp>
      <p:sp>
        <p:nvSpPr>
          <p:cNvPr id="23" name="TextBox 23"/>
          <p:cNvSpPr txBox="1"/>
          <p:nvPr/>
        </p:nvSpPr>
        <p:spPr>
          <a:xfrm>
            <a:off x="12289529" y="3231029"/>
            <a:ext cx="4969771" cy="2463567"/>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24" name="TextBox 24"/>
          <p:cNvSpPr txBox="1"/>
          <p:nvPr/>
        </p:nvSpPr>
        <p:spPr>
          <a:xfrm>
            <a:off x="3547378" y="6875209"/>
            <a:ext cx="4969771" cy="2463567"/>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25" name="TextBox 25"/>
          <p:cNvSpPr txBox="1"/>
          <p:nvPr/>
        </p:nvSpPr>
        <p:spPr>
          <a:xfrm>
            <a:off x="12289529" y="6794313"/>
            <a:ext cx="4969771" cy="2463567"/>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Freeform 2"/>
          <p:cNvSpPr/>
          <p:nvPr/>
        </p:nvSpPr>
        <p:spPr>
          <a:xfrm>
            <a:off x="1028700" y="3448791"/>
            <a:ext cx="243681" cy="243681"/>
          </a:xfrm>
          <a:custGeom>
            <a:avLst/>
            <a:gdLst/>
            <a:ahLst/>
            <a:cxnLst/>
            <a:rect l="l" t="t" r="r" b="b"/>
            <a:pathLst>
              <a:path w="243681" h="243681">
                <a:moveTo>
                  <a:pt x="0" y="0"/>
                </a:moveTo>
                <a:lnTo>
                  <a:pt x="243681" y="0"/>
                </a:lnTo>
                <a:lnTo>
                  <a:pt x="243681" y="243681"/>
                </a:lnTo>
                <a:lnTo>
                  <a:pt x="0" y="243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7653087"/>
            <a:ext cx="1544385" cy="154438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2961099" y="-5975616"/>
            <a:ext cx="3086100" cy="10287000"/>
            <a:chOff x="0" y="0"/>
            <a:chExt cx="812800" cy="2709333"/>
          </a:xfrm>
        </p:grpSpPr>
        <p:sp>
          <p:nvSpPr>
            <p:cNvPr id="7" name="Freeform 7"/>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8" name="TextBox 8"/>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a:off x="1415066" y="8029928"/>
            <a:ext cx="790703" cy="790703"/>
          </a:xfrm>
          <a:custGeom>
            <a:avLst/>
            <a:gdLst/>
            <a:ahLst/>
            <a:cxnLst/>
            <a:rect l="l" t="t" r="r" b="b"/>
            <a:pathLst>
              <a:path w="790703" h="790703">
                <a:moveTo>
                  <a:pt x="0" y="0"/>
                </a:moveTo>
                <a:lnTo>
                  <a:pt x="790703" y="0"/>
                </a:lnTo>
                <a:lnTo>
                  <a:pt x="790703" y="790703"/>
                </a:lnTo>
                <a:lnTo>
                  <a:pt x="0" y="7907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7782950" y="7069353"/>
            <a:ext cx="3008405" cy="960574"/>
          </a:xfrm>
          <a:custGeom>
            <a:avLst/>
            <a:gdLst/>
            <a:ahLst/>
            <a:cxnLst/>
            <a:rect l="l" t="t" r="r" b="b"/>
            <a:pathLst>
              <a:path w="3008405" h="960574">
                <a:moveTo>
                  <a:pt x="0" y="0"/>
                </a:moveTo>
                <a:lnTo>
                  <a:pt x="3008405" y="0"/>
                </a:lnTo>
                <a:lnTo>
                  <a:pt x="3008405" y="960575"/>
                </a:lnTo>
                <a:lnTo>
                  <a:pt x="0" y="9605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5400000">
            <a:off x="15759078" y="727221"/>
            <a:ext cx="3791214" cy="1895607"/>
          </a:xfrm>
          <a:custGeom>
            <a:avLst/>
            <a:gdLst/>
            <a:ahLst/>
            <a:cxnLst/>
            <a:rect l="l" t="t" r="r" b="b"/>
            <a:pathLst>
              <a:path w="3791214" h="1895607">
                <a:moveTo>
                  <a:pt x="0" y="0"/>
                </a:moveTo>
                <a:lnTo>
                  <a:pt x="3791214" y="0"/>
                </a:lnTo>
                <a:lnTo>
                  <a:pt x="3791214" y="1895607"/>
                </a:lnTo>
                <a:lnTo>
                  <a:pt x="0" y="18956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1028700" y="1028700"/>
            <a:ext cx="2655387" cy="847857"/>
          </a:xfrm>
          <a:custGeom>
            <a:avLst/>
            <a:gdLst/>
            <a:ahLst/>
            <a:cxnLst/>
            <a:rect l="l" t="t" r="r" b="b"/>
            <a:pathLst>
              <a:path w="2655387" h="847857">
                <a:moveTo>
                  <a:pt x="0" y="0"/>
                </a:moveTo>
                <a:lnTo>
                  <a:pt x="2655387" y="0"/>
                </a:lnTo>
                <a:lnTo>
                  <a:pt x="2655387" y="847857"/>
                </a:lnTo>
                <a:lnTo>
                  <a:pt x="0" y="8478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4194546" y="-604772"/>
            <a:ext cx="2201418" cy="4114800"/>
          </a:xfrm>
          <a:custGeom>
            <a:avLst/>
            <a:gdLst/>
            <a:ahLst/>
            <a:cxnLst/>
            <a:rect l="l" t="t" r="r" b="b"/>
            <a:pathLst>
              <a:path w="2201418" h="4114800">
                <a:moveTo>
                  <a:pt x="0" y="0"/>
                </a:moveTo>
                <a:lnTo>
                  <a:pt x="2201418" y="0"/>
                </a:lnTo>
                <a:lnTo>
                  <a:pt x="220141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a:off x="2573085" y="3441647"/>
            <a:ext cx="4414913" cy="4414913"/>
          </a:xfrm>
          <a:custGeom>
            <a:avLst/>
            <a:gdLst/>
            <a:ahLst/>
            <a:cxnLst/>
            <a:rect l="l" t="t" r="r" b="b"/>
            <a:pathLst>
              <a:path w="4414913" h="4414913">
                <a:moveTo>
                  <a:pt x="0" y="0"/>
                </a:moveTo>
                <a:lnTo>
                  <a:pt x="4414913" y="0"/>
                </a:lnTo>
                <a:lnTo>
                  <a:pt x="4414913" y="4414914"/>
                </a:lnTo>
                <a:lnTo>
                  <a:pt x="0" y="4414914"/>
                </a:lnTo>
                <a:lnTo>
                  <a:pt x="0" y="0"/>
                </a:lnTo>
                <a:close/>
              </a:path>
            </a:pathLst>
          </a:custGeom>
          <a:blipFill>
            <a:blip r:embed="rId12"/>
            <a:stretch>
              <a:fillRect/>
            </a:stretch>
          </a:blipFill>
        </p:spPr>
      </p:sp>
      <p:sp>
        <p:nvSpPr>
          <p:cNvPr id="15" name="Freeform 15"/>
          <p:cNvSpPr/>
          <p:nvPr/>
        </p:nvSpPr>
        <p:spPr>
          <a:xfrm>
            <a:off x="12085671" y="794905"/>
            <a:ext cx="3515234" cy="4114800"/>
          </a:xfrm>
          <a:custGeom>
            <a:avLst/>
            <a:gdLst/>
            <a:ahLst/>
            <a:cxnLst/>
            <a:rect l="l" t="t" r="r" b="b"/>
            <a:pathLst>
              <a:path w="3515234" h="4114800">
                <a:moveTo>
                  <a:pt x="0" y="0"/>
                </a:moveTo>
                <a:lnTo>
                  <a:pt x="3515234" y="0"/>
                </a:lnTo>
                <a:lnTo>
                  <a:pt x="3515234"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6" name="TextBox 16"/>
          <p:cNvSpPr txBox="1"/>
          <p:nvPr/>
        </p:nvSpPr>
        <p:spPr>
          <a:xfrm>
            <a:off x="7782950" y="4664542"/>
            <a:ext cx="9191812" cy="2092950"/>
          </a:xfrm>
          <a:prstGeom prst="rect">
            <a:avLst/>
          </a:prstGeom>
        </p:spPr>
        <p:txBody>
          <a:bodyPr lIns="0" tIns="0" rIns="0" bIns="0" rtlCol="0" anchor="t">
            <a:spAutoFit/>
          </a:bodyPr>
          <a:lstStyle/>
          <a:p>
            <a:pPr algn="l">
              <a:lnSpc>
                <a:spcPts val="8153"/>
              </a:lnSpc>
            </a:pPr>
            <a:r>
              <a:rPr lang="en-US" sz="7839" b="1" spc="-258">
                <a:solidFill>
                  <a:srgbClr val="FFFFFF"/>
                </a:solidFill>
                <a:latin typeface="Open Sauce Bold"/>
                <a:ea typeface="Open Sauce Bold"/>
                <a:cs typeface="Open Sauce Bold"/>
                <a:sym typeface="Open Sauce Bold"/>
              </a:rPr>
              <a:t>BAB II</a:t>
            </a:r>
          </a:p>
          <a:p>
            <a:pPr algn="l">
              <a:lnSpc>
                <a:spcPts val="8153"/>
              </a:lnSpc>
            </a:pPr>
            <a:r>
              <a:rPr lang="en-US" sz="7839" b="1" spc="-258">
                <a:solidFill>
                  <a:srgbClr val="FFFFFF"/>
                </a:solidFill>
                <a:latin typeface="Open Sauce Bold"/>
                <a:ea typeface="Open Sauce Bold"/>
                <a:cs typeface="Open Sauce Bold"/>
                <a:sym typeface="Open Sauce Bold"/>
              </a:rPr>
              <a:t>KAJIAN PUSTAKA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grpSp>
        <p:nvGrpSpPr>
          <p:cNvPr id="2" name="Group 2"/>
          <p:cNvGrpSpPr/>
          <p:nvPr/>
        </p:nvGrpSpPr>
        <p:grpSpPr>
          <a:xfrm>
            <a:off x="9731597" y="2719101"/>
            <a:ext cx="7545079" cy="791801"/>
            <a:chOff x="0" y="0"/>
            <a:chExt cx="1987181" cy="208540"/>
          </a:xfrm>
        </p:grpSpPr>
        <p:sp>
          <p:nvSpPr>
            <p:cNvPr id="3" name="Freeform 3"/>
            <p:cNvSpPr/>
            <p:nvPr/>
          </p:nvSpPr>
          <p:spPr>
            <a:xfrm>
              <a:off x="0" y="0"/>
              <a:ext cx="1987181" cy="208540"/>
            </a:xfrm>
            <a:custGeom>
              <a:avLst/>
              <a:gdLst/>
              <a:ahLst/>
              <a:cxnLst/>
              <a:rect l="l" t="t" r="r" b="b"/>
              <a:pathLst>
                <a:path w="1987181" h="208540">
                  <a:moveTo>
                    <a:pt x="102609" y="0"/>
                  </a:moveTo>
                  <a:lnTo>
                    <a:pt x="1884572" y="0"/>
                  </a:lnTo>
                  <a:cubicBezTo>
                    <a:pt x="1941242" y="0"/>
                    <a:pt x="1987181" y="45940"/>
                    <a:pt x="1987181" y="102609"/>
                  </a:cubicBezTo>
                  <a:lnTo>
                    <a:pt x="1987181" y="105931"/>
                  </a:lnTo>
                  <a:cubicBezTo>
                    <a:pt x="1987181" y="162601"/>
                    <a:pt x="1941242" y="208540"/>
                    <a:pt x="1884572" y="208540"/>
                  </a:cubicBezTo>
                  <a:lnTo>
                    <a:pt x="102609" y="208540"/>
                  </a:lnTo>
                  <a:cubicBezTo>
                    <a:pt x="45940" y="208540"/>
                    <a:pt x="0" y="162601"/>
                    <a:pt x="0" y="105931"/>
                  </a:cubicBezTo>
                  <a:lnTo>
                    <a:pt x="0" y="102609"/>
                  </a:lnTo>
                  <a:cubicBezTo>
                    <a:pt x="0" y="45940"/>
                    <a:pt x="45940" y="0"/>
                    <a:pt x="102609" y="0"/>
                  </a:cubicBezTo>
                  <a:close/>
                </a:path>
              </a:pathLst>
            </a:custGeom>
            <a:solidFill>
              <a:srgbClr val="03045A"/>
            </a:solidFill>
          </p:spPr>
        </p:sp>
        <p:sp>
          <p:nvSpPr>
            <p:cNvPr id="4" name="TextBox 4"/>
            <p:cNvSpPr txBox="1"/>
            <p:nvPr/>
          </p:nvSpPr>
          <p:spPr>
            <a:xfrm>
              <a:off x="0" y="-47625"/>
              <a:ext cx="1987181" cy="256165"/>
            </a:xfrm>
            <a:prstGeom prst="rect">
              <a:avLst/>
            </a:prstGeom>
          </p:spPr>
          <p:txBody>
            <a:bodyPr lIns="50800" tIns="50800" rIns="50800" bIns="50800" rtlCol="0" anchor="ctr"/>
            <a:lstStyle/>
            <a:p>
              <a:pPr algn="ctr">
                <a:lnSpc>
                  <a:spcPts val="3500"/>
                </a:lnSpc>
              </a:pPr>
              <a:endParaRPr/>
            </a:p>
          </p:txBody>
        </p:sp>
      </p:grpSp>
      <p:grpSp>
        <p:nvGrpSpPr>
          <p:cNvPr id="5" name="Group 5"/>
          <p:cNvGrpSpPr/>
          <p:nvPr/>
        </p:nvGrpSpPr>
        <p:grpSpPr>
          <a:xfrm>
            <a:off x="9649803" y="5976156"/>
            <a:ext cx="7545079" cy="953662"/>
            <a:chOff x="0" y="0"/>
            <a:chExt cx="1987181" cy="251170"/>
          </a:xfrm>
        </p:grpSpPr>
        <p:sp>
          <p:nvSpPr>
            <p:cNvPr id="6" name="Freeform 6"/>
            <p:cNvSpPr/>
            <p:nvPr/>
          </p:nvSpPr>
          <p:spPr>
            <a:xfrm>
              <a:off x="0" y="0"/>
              <a:ext cx="1987181" cy="251170"/>
            </a:xfrm>
            <a:custGeom>
              <a:avLst/>
              <a:gdLst/>
              <a:ahLst/>
              <a:cxnLst/>
              <a:rect l="l" t="t" r="r" b="b"/>
              <a:pathLst>
                <a:path w="1987181" h="251170">
                  <a:moveTo>
                    <a:pt x="102609" y="0"/>
                  </a:moveTo>
                  <a:lnTo>
                    <a:pt x="1884572" y="0"/>
                  </a:lnTo>
                  <a:cubicBezTo>
                    <a:pt x="1941242" y="0"/>
                    <a:pt x="1987181" y="45940"/>
                    <a:pt x="1987181" y="102609"/>
                  </a:cubicBezTo>
                  <a:lnTo>
                    <a:pt x="1987181" y="148561"/>
                  </a:lnTo>
                  <a:cubicBezTo>
                    <a:pt x="1987181" y="205231"/>
                    <a:pt x="1941242" y="251170"/>
                    <a:pt x="1884572" y="251170"/>
                  </a:cubicBezTo>
                  <a:lnTo>
                    <a:pt x="102609" y="251170"/>
                  </a:lnTo>
                  <a:cubicBezTo>
                    <a:pt x="45940" y="251170"/>
                    <a:pt x="0" y="205231"/>
                    <a:pt x="0" y="148561"/>
                  </a:cubicBezTo>
                  <a:lnTo>
                    <a:pt x="0" y="102609"/>
                  </a:lnTo>
                  <a:cubicBezTo>
                    <a:pt x="0" y="45940"/>
                    <a:pt x="45940" y="0"/>
                    <a:pt x="102609" y="0"/>
                  </a:cubicBezTo>
                  <a:close/>
                </a:path>
              </a:pathLst>
            </a:custGeom>
            <a:solidFill>
              <a:srgbClr val="03045A"/>
            </a:solidFill>
          </p:spPr>
        </p:sp>
        <p:sp>
          <p:nvSpPr>
            <p:cNvPr id="7" name="TextBox 7"/>
            <p:cNvSpPr txBox="1"/>
            <p:nvPr/>
          </p:nvSpPr>
          <p:spPr>
            <a:xfrm>
              <a:off x="0" y="-47625"/>
              <a:ext cx="1987181" cy="298795"/>
            </a:xfrm>
            <a:prstGeom prst="rect">
              <a:avLst/>
            </a:prstGeom>
          </p:spPr>
          <p:txBody>
            <a:bodyPr lIns="50800" tIns="50800" rIns="50800" bIns="50800" rtlCol="0" anchor="ctr"/>
            <a:lstStyle/>
            <a:p>
              <a:pPr algn="ctr">
                <a:lnSpc>
                  <a:spcPts val="3500"/>
                </a:lnSpc>
              </a:pPr>
              <a:endParaRPr/>
            </a:p>
          </p:txBody>
        </p:sp>
      </p:grpSp>
      <p:grpSp>
        <p:nvGrpSpPr>
          <p:cNvPr id="8" name="Group 8"/>
          <p:cNvGrpSpPr/>
          <p:nvPr/>
        </p:nvGrpSpPr>
        <p:grpSpPr>
          <a:xfrm>
            <a:off x="4894370" y="2719101"/>
            <a:ext cx="4048339" cy="953662"/>
            <a:chOff x="0" y="0"/>
            <a:chExt cx="1066229" cy="251170"/>
          </a:xfrm>
        </p:grpSpPr>
        <p:sp>
          <p:nvSpPr>
            <p:cNvPr id="9" name="Freeform 9"/>
            <p:cNvSpPr/>
            <p:nvPr/>
          </p:nvSpPr>
          <p:spPr>
            <a:xfrm>
              <a:off x="0" y="0"/>
              <a:ext cx="1066229" cy="251170"/>
            </a:xfrm>
            <a:custGeom>
              <a:avLst/>
              <a:gdLst/>
              <a:ahLst/>
              <a:cxnLst/>
              <a:rect l="l" t="t" r="r" b="b"/>
              <a:pathLst>
                <a:path w="1066229" h="251170">
                  <a:moveTo>
                    <a:pt x="125585" y="0"/>
                  </a:moveTo>
                  <a:lnTo>
                    <a:pt x="940644" y="0"/>
                  </a:lnTo>
                  <a:cubicBezTo>
                    <a:pt x="973951" y="0"/>
                    <a:pt x="1005894" y="13231"/>
                    <a:pt x="1029446" y="36783"/>
                  </a:cubicBezTo>
                  <a:cubicBezTo>
                    <a:pt x="1052998" y="60335"/>
                    <a:pt x="1066229" y="92278"/>
                    <a:pt x="1066229" y="125585"/>
                  </a:cubicBezTo>
                  <a:lnTo>
                    <a:pt x="1066229" y="125585"/>
                  </a:lnTo>
                  <a:cubicBezTo>
                    <a:pt x="1066229" y="194944"/>
                    <a:pt x="1010003" y="251170"/>
                    <a:pt x="940644" y="251170"/>
                  </a:cubicBezTo>
                  <a:lnTo>
                    <a:pt x="125585" y="251170"/>
                  </a:lnTo>
                  <a:cubicBezTo>
                    <a:pt x="56226" y="251170"/>
                    <a:pt x="0" y="194944"/>
                    <a:pt x="0" y="125585"/>
                  </a:cubicBezTo>
                  <a:lnTo>
                    <a:pt x="0" y="125585"/>
                  </a:lnTo>
                  <a:cubicBezTo>
                    <a:pt x="0" y="56226"/>
                    <a:pt x="56226" y="0"/>
                    <a:pt x="125585" y="0"/>
                  </a:cubicBezTo>
                  <a:close/>
                </a:path>
              </a:pathLst>
            </a:custGeom>
            <a:solidFill>
              <a:srgbClr val="03045A"/>
            </a:solidFill>
          </p:spPr>
        </p:sp>
        <p:sp>
          <p:nvSpPr>
            <p:cNvPr id="10" name="TextBox 10"/>
            <p:cNvSpPr txBox="1"/>
            <p:nvPr/>
          </p:nvSpPr>
          <p:spPr>
            <a:xfrm>
              <a:off x="0" y="-47625"/>
              <a:ext cx="1066229" cy="298795"/>
            </a:xfrm>
            <a:prstGeom prst="rect">
              <a:avLst/>
            </a:prstGeom>
          </p:spPr>
          <p:txBody>
            <a:bodyPr lIns="50800" tIns="50800" rIns="50800" bIns="50800" rtlCol="0" anchor="ctr"/>
            <a:lstStyle/>
            <a:p>
              <a:pPr algn="ctr">
                <a:lnSpc>
                  <a:spcPts val="3500"/>
                </a:lnSpc>
              </a:pPr>
              <a:endParaRPr/>
            </a:p>
          </p:txBody>
        </p:sp>
      </p:grpSp>
      <p:grpSp>
        <p:nvGrpSpPr>
          <p:cNvPr id="11" name="Group 11"/>
          <p:cNvGrpSpPr/>
          <p:nvPr/>
        </p:nvGrpSpPr>
        <p:grpSpPr>
          <a:xfrm>
            <a:off x="552462" y="2719101"/>
            <a:ext cx="4048339" cy="953662"/>
            <a:chOff x="0" y="0"/>
            <a:chExt cx="1066229" cy="251170"/>
          </a:xfrm>
        </p:grpSpPr>
        <p:sp>
          <p:nvSpPr>
            <p:cNvPr id="12" name="Freeform 12"/>
            <p:cNvSpPr/>
            <p:nvPr/>
          </p:nvSpPr>
          <p:spPr>
            <a:xfrm>
              <a:off x="0" y="0"/>
              <a:ext cx="1066229" cy="251170"/>
            </a:xfrm>
            <a:custGeom>
              <a:avLst/>
              <a:gdLst/>
              <a:ahLst/>
              <a:cxnLst/>
              <a:rect l="l" t="t" r="r" b="b"/>
              <a:pathLst>
                <a:path w="1066229" h="251170">
                  <a:moveTo>
                    <a:pt x="125585" y="0"/>
                  </a:moveTo>
                  <a:lnTo>
                    <a:pt x="940644" y="0"/>
                  </a:lnTo>
                  <a:cubicBezTo>
                    <a:pt x="973951" y="0"/>
                    <a:pt x="1005894" y="13231"/>
                    <a:pt x="1029446" y="36783"/>
                  </a:cubicBezTo>
                  <a:cubicBezTo>
                    <a:pt x="1052998" y="60335"/>
                    <a:pt x="1066229" y="92278"/>
                    <a:pt x="1066229" y="125585"/>
                  </a:cubicBezTo>
                  <a:lnTo>
                    <a:pt x="1066229" y="125585"/>
                  </a:lnTo>
                  <a:cubicBezTo>
                    <a:pt x="1066229" y="194944"/>
                    <a:pt x="1010003" y="251170"/>
                    <a:pt x="940644" y="251170"/>
                  </a:cubicBezTo>
                  <a:lnTo>
                    <a:pt x="125585" y="251170"/>
                  </a:lnTo>
                  <a:cubicBezTo>
                    <a:pt x="56226" y="251170"/>
                    <a:pt x="0" y="194944"/>
                    <a:pt x="0" y="125585"/>
                  </a:cubicBezTo>
                  <a:lnTo>
                    <a:pt x="0" y="125585"/>
                  </a:lnTo>
                  <a:cubicBezTo>
                    <a:pt x="0" y="56226"/>
                    <a:pt x="56226" y="0"/>
                    <a:pt x="125585" y="0"/>
                  </a:cubicBezTo>
                  <a:close/>
                </a:path>
              </a:pathLst>
            </a:custGeom>
            <a:solidFill>
              <a:srgbClr val="03045A"/>
            </a:solidFill>
          </p:spPr>
        </p:sp>
        <p:sp>
          <p:nvSpPr>
            <p:cNvPr id="13" name="TextBox 13"/>
            <p:cNvSpPr txBox="1"/>
            <p:nvPr/>
          </p:nvSpPr>
          <p:spPr>
            <a:xfrm>
              <a:off x="0" y="-47625"/>
              <a:ext cx="1066229" cy="298795"/>
            </a:xfrm>
            <a:prstGeom prst="rect">
              <a:avLst/>
            </a:prstGeom>
          </p:spPr>
          <p:txBody>
            <a:bodyPr lIns="50800" tIns="50800" rIns="50800" bIns="50800" rtlCol="0" anchor="ctr"/>
            <a:lstStyle/>
            <a:p>
              <a:pPr algn="ctr">
                <a:lnSpc>
                  <a:spcPts val="3500"/>
                </a:lnSpc>
              </a:pPr>
              <a:endParaRPr/>
            </a:p>
          </p:txBody>
        </p:sp>
      </p:grpSp>
      <p:sp>
        <p:nvSpPr>
          <p:cNvPr id="14" name="Freeform 14"/>
          <p:cNvSpPr/>
          <p:nvPr/>
        </p:nvSpPr>
        <p:spPr>
          <a:xfrm>
            <a:off x="15519668" y="600075"/>
            <a:ext cx="2768332" cy="883920"/>
          </a:xfrm>
          <a:custGeom>
            <a:avLst/>
            <a:gdLst/>
            <a:ahLst/>
            <a:cxnLst/>
            <a:rect l="l" t="t" r="r" b="b"/>
            <a:pathLst>
              <a:path w="2768332" h="883920">
                <a:moveTo>
                  <a:pt x="0" y="0"/>
                </a:moveTo>
                <a:lnTo>
                  <a:pt x="2768332" y="0"/>
                </a:lnTo>
                <a:lnTo>
                  <a:pt x="2768332" y="883920"/>
                </a:lnTo>
                <a:lnTo>
                  <a:pt x="0" y="883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2236794" y="8755113"/>
            <a:ext cx="4867569" cy="2433784"/>
          </a:xfrm>
          <a:custGeom>
            <a:avLst/>
            <a:gdLst/>
            <a:ahLst/>
            <a:cxnLst/>
            <a:rect l="l" t="t" r="r" b="b"/>
            <a:pathLst>
              <a:path w="4867569" h="2433784">
                <a:moveTo>
                  <a:pt x="0" y="0"/>
                </a:moveTo>
                <a:lnTo>
                  <a:pt x="4867569" y="0"/>
                </a:lnTo>
                <a:lnTo>
                  <a:pt x="4867569" y="2433785"/>
                </a:lnTo>
                <a:lnTo>
                  <a:pt x="0" y="2433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6126917" y="9258300"/>
            <a:ext cx="4867569" cy="2433784"/>
          </a:xfrm>
          <a:custGeom>
            <a:avLst/>
            <a:gdLst/>
            <a:ahLst/>
            <a:cxnLst/>
            <a:rect l="l" t="t" r="r" b="b"/>
            <a:pathLst>
              <a:path w="4867569" h="2433784">
                <a:moveTo>
                  <a:pt x="0" y="0"/>
                </a:moveTo>
                <a:lnTo>
                  <a:pt x="4867569" y="0"/>
                </a:lnTo>
                <a:lnTo>
                  <a:pt x="4867569" y="2433784"/>
                </a:lnTo>
                <a:lnTo>
                  <a:pt x="0" y="2433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920504" y="453373"/>
            <a:ext cx="1656127" cy="1656127"/>
          </a:xfrm>
          <a:custGeom>
            <a:avLst/>
            <a:gdLst/>
            <a:ahLst/>
            <a:cxnLst/>
            <a:rect l="l" t="t" r="r" b="b"/>
            <a:pathLst>
              <a:path w="1656127" h="1656127">
                <a:moveTo>
                  <a:pt x="0" y="0"/>
                </a:moveTo>
                <a:lnTo>
                  <a:pt x="1656127" y="0"/>
                </a:lnTo>
                <a:lnTo>
                  <a:pt x="1656127" y="1656128"/>
                </a:lnTo>
                <a:lnTo>
                  <a:pt x="0" y="1656128"/>
                </a:lnTo>
                <a:lnTo>
                  <a:pt x="0" y="0"/>
                </a:lnTo>
                <a:close/>
              </a:path>
            </a:pathLst>
          </a:custGeom>
          <a:blipFill>
            <a:blip r:embed="rId6"/>
            <a:stretch>
              <a:fillRect/>
            </a:stretch>
          </a:blipFill>
        </p:spPr>
      </p:sp>
      <p:sp>
        <p:nvSpPr>
          <p:cNvPr id="18" name="Freeform 18"/>
          <p:cNvSpPr/>
          <p:nvPr/>
        </p:nvSpPr>
        <p:spPr>
          <a:xfrm>
            <a:off x="2630775" y="6785465"/>
            <a:ext cx="4306579" cy="3386047"/>
          </a:xfrm>
          <a:custGeom>
            <a:avLst/>
            <a:gdLst/>
            <a:ahLst/>
            <a:cxnLst/>
            <a:rect l="l" t="t" r="r" b="b"/>
            <a:pathLst>
              <a:path w="4306579" h="3386047">
                <a:moveTo>
                  <a:pt x="0" y="0"/>
                </a:moveTo>
                <a:lnTo>
                  <a:pt x="4306579" y="0"/>
                </a:lnTo>
                <a:lnTo>
                  <a:pt x="4306579" y="3386048"/>
                </a:lnTo>
                <a:lnTo>
                  <a:pt x="0" y="3386048"/>
                </a:lnTo>
                <a:lnTo>
                  <a:pt x="0" y="0"/>
                </a:lnTo>
                <a:close/>
              </a:path>
            </a:pathLst>
          </a:custGeom>
          <a:blipFill>
            <a:blip r:embed="rId7"/>
            <a:stretch>
              <a:fillRect/>
            </a:stretch>
          </a:blipFill>
        </p:spPr>
      </p:sp>
      <p:sp>
        <p:nvSpPr>
          <p:cNvPr id="19" name="TextBox 19"/>
          <p:cNvSpPr txBox="1"/>
          <p:nvPr/>
        </p:nvSpPr>
        <p:spPr>
          <a:xfrm>
            <a:off x="5132264" y="1076325"/>
            <a:ext cx="8023472" cy="852707"/>
          </a:xfrm>
          <a:prstGeom prst="rect">
            <a:avLst/>
          </a:prstGeom>
        </p:spPr>
        <p:txBody>
          <a:bodyPr lIns="0" tIns="0" rIns="0" bIns="0" rtlCol="0" anchor="t">
            <a:spAutoFit/>
          </a:bodyPr>
          <a:lstStyle/>
          <a:p>
            <a:pPr marL="0" lvl="0" indent="0" algn="ctr">
              <a:lnSpc>
                <a:spcPts val="6695"/>
              </a:lnSpc>
              <a:spcBef>
                <a:spcPct val="0"/>
              </a:spcBef>
            </a:pPr>
            <a:r>
              <a:rPr lang="en-US" sz="5924" b="1" spc="-195">
                <a:solidFill>
                  <a:srgbClr val="FFFFFF"/>
                </a:solidFill>
                <a:latin typeface="Open Sauce Bold"/>
                <a:ea typeface="Open Sauce Bold"/>
                <a:cs typeface="Open Sauce Bold"/>
                <a:sym typeface="Open Sauce Bold"/>
              </a:rPr>
              <a:t>Landas</a:t>
            </a:r>
            <a:r>
              <a:rPr lang="en-US" sz="5924" b="1" u="none" strike="noStrike" spc="-195">
                <a:solidFill>
                  <a:srgbClr val="FFFFFF"/>
                </a:solidFill>
                <a:latin typeface="Open Sauce Bold"/>
                <a:ea typeface="Open Sauce Bold"/>
                <a:cs typeface="Open Sauce Bold"/>
                <a:sym typeface="Open Sauce Bold"/>
              </a:rPr>
              <a:t>an Teoritis</a:t>
            </a:r>
          </a:p>
        </p:txBody>
      </p:sp>
      <p:sp>
        <p:nvSpPr>
          <p:cNvPr id="20" name="TextBox 20"/>
          <p:cNvSpPr txBox="1"/>
          <p:nvPr/>
        </p:nvSpPr>
        <p:spPr>
          <a:xfrm>
            <a:off x="1498293" y="2961032"/>
            <a:ext cx="2156676" cy="423133"/>
          </a:xfrm>
          <a:prstGeom prst="rect">
            <a:avLst/>
          </a:prstGeom>
        </p:spPr>
        <p:txBody>
          <a:bodyPr lIns="0" tIns="0" rIns="0" bIns="0" rtlCol="0" anchor="t">
            <a:spAutoFit/>
          </a:bodyPr>
          <a:lstStyle/>
          <a:p>
            <a:pPr marL="0" lvl="0" indent="0" algn="ctr">
              <a:lnSpc>
                <a:spcPts val="3456"/>
              </a:lnSpc>
              <a:spcBef>
                <a:spcPct val="0"/>
              </a:spcBef>
            </a:pPr>
            <a:r>
              <a:rPr lang="en-US" sz="2468" b="1">
                <a:solidFill>
                  <a:srgbClr val="FFFFFF"/>
                </a:solidFill>
                <a:latin typeface="Open Sauce Bold"/>
                <a:ea typeface="Open Sauce Bold"/>
                <a:cs typeface="Open Sauce Bold"/>
                <a:sym typeface="Open Sauce Bold"/>
              </a:rPr>
              <a:t>Teoritis 1</a:t>
            </a:r>
          </a:p>
        </p:txBody>
      </p:sp>
      <p:sp>
        <p:nvSpPr>
          <p:cNvPr id="21" name="TextBox 21"/>
          <p:cNvSpPr txBox="1"/>
          <p:nvPr/>
        </p:nvSpPr>
        <p:spPr>
          <a:xfrm>
            <a:off x="5127089" y="2961032"/>
            <a:ext cx="3582901" cy="423133"/>
          </a:xfrm>
          <a:prstGeom prst="rect">
            <a:avLst/>
          </a:prstGeom>
        </p:spPr>
        <p:txBody>
          <a:bodyPr lIns="0" tIns="0" rIns="0" bIns="0" rtlCol="0" anchor="t">
            <a:spAutoFit/>
          </a:bodyPr>
          <a:lstStyle/>
          <a:p>
            <a:pPr marL="0" lvl="0" indent="0" algn="ctr">
              <a:lnSpc>
                <a:spcPts val="3456"/>
              </a:lnSpc>
              <a:spcBef>
                <a:spcPct val="0"/>
              </a:spcBef>
            </a:pPr>
            <a:r>
              <a:rPr lang="en-US" sz="2468" b="1">
                <a:solidFill>
                  <a:srgbClr val="FFFFFF"/>
                </a:solidFill>
                <a:latin typeface="Open Sauce Bold"/>
                <a:ea typeface="Open Sauce Bold"/>
                <a:cs typeface="Open Sauce Bold"/>
                <a:sym typeface="Open Sauce Bold"/>
              </a:rPr>
              <a:t>Teoritis 2</a:t>
            </a:r>
          </a:p>
        </p:txBody>
      </p:sp>
      <p:sp>
        <p:nvSpPr>
          <p:cNvPr id="22" name="TextBox 22"/>
          <p:cNvSpPr txBox="1"/>
          <p:nvPr/>
        </p:nvSpPr>
        <p:spPr>
          <a:xfrm>
            <a:off x="9681703" y="2871173"/>
            <a:ext cx="7644865" cy="405697"/>
          </a:xfrm>
          <a:prstGeom prst="rect">
            <a:avLst/>
          </a:prstGeom>
        </p:spPr>
        <p:txBody>
          <a:bodyPr lIns="0" tIns="0" rIns="0" bIns="0" rtlCol="0" anchor="t">
            <a:spAutoFit/>
          </a:bodyPr>
          <a:lstStyle/>
          <a:p>
            <a:pPr marL="0" lvl="0" indent="0" algn="ctr">
              <a:lnSpc>
                <a:spcPts val="3360"/>
              </a:lnSpc>
              <a:spcBef>
                <a:spcPct val="0"/>
              </a:spcBef>
            </a:pPr>
            <a:r>
              <a:rPr lang="en-US" sz="2400" b="1">
                <a:solidFill>
                  <a:srgbClr val="FFFFFF"/>
                </a:solidFill>
                <a:latin typeface="Open Sauce Bold"/>
                <a:ea typeface="Open Sauce Bold"/>
                <a:cs typeface="Open Sauce Bold"/>
                <a:sym typeface="Open Sauce Bold"/>
              </a:rPr>
              <a:t>Teoritis 3</a:t>
            </a:r>
          </a:p>
        </p:txBody>
      </p:sp>
      <p:sp>
        <p:nvSpPr>
          <p:cNvPr id="23" name="TextBox 23"/>
          <p:cNvSpPr txBox="1"/>
          <p:nvPr/>
        </p:nvSpPr>
        <p:spPr>
          <a:xfrm>
            <a:off x="10229368" y="6218087"/>
            <a:ext cx="6385949" cy="42234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FFFFFF"/>
                </a:solidFill>
                <a:latin typeface="Open Sauce Bold"/>
                <a:ea typeface="Open Sauce Bold"/>
                <a:cs typeface="Open Sauce Bold"/>
                <a:sym typeface="Open Sauce Bold"/>
              </a:rPr>
              <a:t>Teoritis 4</a:t>
            </a:r>
          </a:p>
        </p:txBody>
      </p:sp>
      <p:sp>
        <p:nvSpPr>
          <p:cNvPr id="24" name="TextBox 24"/>
          <p:cNvSpPr txBox="1"/>
          <p:nvPr/>
        </p:nvSpPr>
        <p:spPr>
          <a:xfrm>
            <a:off x="783199" y="3968166"/>
            <a:ext cx="3586864" cy="2348122"/>
          </a:xfrm>
          <a:prstGeom prst="rect">
            <a:avLst/>
          </a:prstGeom>
        </p:spPr>
        <p:txBody>
          <a:bodyPr lIns="0" tIns="0" rIns="0" bIns="0" rtlCol="0" anchor="t">
            <a:spAutoFit/>
          </a:bodyPr>
          <a:lstStyle/>
          <a:p>
            <a:pPr marL="0" lvl="0" indent="0" algn="just">
              <a:lnSpc>
                <a:spcPts val="2380"/>
              </a:lnSpc>
              <a:spcBef>
                <a:spcPct val="0"/>
              </a:spcBef>
            </a:pPr>
            <a:r>
              <a:rPr lang="en-US" sz="170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25" name="TextBox 25"/>
          <p:cNvSpPr txBox="1"/>
          <p:nvPr/>
        </p:nvSpPr>
        <p:spPr>
          <a:xfrm>
            <a:off x="9354528" y="7072098"/>
            <a:ext cx="8299216" cy="1406391"/>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26" name="TextBox 26"/>
          <p:cNvSpPr txBox="1"/>
          <p:nvPr/>
        </p:nvSpPr>
        <p:spPr>
          <a:xfrm>
            <a:off x="9272734" y="3512556"/>
            <a:ext cx="8462804" cy="211117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bookLorem Ipsum is simply dummy text of the printing and typesetting industry. Lorem Ipsum has been the industry's standard dummy </a:t>
            </a:r>
          </a:p>
        </p:txBody>
      </p:sp>
      <p:sp>
        <p:nvSpPr>
          <p:cNvPr id="27" name="TextBox 27"/>
          <p:cNvSpPr txBox="1"/>
          <p:nvPr/>
        </p:nvSpPr>
        <p:spPr>
          <a:xfrm>
            <a:off x="5123126" y="3968166"/>
            <a:ext cx="3586864" cy="2348122"/>
          </a:xfrm>
          <a:prstGeom prst="rect">
            <a:avLst/>
          </a:prstGeom>
        </p:spPr>
        <p:txBody>
          <a:bodyPr lIns="0" tIns="0" rIns="0" bIns="0" rtlCol="0" anchor="t">
            <a:spAutoFit/>
          </a:bodyPr>
          <a:lstStyle/>
          <a:p>
            <a:pPr marL="0" lvl="0" indent="0" algn="just">
              <a:lnSpc>
                <a:spcPts val="2380"/>
              </a:lnSpc>
              <a:spcBef>
                <a:spcPct val="0"/>
              </a:spcBef>
            </a:pPr>
            <a:r>
              <a:rPr lang="en-US" sz="1700">
                <a:solidFill>
                  <a:srgbClr val="FFFFFF"/>
                </a:solidFill>
                <a:latin typeface="Open Sauce"/>
                <a:ea typeface="Open Sauce"/>
                <a:cs typeface="Open Sauce"/>
                <a:sym typeface="Open Sauce"/>
              </a:rPr>
              <a:t>Lorem Ipsum is simply dummy text of the printing and typesetting industry. Lorem Ipsum has been the industry's standard dummy text ever since the 1500s, when an unknown printer took a galley of type and scrambled it to make a type specimen book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grpSp>
        <p:nvGrpSpPr>
          <p:cNvPr id="2" name="Group 2"/>
          <p:cNvGrpSpPr/>
          <p:nvPr/>
        </p:nvGrpSpPr>
        <p:grpSpPr>
          <a:xfrm>
            <a:off x="1742458" y="3703096"/>
            <a:ext cx="7215484" cy="1600986"/>
            <a:chOff x="0" y="0"/>
            <a:chExt cx="1900374" cy="421659"/>
          </a:xfrm>
        </p:grpSpPr>
        <p:sp>
          <p:nvSpPr>
            <p:cNvPr id="3" name="Freeform 3"/>
            <p:cNvSpPr/>
            <p:nvPr/>
          </p:nvSpPr>
          <p:spPr>
            <a:xfrm>
              <a:off x="0" y="0"/>
              <a:ext cx="1900375" cy="421659"/>
            </a:xfrm>
            <a:custGeom>
              <a:avLst/>
              <a:gdLst/>
              <a:ahLst/>
              <a:cxnLst/>
              <a:rect l="l" t="t" r="r" b="b"/>
              <a:pathLst>
                <a:path w="1900375" h="421659">
                  <a:moveTo>
                    <a:pt x="21459" y="0"/>
                  </a:moveTo>
                  <a:lnTo>
                    <a:pt x="1878915" y="0"/>
                  </a:lnTo>
                  <a:cubicBezTo>
                    <a:pt x="1890767" y="0"/>
                    <a:pt x="1900375" y="9608"/>
                    <a:pt x="1900375" y="21459"/>
                  </a:cubicBezTo>
                  <a:lnTo>
                    <a:pt x="1900375" y="400200"/>
                  </a:lnTo>
                  <a:cubicBezTo>
                    <a:pt x="1900375" y="405891"/>
                    <a:pt x="1898114" y="411349"/>
                    <a:pt x="1894089" y="415374"/>
                  </a:cubicBezTo>
                  <a:cubicBezTo>
                    <a:pt x="1890065" y="419398"/>
                    <a:pt x="1884607" y="421659"/>
                    <a:pt x="1878915" y="421659"/>
                  </a:cubicBezTo>
                  <a:lnTo>
                    <a:pt x="21459" y="421659"/>
                  </a:lnTo>
                  <a:cubicBezTo>
                    <a:pt x="15768" y="421659"/>
                    <a:pt x="10310" y="419398"/>
                    <a:pt x="6285" y="415374"/>
                  </a:cubicBezTo>
                  <a:cubicBezTo>
                    <a:pt x="2261" y="411349"/>
                    <a:pt x="0" y="405891"/>
                    <a:pt x="0" y="400200"/>
                  </a:cubicBezTo>
                  <a:lnTo>
                    <a:pt x="0" y="21459"/>
                  </a:lnTo>
                  <a:cubicBezTo>
                    <a:pt x="0" y="15768"/>
                    <a:pt x="2261" y="10310"/>
                    <a:pt x="6285" y="6285"/>
                  </a:cubicBezTo>
                  <a:cubicBezTo>
                    <a:pt x="10310" y="2261"/>
                    <a:pt x="15768" y="0"/>
                    <a:pt x="21459" y="0"/>
                  </a:cubicBezTo>
                  <a:close/>
                </a:path>
              </a:pathLst>
            </a:custGeom>
            <a:solidFill>
              <a:srgbClr val="FFFFFF"/>
            </a:solidFill>
          </p:spPr>
        </p:sp>
        <p:sp>
          <p:nvSpPr>
            <p:cNvPr id="4" name="TextBox 4"/>
            <p:cNvSpPr txBox="1"/>
            <p:nvPr/>
          </p:nvSpPr>
          <p:spPr>
            <a:xfrm>
              <a:off x="0" y="-47625"/>
              <a:ext cx="1900374" cy="469284"/>
            </a:xfrm>
            <a:prstGeom prst="rect">
              <a:avLst/>
            </a:prstGeom>
          </p:spPr>
          <p:txBody>
            <a:bodyPr lIns="50800" tIns="50800" rIns="50800" bIns="50800" rtlCol="0" anchor="ctr"/>
            <a:lstStyle/>
            <a:p>
              <a:pPr algn="ctr">
                <a:lnSpc>
                  <a:spcPts val="3500"/>
                </a:lnSpc>
              </a:pPr>
              <a:endParaRPr/>
            </a:p>
          </p:txBody>
        </p:sp>
      </p:grpSp>
      <p:grpSp>
        <p:nvGrpSpPr>
          <p:cNvPr id="5" name="Group 5"/>
          <p:cNvGrpSpPr/>
          <p:nvPr/>
        </p:nvGrpSpPr>
        <p:grpSpPr>
          <a:xfrm>
            <a:off x="1742458" y="5587525"/>
            <a:ext cx="7215484" cy="1600986"/>
            <a:chOff x="0" y="0"/>
            <a:chExt cx="1900374" cy="421659"/>
          </a:xfrm>
        </p:grpSpPr>
        <p:sp>
          <p:nvSpPr>
            <p:cNvPr id="6" name="Freeform 6"/>
            <p:cNvSpPr/>
            <p:nvPr/>
          </p:nvSpPr>
          <p:spPr>
            <a:xfrm>
              <a:off x="0" y="0"/>
              <a:ext cx="1900375" cy="421659"/>
            </a:xfrm>
            <a:custGeom>
              <a:avLst/>
              <a:gdLst/>
              <a:ahLst/>
              <a:cxnLst/>
              <a:rect l="l" t="t" r="r" b="b"/>
              <a:pathLst>
                <a:path w="1900375" h="421659">
                  <a:moveTo>
                    <a:pt x="21459" y="0"/>
                  </a:moveTo>
                  <a:lnTo>
                    <a:pt x="1878915" y="0"/>
                  </a:lnTo>
                  <a:cubicBezTo>
                    <a:pt x="1890767" y="0"/>
                    <a:pt x="1900375" y="9608"/>
                    <a:pt x="1900375" y="21459"/>
                  </a:cubicBezTo>
                  <a:lnTo>
                    <a:pt x="1900375" y="400200"/>
                  </a:lnTo>
                  <a:cubicBezTo>
                    <a:pt x="1900375" y="405891"/>
                    <a:pt x="1898114" y="411349"/>
                    <a:pt x="1894089" y="415374"/>
                  </a:cubicBezTo>
                  <a:cubicBezTo>
                    <a:pt x="1890065" y="419398"/>
                    <a:pt x="1884607" y="421659"/>
                    <a:pt x="1878915" y="421659"/>
                  </a:cubicBezTo>
                  <a:lnTo>
                    <a:pt x="21459" y="421659"/>
                  </a:lnTo>
                  <a:cubicBezTo>
                    <a:pt x="15768" y="421659"/>
                    <a:pt x="10310" y="419398"/>
                    <a:pt x="6285" y="415374"/>
                  </a:cubicBezTo>
                  <a:cubicBezTo>
                    <a:pt x="2261" y="411349"/>
                    <a:pt x="0" y="405891"/>
                    <a:pt x="0" y="400200"/>
                  </a:cubicBezTo>
                  <a:lnTo>
                    <a:pt x="0" y="21459"/>
                  </a:lnTo>
                  <a:cubicBezTo>
                    <a:pt x="0" y="15768"/>
                    <a:pt x="2261" y="10310"/>
                    <a:pt x="6285" y="6285"/>
                  </a:cubicBezTo>
                  <a:cubicBezTo>
                    <a:pt x="10310" y="2261"/>
                    <a:pt x="15768" y="0"/>
                    <a:pt x="21459" y="0"/>
                  </a:cubicBezTo>
                  <a:close/>
                </a:path>
              </a:pathLst>
            </a:custGeom>
            <a:solidFill>
              <a:srgbClr val="FFFFFF"/>
            </a:solidFill>
          </p:spPr>
        </p:sp>
        <p:sp>
          <p:nvSpPr>
            <p:cNvPr id="7" name="TextBox 7"/>
            <p:cNvSpPr txBox="1"/>
            <p:nvPr/>
          </p:nvSpPr>
          <p:spPr>
            <a:xfrm>
              <a:off x="0" y="-47625"/>
              <a:ext cx="1900374" cy="469284"/>
            </a:xfrm>
            <a:prstGeom prst="rect">
              <a:avLst/>
            </a:prstGeom>
          </p:spPr>
          <p:txBody>
            <a:bodyPr lIns="50800" tIns="50800" rIns="50800" bIns="50800" rtlCol="0" anchor="ctr"/>
            <a:lstStyle/>
            <a:p>
              <a:pPr algn="ctr">
                <a:lnSpc>
                  <a:spcPts val="3500"/>
                </a:lnSpc>
              </a:pPr>
              <a:endParaRPr/>
            </a:p>
          </p:txBody>
        </p:sp>
      </p:grpSp>
      <p:sp>
        <p:nvSpPr>
          <p:cNvPr id="8" name="Freeform 8"/>
          <p:cNvSpPr/>
          <p:nvPr/>
        </p:nvSpPr>
        <p:spPr>
          <a:xfrm>
            <a:off x="8613578" y="4159224"/>
            <a:ext cx="688729" cy="688729"/>
          </a:xfrm>
          <a:custGeom>
            <a:avLst/>
            <a:gdLst/>
            <a:ahLst/>
            <a:cxnLst/>
            <a:rect l="l" t="t" r="r" b="b"/>
            <a:pathLst>
              <a:path w="688729" h="688729">
                <a:moveTo>
                  <a:pt x="0" y="0"/>
                </a:moveTo>
                <a:lnTo>
                  <a:pt x="688728" y="0"/>
                </a:lnTo>
                <a:lnTo>
                  <a:pt x="688728"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8613578" y="6043654"/>
            <a:ext cx="688729" cy="688729"/>
          </a:xfrm>
          <a:custGeom>
            <a:avLst/>
            <a:gdLst/>
            <a:ahLst/>
            <a:cxnLst/>
            <a:rect l="l" t="t" r="r" b="b"/>
            <a:pathLst>
              <a:path w="688729" h="688729">
                <a:moveTo>
                  <a:pt x="0" y="0"/>
                </a:moveTo>
                <a:lnTo>
                  <a:pt x="688728" y="0"/>
                </a:lnTo>
                <a:lnTo>
                  <a:pt x="688728"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0015232" y="2113436"/>
            <a:ext cx="7273096" cy="1600986"/>
            <a:chOff x="0" y="0"/>
            <a:chExt cx="1915548" cy="421659"/>
          </a:xfrm>
        </p:grpSpPr>
        <p:sp>
          <p:nvSpPr>
            <p:cNvPr id="11" name="Freeform 11"/>
            <p:cNvSpPr/>
            <p:nvPr/>
          </p:nvSpPr>
          <p:spPr>
            <a:xfrm>
              <a:off x="0" y="0"/>
              <a:ext cx="1915548" cy="421659"/>
            </a:xfrm>
            <a:custGeom>
              <a:avLst/>
              <a:gdLst/>
              <a:ahLst/>
              <a:cxnLst/>
              <a:rect l="l" t="t" r="r" b="b"/>
              <a:pathLst>
                <a:path w="1915548" h="421659">
                  <a:moveTo>
                    <a:pt x="21289" y="0"/>
                  </a:moveTo>
                  <a:lnTo>
                    <a:pt x="1894259" y="0"/>
                  </a:lnTo>
                  <a:cubicBezTo>
                    <a:pt x="1906016" y="0"/>
                    <a:pt x="1915548" y="9532"/>
                    <a:pt x="1915548" y="21289"/>
                  </a:cubicBezTo>
                  <a:lnTo>
                    <a:pt x="1915548" y="400370"/>
                  </a:lnTo>
                  <a:cubicBezTo>
                    <a:pt x="1915548" y="412127"/>
                    <a:pt x="1906016" y="421659"/>
                    <a:pt x="1894259" y="421659"/>
                  </a:cubicBezTo>
                  <a:lnTo>
                    <a:pt x="21289" y="421659"/>
                  </a:lnTo>
                  <a:cubicBezTo>
                    <a:pt x="9532" y="421659"/>
                    <a:pt x="0" y="412127"/>
                    <a:pt x="0" y="400370"/>
                  </a:cubicBezTo>
                  <a:lnTo>
                    <a:pt x="0" y="21289"/>
                  </a:lnTo>
                  <a:cubicBezTo>
                    <a:pt x="0" y="9532"/>
                    <a:pt x="9532" y="0"/>
                    <a:pt x="21289" y="0"/>
                  </a:cubicBezTo>
                  <a:close/>
                </a:path>
              </a:pathLst>
            </a:custGeom>
            <a:solidFill>
              <a:srgbClr val="FFFFFF"/>
            </a:solidFill>
          </p:spPr>
        </p:sp>
        <p:sp>
          <p:nvSpPr>
            <p:cNvPr id="12" name="TextBox 12"/>
            <p:cNvSpPr txBox="1"/>
            <p:nvPr/>
          </p:nvSpPr>
          <p:spPr>
            <a:xfrm>
              <a:off x="0" y="-47625"/>
              <a:ext cx="1915548" cy="469284"/>
            </a:xfrm>
            <a:prstGeom prst="rect">
              <a:avLst/>
            </a:prstGeom>
          </p:spPr>
          <p:txBody>
            <a:bodyPr lIns="50800" tIns="50800" rIns="50800" bIns="50800" rtlCol="0" anchor="ctr"/>
            <a:lstStyle/>
            <a:p>
              <a:pPr algn="ctr">
                <a:lnSpc>
                  <a:spcPts val="3500"/>
                </a:lnSpc>
              </a:pPr>
              <a:endParaRPr/>
            </a:p>
          </p:txBody>
        </p:sp>
      </p:grpSp>
      <p:sp>
        <p:nvSpPr>
          <p:cNvPr id="13" name="Freeform 13"/>
          <p:cNvSpPr/>
          <p:nvPr/>
        </p:nvSpPr>
        <p:spPr>
          <a:xfrm>
            <a:off x="9749981" y="2538341"/>
            <a:ext cx="688729" cy="688729"/>
          </a:xfrm>
          <a:custGeom>
            <a:avLst/>
            <a:gdLst/>
            <a:ahLst/>
            <a:cxnLst/>
            <a:rect l="l" t="t" r="r" b="b"/>
            <a:pathLst>
              <a:path w="688729" h="688729">
                <a:moveTo>
                  <a:pt x="0" y="0"/>
                </a:moveTo>
                <a:lnTo>
                  <a:pt x="688729" y="0"/>
                </a:lnTo>
                <a:lnTo>
                  <a:pt x="688729"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0015232" y="3929847"/>
            <a:ext cx="7273096" cy="2248686"/>
            <a:chOff x="0" y="0"/>
            <a:chExt cx="1915548" cy="592246"/>
          </a:xfrm>
        </p:grpSpPr>
        <p:sp>
          <p:nvSpPr>
            <p:cNvPr id="15" name="Freeform 15"/>
            <p:cNvSpPr/>
            <p:nvPr/>
          </p:nvSpPr>
          <p:spPr>
            <a:xfrm>
              <a:off x="0" y="0"/>
              <a:ext cx="1915548" cy="592247"/>
            </a:xfrm>
            <a:custGeom>
              <a:avLst/>
              <a:gdLst/>
              <a:ahLst/>
              <a:cxnLst/>
              <a:rect l="l" t="t" r="r" b="b"/>
              <a:pathLst>
                <a:path w="1915548" h="592247">
                  <a:moveTo>
                    <a:pt x="21289" y="0"/>
                  </a:moveTo>
                  <a:lnTo>
                    <a:pt x="1894259" y="0"/>
                  </a:lnTo>
                  <a:cubicBezTo>
                    <a:pt x="1906016" y="0"/>
                    <a:pt x="1915548" y="9532"/>
                    <a:pt x="1915548" y="21289"/>
                  </a:cubicBezTo>
                  <a:lnTo>
                    <a:pt x="1915548" y="570957"/>
                  </a:lnTo>
                  <a:cubicBezTo>
                    <a:pt x="1915548" y="582715"/>
                    <a:pt x="1906016" y="592247"/>
                    <a:pt x="1894259" y="592247"/>
                  </a:cubicBezTo>
                  <a:lnTo>
                    <a:pt x="21289" y="592247"/>
                  </a:lnTo>
                  <a:cubicBezTo>
                    <a:pt x="9532" y="592247"/>
                    <a:pt x="0" y="582715"/>
                    <a:pt x="0" y="570957"/>
                  </a:cubicBezTo>
                  <a:lnTo>
                    <a:pt x="0" y="21289"/>
                  </a:lnTo>
                  <a:cubicBezTo>
                    <a:pt x="0" y="9532"/>
                    <a:pt x="9532" y="0"/>
                    <a:pt x="21289" y="0"/>
                  </a:cubicBezTo>
                  <a:close/>
                </a:path>
              </a:pathLst>
            </a:custGeom>
            <a:solidFill>
              <a:srgbClr val="FFFFFF"/>
            </a:solidFill>
          </p:spPr>
        </p:sp>
        <p:sp>
          <p:nvSpPr>
            <p:cNvPr id="16" name="TextBox 16"/>
            <p:cNvSpPr txBox="1"/>
            <p:nvPr/>
          </p:nvSpPr>
          <p:spPr>
            <a:xfrm>
              <a:off x="0" y="-47625"/>
              <a:ext cx="1915548" cy="639871"/>
            </a:xfrm>
            <a:prstGeom prst="rect">
              <a:avLst/>
            </a:prstGeom>
          </p:spPr>
          <p:txBody>
            <a:bodyPr lIns="50800" tIns="50800" rIns="50800" bIns="50800" rtlCol="0" anchor="ctr"/>
            <a:lstStyle/>
            <a:p>
              <a:pPr algn="ctr">
                <a:lnSpc>
                  <a:spcPts val="3500"/>
                </a:lnSpc>
              </a:pPr>
              <a:endParaRPr/>
            </a:p>
          </p:txBody>
        </p:sp>
      </p:grpSp>
      <p:sp>
        <p:nvSpPr>
          <p:cNvPr id="17" name="Freeform 17"/>
          <p:cNvSpPr/>
          <p:nvPr/>
        </p:nvSpPr>
        <p:spPr>
          <a:xfrm>
            <a:off x="9749981" y="4354752"/>
            <a:ext cx="688729" cy="688729"/>
          </a:xfrm>
          <a:custGeom>
            <a:avLst/>
            <a:gdLst/>
            <a:ahLst/>
            <a:cxnLst/>
            <a:rect l="l" t="t" r="r" b="b"/>
            <a:pathLst>
              <a:path w="688729" h="688729">
                <a:moveTo>
                  <a:pt x="0" y="0"/>
                </a:moveTo>
                <a:lnTo>
                  <a:pt x="688729" y="0"/>
                </a:lnTo>
                <a:lnTo>
                  <a:pt x="688729"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rot="-10800000">
            <a:off x="1742458" y="1528249"/>
            <a:ext cx="3665472" cy="1170374"/>
          </a:xfrm>
          <a:custGeom>
            <a:avLst/>
            <a:gdLst/>
            <a:ahLst/>
            <a:cxnLst/>
            <a:rect l="l" t="t" r="r" b="b"/>
            <a:pathLst>
              <a:path w="3665472" h="1170374">
                <a:moveTo>
                  <a:pt x="0" y="0"/>
                </a:moveTo>
                <a:lnTo>
                  <a:pt x="3665472" y="0"/>
                </a:lnTo>
                <a:lnTo>
                  <a:pt x="3665472" y="1170374"/>
                </a:lnTo>
                <a:lnTo>
                  <a:pt x="0" y="117037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grpSp>
        <p:nvGrpSpPr>
          <p:cNvPr id="19" name="Group 19"/>
          <p:cNvGrpSpPr/>
          <p:nvPr/>
        </p:nvGrpSpPr>
        <p:grpSpPr>
          <a:xfrm>
            <a:off x="1742458" y="7836211"/>
            <a:ext cx="16895447" cy="757321"/>
            <a:chOff x="0" y="0"/>
            <a:chExt cx="4449830" cy="199459"/>
          </a:xfrm>
        </p:grpSpPr>
        <p:sp>
          <p:nvSpPr>
            <p:cNvPr id="20" name="Freeform 20"/>
            <p:cNvSpPr/>
            <p:nvPr/>
          </p:nvSpPr>
          <p:spPr>
            <a:xfrm>
              <a:off x="0" y="0"/>
              <a:ext cx="4449830" cy="199459"/>
            </a:xfrm>
            <a:custGeom>
              <a:avLst/>
              <a:gdLst/>
              <a:ahLst/>
              <a:cxnLst/>
              <a:rect l="l" t="t" r="r" b="b"/>
              <a:pathLst>
                <a:path w="4449830" h="199459">
                  <a:moveTo>
                    <a:pt x="45823" y="0"/>
                  </a:moveTo>
                  <a:lnTo>
                    <a:pt x="4404008" y="0"/>
                  </a:lnTo>
                  <a:cubicBezTo>
                    <a:pt x="4429315" y="0"/>
                    <a:pt x="4449830" y="20515"/>
                    <a:pt x="4449830" y="45823"/>
                  </a:cubicBezTo>
                  <a:lnTo>
                    <a:pt x="4449830" y="153637"/>
                  </a:lnTo>
                  <a:cubicBezTo>
                    <a:pt x="4449830" y="178944"/>
                    <a:pt x="4429315" y="199459"/>
                    <a:pt x="4404008" y="199459"/>
                  </a:cubicBezTo>
                  <a:lnTo>
                    <a:pt x="45823" y="199459"/>
                  </a:lnTo>
                  <a:cubicBezTo>
                    <a:pt x="20515" y="199459"/>
                    <a:pt x="0" y="178944"/>
                    <a:pt x="0" y="153637"/>
                  </a:cubicBezTo>
                  <a:lnTo>
                    <a:pt x="0" y="45823"/>
                  </a:lnTo>
                  <a:cubicBezTo>
                    <a:pt x="0" y="20515"/>
                    <a:pt x="20515" y="0"/>
                    <a:pt x="45823" y="0"/>
                  </a:cubicBezTo>
                  <a:close/>
                </a:path>
              </a:pathLst>
            </a:custGeom>
            <a:solidFill>
              <a:srgbClr val="44B7EA"/>
            </a:solidFill>
          </p:spPr>
        </p:sp>
        <p:sp>
          <p:nvSpPr>
            <p:cNvPr id="21" name="TextBox 21"/>
            <p:cNvSpPr txBox="1"/>
            <p:nvPr/>
          </p:nvSpPr>
          <p:spPr>
            <a:xfrm>
              <a:off x="0" y="-47625"/>
              <a:ext cx="4449830" cy="247084"/>
            </a:xfrm>
            <a:prstGeom prst="rect">
              <a:avLst/>
            </a:prstGeom>
          </p:spPr>
          <p:txBody>
            <a:bodyPr lIns="50800" tIns="50800" rIns="50800" bIns="50800" rtlCol="0" anchor="ctr"/>
            <a:lstStyle/>
            <a:p>
              <a:pPr algn="ctr">
                <a:lnSpc>
                  <a:spcPts val="3500"/>
                </a:lnSpc>
              </a:pPr>
              <a:endParaRPr/>
            </a:p>
          </p:txBody>
        </p:sp>
      </p:grpSp>
      <p:sp>
        <p:nvSpPr>
          <p:cNvPr id="22" name="Freeform 22"/>
          <p:cNvSpPr/>
          <p:nvPr/>
        </p:nvSpPr>
        <p:spPr>
          <a:xfrm>
            <a:off x="15854216" y="7853216"/>
            <a:ext cx="4867569" cy="2433784"/>
          </a:xfrm>
          <a:custGeom>
            <a:avLst/>
            <a:gdLst/>
            <a:ahLst/>
            <a:cxnLst/>
            <a:rect l="l" t="t" r="r" b="b"/>
            <a:pathLst>
              <a:path w="4867569" h="2433784">
                <a:moveTo>
                  <a:pt x="0" y="0"/>
                </a:moveTo>
                <a:lnTo>
                  <a:pt x="4867568" y="0"/>
                </a:lnTo>
                <a:lnTo>
                  <a:pt x="4867568" y="2433784"/>
                </a:lnTo>
                <a:lnTo>
                  <a:pt x="0" y="24337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3" name="Group 23"/>
          <p:cNvGrpSpPr/>
          <p:nvPr/>
        </p:nvGrpSpPr>
        <p:grpSpPr>
          <a:xfrm>
            <a:off x="10094345" y="6407133"/>
            <a:ext cx="7193982" cy="2414865"/>
            <a:chOff x="0" y="0"/>
            <a:chExt cx="1894711" cy="636014"/>
          </a:xfrm>
        </p:grpSpPr>
        <p:sp>
          <p:nvSpPr>
            <p:cNvPr id="24" name="Freeform 24"/>
            <p:cNvSpPr/>
            <p:nvPr/>
          </p:nvSpPr>
          <p:spPr>
            <a:xfrm>
              <a:off x="0" y="0"/>
              <a:ext cx="1894711" cy="636014"/>
            </a:xfrm>
            <a:custGeom>
              <a:avLst/>
              <a:gdLst/>
              <a:ahLst/>
              <a:cxnLst/>
              <a:rect l="l" t="t" r="r" b="b"/>
              <a:pathLst>
                <a:path w="1894711" h="636014">
                  <a:moveTo>
                    <a:pt x="21523" y="0"/>
                  </a:moveTo>
                  <a:lnTo>
                    <a:pt x="1873188" y="0"/>
                  </a:lnTo>
                  <a:cubicBezTo>
                    <a:pt x="1885075" y="0"/>
                    <a:pt x="1894711" y="9636"/>
                    <a:pt x="1894711" y="21523"/>
                  </a:cubicBezTo>
                  <a:lnTo>
                    <a:pt x="1894711" y="614491"/>
                  </a:lnTo>
                  <a:cubicBezTo>
                    <a:pt x="1894711" y="626378"/>
                    <a:pt x="1885075" y="636014"/>
                    <a:pt x="1873188" y="636014"/>
                  </a:cubicBezTo>
                  <a:lnTo>
                    <a:pt x="21523" y="636014"/>
                  </a:lnTo>
                  <a:cubicBezTo>
                    <a:pt x="15815" y="636014"/>
                    <a:pt x="10340" y="633746"/>
                    <a:pt x="6304" y="629710"/>
                  </a:cubicBezTo>
                  <a:cubicBezTo>
                    <a:pt x="2268" y="625673"/>
                    <a:pt x="0" y="620199"/>
                    <a:pt x="0" y="614491"/>
                  </a:cubicBezTo>
                  <a:lnTo>
                    <a:pt x="0" y="21523"/>
                  </a:lnTo>
                  <a:cubicBezTo>
                    <a:pt x="0" y="9636"/>
                    <a:pt x="9636" y="0"/>
                    <a:pt x="21523" y="0"/>
                  </a:cubicBezTo>
                  <a:close/>
                </a:path>
              </a:pathLst>
            </a:custGeom>
            <a:solidFill>
              <a:srgbClr val="FFFFFF"/>
            </a:solidFill>
          </p:spPr>
        </p:sp>
        <p:sp>
          <p:nvSpPr>
            <p:cNvPr id="25" name="TextBox 25"/>
            <p:cNvSpPr txBox="1"/>
            <p:nvPr/>
          </p:nvSpPr>
          <p:spPr>
            <a:xfrm>
              <a:off x="0" y="-47625"/>
              <a:ext cx="1894711" cy="683639"/>
            </a:xfrm>
            <a:prstGeom prst="rect">
              <a:avLst/>
            </a:prstGeom>
          </p:spPr>
          <p:txBody>
            <a:bodyPr lIns="50800" tIns="50800" rIns="50800" bIns="50800" rtlCol="0" anchor="ctr"/>
            <a:lstStyle/>
            <a:p>
              <a:pPr algn="ctr">
                <a:lnSpc>
                  <a:spcPts val="3500"/>
                </a:lnSpc>
              </a:pPr>
              <a:endParaRPr/>
            </a:p>
          </p:txBody>
        </p:sp>
      </p:grpSp>
      <p:sp>
        <p:nvSpPr>
          <p:cNvPr id="26" name="Freeform 26"/>
          <p:cNvSpPr/>
          <p:nvPr/>
        </p:nvSpPr>
        <p:spPr>
          <a:xfrm>
            <a:off x="9749981" y="6863262"/>
            <a:ext cx="688729" cy="688729"/>
          </a:xfrm>
          <a:custGeom>
            <a:avLst/>
            <a:gdLst/>
            <a:ahLst/>
            <a:cxnLst/>
            <a:rect l="l" t="t" r="r" b="b"/>
            <a:pathLst>
              <a:path w="688729" h="688729">
                <a:moveTo>
                  <a:pt x="0" y="0"/>
                </a:moveTo>
                <a:lnTo>
                  <a:pt x="688729" y="0"/>
                </a:lnTo>
                <a:lnTo>
                  <a:pt x="688729"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TextBox 27"/>
          <p:cNvSpPr txBox="1"/>
          <p:nvPr/>
        </p:nvSpPr>
        <p:spPr>
          <a:xfrm>
            <a:off x="6760490" y="1057275"/>
            <a:ext cx="10498810" cy="831723"/>
          </a:xfrm>
          <a:prstGeom prst="rect">
            <a:avLst/>
          </a:prstGeom>
        </p:spPr>
        <p:txBody>
          <a:bodyPr lIns="0" tIns="0" rIns="0" bIns="0" rtlCol="0" anchor="t">
            <a:spAutoFit/>
          </a:bodyPr>
          <a:lstStyle/>
          <a:p>
            <a:pPr marL="0" lvl="0" indent="0" algn="r">
              <a:lnSpc>
                <a:spcPts val="6440"/>
              </a:lnSpc>
              <a:spcBef>
                <a:spcPct val="0"/>
              </a:spcBef>
            </a:pPr>
            <a:r>
              <a:rPr lang="en-US" sz="5699" b="1" spc="-188">
                <a:solidFill>
                  <a:srgbClr val="FFFFFF"/>
                </a:solidFill>
                <a:latin typeface="Open Sauce Bold"/>
                <a:ea typeface="Open Sauce Bold"/>
                <a:cs typeface="Open Sauce Bold"/>
                <a:sym typeface="Open Sauce Bold"/>
              </a:rPr>
              <a:t>Land</a:t>
            </a:r>
            <a:r>
              <a:rPr lang="en-US" sz="5699" b="1" u="none" strike="noStrike" spc="-188">
                <a:solidFill>
                  <a:srgbClr val="FFFFFF"/>
                </a:solidFill>
                <a:latin typeface="Open Sauce Bold"/>
                <a:ea typeface="Open Sauce Bold"/>
                <a:cs typeface="Open Sauce Bold"/>
                <a:sym typeface="Open Sauce Bold"/>
              </a:rPr>
              <a:t>asan Legalistik</a:t>
            </a:r>
          </a:p>
        </p:txBody>
      </p:sp>
      <p:sp>
        <p:nvSpPr>
          <p:cNvPr id="28" name="Freeform 28"/>
          <p:cNvSpPr/>
          <p:nvPr/>
        </p:nvSpPr>
        <p:spPr>
          <a:xfrm>
            <a:off x="6275997" y="1226578"/>
            <a:ext cx="1656127" cy="1656127"/>
          </a:xfrm>
          <a:custGeom>
            <a:avLst/>
            <a:gdLst/>
            <a:ahLst/>
            <a:cxnLst/>
            <a:rect l="l" t="t" r="r" b="b"/>
            <a:pathLst>
              <a:path w="1656127" h="1656127">
                <a:moveTo>
                  <a:pt x="0" y="0"/>
                </a:moveTo>
                <a:lnTo>
                  <a:pt x="1656128" y="0"/>
                </a:lnTo>
                <a:lnTo>
                  <a:pt x="1656128" y="1656128"/>
                </a:lnTo>
                <a:lnTo>
                  <a:pt x="0" y="1656128"/>
                </a:lnTo>
                <a:lnTo>
                  <a:pt x="0" y="0"/>
                </a:lnTo>
                <a:close/>
              </a:path>
            </a:pathLst>
          </a:custGeom>
          <a:blipFill>
            <a:blip r:embed="rId8"/>
            <a:stretch>
              <a:fillRect/>
            </a:stretch>
          </a:blipFill>
        </p:spPr>
      </p:sp>
      <p:sp>
        <p:nvSpPr>
          <p:cNvPr id="29" name="TextBox 29"/>
          <p:cNvSpPr txBox="1"/>
          <p:nvPr/>
        </p:nvSpPr>
        <p:spPr>
          <a:xfrm>
            <a:off x="2396268" y="4138869"/>
            <a:ext cx="5868570" cy="691338"/>
          </a:xfrm>
          <a:prstGeom prst="rect">
            <a:avLst/>
          </a:prstGeom>
        </p:spPr>
        <p:txBody>
          <a:bodyPr lIns="0" tIns="0" rIns="0" bIns="0" rtlCol="0" anchor="t">
            <a:spAutoFit/>
          </a:bodyPr>
          <a:lstStyle/>
          <a:p>
            <a:pPr marL="0" lvl="0" indent="0" algn="l">
              <a:lnSpc>
                <a:spcPts val="2841"/>
              </a:lnSpc>
              <a:spcBef>
                <a:spcPct val="0"/>
              </a:spcBef>
            </a:pPr>
            <a:r>
              <a:rPr lang="en-US" sz="2029">
                <a:solidFill>
                  <a:srgbClr val="03045A"/>
                </a:solidFill>
                <a:latin typeface="Open Sauce"/>
                <a:ea typeface="Open Sauce"/>
                <a:cs typeface="Open Sauce"/>
                <a:sym typeface="Open Sauce"/>
              </a:rPr>
              <a:t>Undang-Undang Nomor 24 Tahun 2007 tentang Penanggulangan Bencana</a:t>
            </a:r>
          </a:p>
        </p:txBody>
      </p:sp>
      <p:sp>
        <p:nvSpPr>
          <p:cNvPr id="30" name="TextBox 30"/>
          <p:cNvSpPr txBox="1"/>
          <p:nvPr/>
        </p:nvSpPr>
        <p:spPr>
          <a:xfrm>
            <a:off x="2396268" y="5943618"/>
            <a:ext cx="5765325" cy="691207"/>
          </a:xfrm>
          <a:prstGeom prst="rect">
            <a:avLst/>
          </a:prstGeom>
        </p:spPr>
        <p:txBody>
          <a:bodyPr lIns="0" tIns="0" rIns="0" bIns="0" rtlCol="0" anchor="t">
            <a:spAutoFit/>
          </a:bodyPr>
          <a:lstStyle/>
          <a:p>
            <a:pPr marL="0" lvl="0" indent="0" algn="l">
              <a:lnSpc>
                <a:spcPts val="2848"/>
              </a:lnSpc>
              <a:spcBef>
                <a:spcPct val="0"/>
              </a:spcBef>
            </a:pPr>
            <a:r>
              <a:rPr lang="en-US" sz="2034">
                <a:solidFill>
                  <a:srgbClr val="03045A"/>
                </a:solidFill>
                <a:latin typeface="Open Sauce"/>
                <a:ea typeface="Open Sauce"/>
                <a:cs typeface="Open Sauce"/>
                <a:sym typeface="Open Sauce"/>
              </a:rPr>
              <a:t>Undang-Undang Nomor 14 Tahun 2008 tentang Keterbukaan Informasi Publik</a:t>
            </a:r>
          </a:p>
        </p:txBody>
      </p:sp>
      <p:sp>
        <p:nvSpPr>
          <p:cNvPr id="31" name="TextBox 31"/>
          <p:cNvSpPr txBox="1"/>
          <p:nvPr/>
        </p:nvSpPr>
        <p:spPr>
          <a:xfrm>
            <a:off x="10669042" y="2460004"/>
            <a:ext cx="6054893" cy="1080592"/>
          </a:xfrm>
          <a:prstGeom prst="rect">
            <a:avLst/>
          </a:prstGeom>
        </p:spPr>
        <p:txBody>
          <a:bodyPr lIns="0" tIns="0" rIns="0" bIns="0" rtlCol="0" anchor="t">
            <a:spAutoFit/>
          </a:bodyPr>
          <a:lstStyle/>
          <a:p>
            <a:pPr marL="0" lvl="0" indent="0" algn="l">
              <a:lnSpc>
                <a:spcPts val="2920"/>
              </a:lnSpc>
              <a:spcBef>
                <a:spcPct val="0"/>
              </a:spcBef>
            </a:pPr>
            <a:r>
              <a:rPr lang="en-US" sz="2085">
                <a:solidFill>
                  <a:srgbClr val="03045A"/>
                </a:solidFill>
                <a:latin typeface="Open Sauce"/>
                <a:ea typeface="Open Sauce"/>
                <a:cs typeface="Open Sauce"/>
                <a:sym typeface="Open Sauce"/>
              </a:rPr>
              <a:t>Peraturan Pemerintah Nomor 21 Tahun 2008 tentang Penyelenggaraan Penanggulangan Bencana</a:t>
            </a:r>
          </a:p>
        </p:txBody>
      </p:sp>
      <p:sp>
        <p:nvSpPr>
          <p:cNvPr id="32" name="TextBox 32"/>
          <p:cNvSpPr txBox="1"/>
          <p:nvPr/>
        </p:nvSpPr>
        <p:spPr>
          <a:xfrm>
            <a:off x="10669042" y="4285940"/>
            <a:ext cx="6054893" cy="1433695"/>
          </a:xfrm>
          <a:prstGeom prst="rect">
            <a:avLst/>
          </a:prstGeom>
        </p:spPr>
        <p:txBody>
          <a:bodyPr lIns="0" tIns="0" rIns="0" bIns="0" rtlCol="0" anchor="t">
            <a:spAutoFit/>
          </a:bodyPr>
          <a:lstStyle/>
          <a:p>
            <a:pPr marL="0" lvl="0" indent="0" algn="l">
              <a:lnSpc>
                <a:spcPts val="2884"/>
              </a:lnSpc>
              <a:spcBef>
                <a:spcPct val="0"/>
              </a:spcBef>
            </a:pPr>
            <a:r>
              <a:rPr lang="en-US" sz="2060">
                <a:solidFill>
                  <a:srgbClr val="03045A"/>
                </a:solidFill>
                <a:latin typeface="Open Sauce"/>
                <a:ea typeface="Open Sauce"/>
                <a:cs typeface="Open Sauce"/>
                <a:sym typeface="Open Sauce"/>
              </a:rPr>
              <a:t>Peraturan Menteri Komunikasi dan Informatika Nomor 8 Tahun 2019 tentang Penyelenggaraan Layanan Informasi Publik melalui Media Sosial oleh Instansi Pemerintah</a:t>
            </a:r>
          </a:p>
        </p:txBody>
      </p:sp>
      <p:sp>
        <p:nvSpPr>
          <p:cNvPr id="33" name="TextBox 33"/>
          <p:cNvSpPr txBox="1"/>
          <p:nvPr/>
        </p:nvSpPr>
        <p:spPr>
          <a:xfrm>
            <a:off x="10748156" y="6763226"/>
            <a:ext cx="5975779" cy="1795678"/>
          </a:xfrm>
          <a:prstGeom prst="rect">
            <a:avLst/>
          </a:prstGeom>
        </p:spPr>
        <p:txBody>
          <a:bodyPr lIns="0" tIns="0" rIns="0" bIns="0" rtlCol="0" anchor="t">
            <a:spAutoFit/>
          </a:bodyPr>
          <a:lstStyle/>
          <a:p>
            <a:pPr marL="0" lvl="0" indent="0" algn="l">
              <a:lnSpc>
                <a:spcPts val="2884"/>
              </a:lnSpc>
              <a:spcBef>
                <a:spcPct val="0"/>
              </a:spcBef>
            </a:pPr>
            <a:r>
              <a:rPr lang="en-US" sz="2060">
                <a:solidFill>
                  <a:srgbClr val="03045A"/>
                </a:solidFill>
                <a:latin typeface="Open Sauce"/>
                <a:ea typeface="Open Sauce"/>
                <a:cs typeface="Open Sauce"/>
                <a:sym typeface="Open Sauce"/>
              </a:rPr>
              <a:t>Peraturan Bupati (Perbup) Kabupaten Pinrang Nomor 55 Tahun 2023 tentang Kedudukan, Susunan Organisasi, Tugas dan Fungsi serta Tata Kerja Badan Penanggulangan Bencana Derah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Freeform 2"/>
          <p:cNvSpPr/>
          <p:nvPr/>
        </p:nvSpPr>
        <p:spPr>
          <a:xfrm rot="-2225791">
            <a:off x="8519556" y="2985072"/>
            <a:ext cx="688729" cy="688729"/>
          </a:xfrm>
          <a:custGeom>
            <a:avLst/>
            <a:gdLst/>
            <a:ahLst/>
            <a:cxnLst/>
            <a:rect l="l" t="t" r="r" b="b"/>
            <a:pathLst>
              <a:path w="688729" h="688729">
                <a:moveTo>
                  <a:pt x="0" y="0"/>
                </a:moveTo>
                <a:lnTo>
                  <a:pt x="688729" y="0"/>
                </a:lnTo>
                <a:lnTo>
                  <a:pt x="688729"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674956" y="9258300"/>
            <a:ext cx="14943665" cy="757321"/>
            <a:chOff x="0" y="0"/>
            <a:chExt cx="3935780" cy="199459"/>
          </a:xfrm>
        </p:grpSpPr>
        <p:sp>
          <p:nvSpPr>
            <p:cNvPr id="4" name="Freeform 4"/>
            <p:cNvSpPr/>
            <p:nvPr/>
          </p:nvSpPr>
          <p:spPr>
            <a:xfrm>
              <a:off x="0" y="0"/>
              <a:ext cx="3935780" cy="199459"/>
            </a:xfrm>
            <a:custGeom>
              <a:avLst/>
              <a:gdLst/>
              <a:ahLst/>
              <a:cxnLst/>
              <a:rect l="l" t="t" r="r" b="b"/>
              <a:pathLst>
                <a:path w="3935780" h="199459">
                  <a:moveTo>
                    <a:pt x="51807" y="0"/>
                  </a:moveTo>
                  <a:lnTo>
                    <a:pt x="3883973" y="0"/>
                  </a:lnTo>
                  <a:cubicBezTo>
                    <a:pt x="3912585" y="0"/>
                    <a:pt x="3935780" y="23195"/>
                    <a:pt x="3935780" y="51807"/>
                  </a:cubicBezTo>
                  <a:lnTo>
                    <a:pt x="3935780" y="147652"/>
                  </a:lnTo>
                  <a:cubicBezTo>
                    <a:pt x="3935780" y="161392"/>
                    <a:pt x="3930322" y="174569"/>
                    <a:pt x="3920606" y="184285"/>
                  </a:cubicBezTo>
                  <a:cubicBezTo>
                    <a:pt x="3910890" y="194001"/>
                    <a:pt x="3897713" y="199459"/>
                    <a:pt x="3883973" y="199459"/>
                  </a:cubicBezTo>
                  <a:lnTo>
                    <a:pt x="51807" y="199459"/>
                  </a:lnTo>
                  <a:cubicBezTo>
                    <a:pt x="23195" y="199459"/>
                    <a:pt x="0" y="176264"/>
                    <a:pt x="0" y="147652"/>
                  </a:cubicBezTo>
                  <a:lnTo>
                    <a:pt x="0" y="51807"/>
                  </a:lnTo>
                  <a:cubicBezTo>
                    <a:pt x="0" y="23195"/>
                    <a:pt x="23195" y="0"/>
                    <a:pt x="51807" y="0"/>
                  </a:cubicBezTo>
                  <a:close/>
                </a:path>
              </a:pathLst>
            </a:custGeom>
            <a:solidFill>
              <a:srgbClr val="44B7EA"/>
            </a:solidFill>
          </p:spPr>
        </p:sp>
        <p:sp>
          <p:nvSpPr>
            <p:cNvPr id="5" name="TextBox 5"/>
            <p:cNvSpPr txBox="1"/>
            <p:nvPr/>
          </p:nvSpPr>
          <p:spPr>
            <a:xfrm>
              <a:off x="0" y="-47625"/>
              <a:ext cx="3935780" cy="247084"/>
            </a:xfrm>
            <a:prstGeom prst="rect">
              <a:avLst/>
            </a:prstGeom>
          </p:spPr>
          <p:txBody>
            <a:bodyPr lIns="50800" tIns="50800" rIns="50800" bIns="50800" rtlCol="0" anchor="ctr"/>
            <a:lstStyle/>
            <a:p>
              <a:pPr algn="ctr">
                <a:lnSpc>
                  <a:spcPts val="3500"/>
                </a:lnSpc>
              </a:pPr>
              <a:endParaRPr/>
            </a:p>
          </p:txBody>
        </p:sp>
      </p:grpSp>
      <p:sp>
        <p:nvSpPr>
          <p:cNvPr id="6" name="Freeform 6"/>
          <p:cNvSpPr/>
          <p:nvPr/>
        </p:nvSpPr>
        <p:spPr>
          <a:xfrm>
            <a:off x="6923658" y="8066658"/>
            <a:ext cx="4440685" cy="2220342"/>
          </a:xfrm>
          <a:custGeom>
            <a:avLst/>
            <a:gdLst/>
            <a:ahLst/>
            <a:cxnLst/>
            <a:rect l="l" t="t" r="r" b="b"/>
            <a:pathLst>
              <a:path w="4440685" h="2220342">
                <a:moveTo>
                  <a:pt x="0" y="0"/>
                </a:moveTo>
                <a:lnTo>
                  <a:pt x="4440684" y="0"/>
                </a:lnTo>
                <a:lnTo>
                  <a:pt x="4440684" y="2220342"/>
                </a:lnTo>
                <a:lnTo>
                  <a:pt x="0" y="22203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10800000">
            <a:off x="15790039" y="7972014"/>
            <a:ext cx="1657164" cy="529128"/>
          </a:xfrm>
          <a:custGeom>
            <a:avLst/>
            <a:gdLst/>
            <a:ahLst/>
            <a:cxnLst/>
            <a:rect l="l" t="t" r="r" b="b"/>
            <a:pathLst>
              <a:path w="1657164" h="529128">
                <a:moveTo>
                  <a:pt x="0" y="0"/>
                </a:moveTo>
                <a:lnTo>
                  <a:pt x="1657164" y="0"/>
                </a:lnTo>
                <a:lnTo>
                  <a:pt x="1657164" y="529128"/>
                </a:lnTo>
                <a:lnTo>
                  <a:pt x="0" y="52912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8" name="Freeform 8"/>
          <p:cNvSpPr/>
          <p:nvPr/>
        </p:nvSpPr>
        <p:spPr>
          <a:xfrm rot="-10800000">
            <a:off x="6095075" y="499572"/>
            <a:ext cx="1657164" cy="529128"/>
          </a:xfrm>
          <a:custGeom>
            <a:avLst/>
            <a:gdLst/>
            <a:ahLst/>
            <a:cxnLst/>
            <a:rect l="l" t="t" r="r" b="b"/>
            <a:pathLst>
              <a:path w="1657164" h="529128">
                <a:moveTo>
                  <a:pt x="0" y="0"/>
                </a:moveTo>
                <a:lnTo>
                  <a:pt x="1657165" y="0"/>
                </a:lnTo>
                <a:lnTo>
                  <a:pt x="1657165" y="529128"/>
                </a:lnTo>
                <a:lnTo>
                  <a:pt x="0" y="52912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9" name="TextBox 9"/>
          <p:cNvSpPr txBox="1"/>
          <p:nvPr/>
        </p:nvSpPr>
        <p:spPr>
          <a:xfrm>
            <a:off x="1028700" y="1435135"/>
            <a:ext cx="8124048" cy="872490"/>
          </a:xfrm>
          <a:prstGeom prst="rect">
            <a:avLst/>
          </a:prstGeom>
        </p:spPr>
        <p:txBody>
          <a:bodyPr lIns="0" tIns="0" rIns="0" bIns="0" rtlCol="0" anchor="t">
            <a:spAutoFit/>
          </a:bodyPr>
          <a:lstStyle/>
          <a:p>
            <a:pPr marL="0" lvl="0" indent="0" algn="l">
              <a:lnSpc>
                <a:spcPts val="6779"/>
              </a:lnSpc>
              <a:spcBef>
                <a:spcPct val="0"/>
              </a:spcBef>
            </a:pPr>
            <a:r>
              <a:rPr lang="en-US" sz="5999" b="1" spc="-197">
                <a:solidFill>
                  <a:srgbClr val="FFFFFF"/>
                </a:solidFill>
                <a:latin typeface="Open Sauce Bold"/>
                <a:ea typeface="Open Sauce Bold"/>
                <a:cs typeface="Open Sauce Bold"/>
                <a:sym typeface="Open Sauce Bold"/>
              </a:rPr>
              <a:t>K</a:t>
            </a:r>
            <a:r>
              <a:rPr lang="en-US" sz="5999" b="1" u="none" strike="noStrike" spc="-197">
                <a:solidFill>
                  <a:srgbClr val="FFFFFF"/>
                </a:solidFill>
                <a:latin typeface="Open Sauce Bold"/>
                <a:ea typeface="Open Sauce Bold"/>
                <a:cs typeface="Open Sauce Bold"/>
                <a:sym typeface="Open Sauce Bold"/>
              </a:rPr>
              <a:t>erangka Pemikiran</a:t>
            </a:r>
          </a:p>
        </p:txBody>
      </p:sp>
      <p:grpSp>
        <p:nvGrpSpPr>
          <p:cNvPr id="10" name="Group 10"/>
          <p:cNvGrpSpPr/>
          <p:nvPr/>
        </p:nvGrpSpPr>
        <p:grpSpPr>
          <a:xfrm>
            <a:off x="444516" y="2710043"/>
            <a:ext cx="7082246" cy="7305578"/>
            <a:chOff x="0" y="0"/>
            <a:chExt cx="1865283" cy="1924103"/>
          </a:xfrm>
        </p:grpSpPr>
        <p:sp>
          <p:nvSpPr>
            <p:cNvPr id="11" name="Freeform 11"/>
            <p:cNvSpPr/>
            <p:nvPr/>
          </p:nvSpPr>
          <p:spPr>
            <a:xfrm>
              <a:off x="0" y="0"/>
              <a:ext cx="1865283" cy="1924103"/>
            </a:xfrm>
            <a:custGeom>
              <a:avLst/>
              <a:gdLst/>
              <a:ahLst/>
              <a:cxnLst/>
              <a:rect l="l" t="t" r="r" b="b"/>
              <a:pathLst>
                <a:path w="1865283" h="1924103">
                  <a:moveTo>
                    <a:pt x="21863" y="0"/>
                  </a:moveTo>
                  <a:lnTo>
                    <a:pt x="1843420" y="0"/>
                  </a:lnTo>
                  <a:cubicBezTo>
                    <a:pt x="1849218" y="0"/>
                    <a:pt x="1854779" y="2303"/>
                    <a:pt x="1858879" y="6403"/>
                  </a:cubicBezTo>
                  <a:cubicBezTo>
                    <a:pt x="1862980" y="10504"/>
                    <a:pt x="1865283" y="16064"/>
                    <a:pt x="1865283" y="21863"/>
                  </a:cubicBezTo>
                  <a:lnTo>
                    <a:pt x="1865283" y="1902240"/>
                  </a:lnTo>
                  <a:cubicBezTo>
                    <a:pt x="1865283" y="1908038"/>
                    <a:pt x="1862980" y="1913599"/>
                    <a:pt x="1858879" y="1917699"/>
                  </a:cubicBezTo>
                  <a:cubicBezTo>
                    <a:pt x="1854779" y="1921799"/>
                    <a:pt x="1849218" y="1924103"/>
                    <a:pt x="1843420" y="1924103"/>
                  </a:cubicBezTo>
                  <a:lnTo>
                    <a:pt x="21863" y="1924103"/>
                  </a:lnTo>
                  <a:cubicBezTo>
                    <a:pt x="16064" y="1924103"/>
                    <a:pt x="10504" y="1921799"/>
                    <a:pt x="6403" y="1917699"/>
                  </a:cubicBezTo>
                  <a:cubicBezTo>
                    <a:pt x="2303" y="1913599"/>
                    <a:pt x="0" y="1908038"/>
                    <a:pt x="0" y="1902240"/>
                  </a:cubicBezTo>
                  <a:lnTo>
                    <a:pt x="0" y="21863"/>
                  </a:lnTo>
                  <a:cubicBezTo>
                    <a:pt x="0" y="16064"/>
                    <a:pt x="2303" y="10504"/>
                    <a:pt x="6403" y="6403"/>
                  </a:cubicBezTo>
                  <a:cubicBezTo>
                    <a:pt x="10504" y="2303"/>
                    <a:pt x="16064" y="0"/>
                    <a:pt x="21863" y="0"/>
                  </a:cubicBezTo>
                  <a:close/>
                </a:path>
              </a:pathLst>
            </a:custGeom>
            <a:solidFill>
              <a:srgbClr val="FFFFFF"/>
            </a:solidFill>
          </p:spPr>
        </p:sp>
        <p:sp>
          <p:nvSpPr>
            <p:cNvPr id="12" name="TextBox 12"/>
            <p:cNvSpPr txBox="1"/>
            <p:nvPr/>
          </p:nvSpPr>
          <p:spPr>
            <a:xfrm>
              <a:off x="0" y="-47625"/>
              <a:ext cx="1865283" cy="1971728"/>
            </a:xfrm>
            <a:prstGeom prst="rect">
              <a:avLst/>
            </a:prstGeom>
          </p:spPr>
          <p:txBody>
            <a:bodyPr lIns="50800" tIns="50800" rIns="50800" bIns="50800" rtlCol="0" anchor="ctr"/>
            <a:lstStyle/>
            <a:p>
              <a:pPr algn="ctr">
                <a:lnSpc>
                  <a:spcPts val="3500"/>
                </a:lnSpc>
              </a:pPr>
              <a:endParaRPr/>
            </a:p>
          </p:txBody>
        </p:sp>
      </p:grpSp>
      <p:sp>
        <p:nvSpPr>
          <p:cNvPr id="13" name="TextBox 13"/>
          <p:cNvSpPr txBox="1"/>
          <p:nvPr/>
        </p:nvSpPr>
        <p:spPr>
          <a:xfrm>
            <a:off x="738215" y="2876060"/>
            <a:ext cx="6212007" cy="7034650"/>
          </a:xfrm>
          <a:prstGeom prst="rect">
            <a:avLst/>
          </a:prstGeom>
        </p:spPr>
        <p:txBody>
          <a:bodyPr lIns="0" tIns="0" rIns="0" bIns="0" rtlCol="0" anchor="t">
            <a:spAutoFit/>
          </a:bodyPr>
          <a:lstStyle/>
          <a:p>
            <a:pPr marL="435959" lvl="1" indent="-217979" algn="just">
              <a:lnSpc>
                <a:spcPts val="2826"/>
              </a:lnSpc>
              <a:buAutoNum type="arabicPeriod"/>
            </a:pPr>
            <a:r>
              <a:rPr lang="en-US" sz="2019">
                <a:solidFill>
                  <a:srgbClr val="03045A"/>
                </a:solidFill>
                <a:latin typeface="Open Sauce"/>
                <a:ea typeface="Open Sauce"/>
                <a:cs typeface="Open Sauce"/>
                <a:sym typeface="Open Sauce"/>
              </a:rPr>
              <a:t>Undang-Undang Nomor 24 Tahun 2007 tentang Penanggulangan Bencana</a:t>
            </a:r>
          </a:p>
          <a:p>
            <a:pPr marL="435959" lvl="1" indent="-217979" algn="just">
              <a:lnSpc>
                <a:spcPts val="2826"/>
              </a:lnSpc>
              <a:buAutoNum type="arabicPeriod"/>
            </a:pPr>
            <a:r>
              <a:rPr lang="en-US" sz="2019">
                <a:solidFill>
                  <a:srgbClr val="03045A"/>
                </a:solidFill>
                <a:latin typeface="Open Sauce"/>
                <a:ea typeface="Open Sauce"/>
                <a:cs typeface="Open Sauce"/>
                <a:sym typeface="Open Sauce"/>
              </a:rPr>
              <a:t>Undang-Undang Nomor 14 Tahun 2008 tentang Keterbukaan Informasi Publik</a:t>
            </a:r>
          </a:p>
          <a:p>
            <a:pPr marL="435959" lvl="1" indent="-217979" algn="just">
              <a:lnSpc>
                <a:spcPts val="2826"/>
              </a:lnSpc>
              <a:buAutoNum type="arabicPeriod"/>
            </a:pPr>
            <a:r>
              <a:rPr lang="en-US" sz="2019">
                <a:solidFill>
                  <a:srgbClr val="03045A"/>
                </a:solidFill>
                <a:latin typeface="Open Sauce"/>
                <a:ea typeface="Open Sauce"/>
                <a:cs typeface="Open Sauce"/>
                <a:sym typeface="Open Sauce"/>
              </a:rPr>
              <a:t>Undang-Undang Nomor 1 Tahun 2024 tentang Perubahan Kedua atas UU Nomor 11 Tahun 2008 tentang Informasi dan Transaksi Elektronik (UU ITE)</a:t>
            </a:r>
          </a:p>
          <a:p>
            <a:pPr marL="435959" lvl="1" indent="-217979" algn="just">
              <a:lnSpc>
                <a:spcPts val="2826"/>
              </a:lnSpc>
              <a:buAutoNum type="arabicPeriod"/>
            </a:pPr>
            <a:r>
              <a:rPr lang="en-US" sz="2019">
                <a:solidFill>
                  <a:srgbClr val="03045A"/>
                </a:solidFill>
                <a:latin typeface="Open Sauce"/>
                <a:ea typeface="Open Sauce"/>
                <a:cs typeface="Open Sauce"/>
                <a:sym typeface="Open Sauce"/>
              </a:rPr>
              <a:t>Peraturan Pemerintah Nomor 21 Tahun 2008 tentang Penyelenggaraan Penanggulangan Bencana</a:t>
            </a:r>
          </a:p>
          <a:p>
            <a:pPr marL="435959" lvl="1" indent="-217979" algn="just">
              <a:lnSpc>
                <a:spcPts val="2826"/>
              </a:lnSpc>
              <a:buAutoNum type="arabicPeriod"/>
            </a:pPr>
            <a:r>
              <a:rPr lang="en-US" sz="2019">
                <a:solidFill>
                  <a:srgbClr val="03045A"/>
                </a:solidFill>
                <a:latin typeface="Open Sauce"/>
                <a:ea typeface="Open Sauce"/>
                <a:cs typeface="Open Sauce"/>
                <a:sym typeface="Open Sauce"/>
              </a:rPr>
              <a:t>Peraturan Menteri Komunikasi dan Informatika Nomor 8 Tahun 2019 tentang Penyelenggaraan Layanan Informasi Publik melalui Media Sosial oleh Instansi Pemerintah</a:t>
            </a:r>
          </a:p>
          <a:p>
            <a:pPr marL="435959" lvl="1" indent="-217979" algn="just">
              <a:lnSpc>
                <a:spcPts val="2826"/>
              </a:lnSpc>
              <a:buAutoNum type="arabicPeriod"/>
            </a:pPr>
            <a:r>
              <a:rPr lang="en-US" sz="2019">
                <a:solidFill>
                  <a:srgbClr val="03045A"/>
                </a:solidFill>
                <a:latin typeface="Open Sauce"/>
                <a:ea typeface="Open Sauce"/>
                <a:cs typeface="Open Sauce"/>
                <a:sym typeface="Open Sauce"/>
              </a:rPr>
              <a:t>Peraturan Bupati (Perbup) Kabupaten Pinrang Nomor 55 Tahun 2023 tentang Kedudukan, Susunan Organisasi, Tugas dan Fungsi serta Tata Kerja Badan Penanggulangan Bencana Derah</a:t>
            </a:r>
          </a:p>
        </p:txBody>
      </p:sp>
      <p:grpSp>
        <p:nvGrpSpPr>
          <p:cNvPr id="14" name="Group 14"/>
          <p:cNvGrpSpPr/>
          <p:nvPr/>
        </p:nvGrpSpPr>
        <p:grpSpPr>
          <a:xfrm>
            <a:off x="10201079" y="1397035"/>
            <a:ext cx="7642405" cy="1950891"/>
            <a:chOff x="0" y="0"/>
            <a:chExt cx="2012815" cy="513815"/>
          </a:xfrm>
        </p:grpSpPr>
        <p:sp>
          <p:nvSpPr>
            <p:cNvPr id="15" name="Freeform 15"/>
            <p:cNvSpPr/>
            <p:nvPr/>
          </p:nvSpPr>
          <p:spPr>
            <a:xfrm>
              <a:off x="0" y="0"/>
              <a:ext cx="2012815" cy="513815"/>
            </a:xfrm>
            <a:custGeom>
              <a:avLst/>
              <a:gdLst/>
              <a:ahLst/>
              <a:cxnLst/>
              <a:rect l="l" t="t" r="r" b="b"/>
              <a:pathLst>
                <a:path w="2012815" h="513815">
                  <a:moveTo>
                    <a:pt x="20260" y="0"/>
                  </a:moveTo>
                  <a:lnTo>
                    <a:pt x="1992554" y="0"/>
                  </a:lnTo>
                  <a:cubicBezTo>
                    <a:pt x="1997927" y="0"/>
                    <a:pt x="2003081" y="2135"/>
                    <a:pt x="2006880" y="5934"/>
                  </a:cubicBezTo>
                  <a:cubicBezTo>
                    <a:pt x="2010680" y="9734"/>
                    <a:pt x="2012815" y="14887"/>
                    <a:pt x="2012815" y="20260"/>
                  </a:cubicBezTo>
                  <a:lnTo>
                    <a:pt x="2012815" y="493554"/>
                  </a:lnTo>
                  <a:cubicBezTo>
                    <a:pt x="2012815" y="498928"/>
                    <a:pt x="2010680" y="504081"/>
                    <a:pt x="2006880" y="507881"/>
                  </a:cubicBezTo>
                  <a:cubicBezTo>
                    <a:pt x="2003081" y="511680"/>
                    <a:pt x="1997927" y="513815"/>
                    <a:pt x="1992554" y="513815"/>
                  </a:cubicBezTo>
                  <a:lnTo>
                    <a:pt x="20260" y="513815"/>
                  </a:lnTo>
                  <a:cubicBezTo>
                    <a:pt x="14887" y="513815"/>
                    <a:pt x="9734" y="511680"/>
                    <a:pt x="5934" y="507881"/>
                  </a:cubicBezTo>
                  <a:cubicBezTo>
                    <a:pt x="2135" y="504081"/>
                    <a:pt x="0" y="498928"/>
                    <a:pt x="0" y="493554"/>
                  </a:cubicBezTo>
                  <a:lnTo>
                    <a:pt x="0" y="20260"/>
                  </a:lnTo>
                  <a:cubicBezTo>
                    <a:pt x="0" y="14887"/>
                    <a:pt x="2135" y="9734"/>
                    <a:pt x="5934" y="5934"/>
                  </a:cubicBezTo>
                  <a:cubicBezTo>
                    <a:pt x="9734" y="2135"/>
                    <a:pt x="14887" y="0"/>
                    <a:pt x="20260" y="0"/>
                  </a:cubicBezTo>
                  <a:close/>
                </a:path>
              </a:pathLst>
            </a:custGeom>
            <a:solidFill>
              <a:srgbClr val="FFFFFF"/>
            </a:solidFill>
          </p:spPr>
        </p:sp>
        <p:sp>
          <p:nvSpPr>
            <p:cNvPr id="16" name="TextBox 16"/>
            <p:cNvSpPr txBox="1"/>
            <p:nvPr/>
          </p:nvSpPr>
          <p:spPr>
            <a:xfrm>
              <a:off x="0" y="-47625"/>
              <a:ext cx="2012815" cy="561440"/>
            </a:xfrm>
            <a:prstGeom prst="rect">
              <a:avLst/>
            </a:prstGeom>
          </p:spPr>
          <p:txBody>
            <a:bodyPr lIns="50800" tIns="50800" rIns="50800" bIns="50800" rtlCol="0" anchor="ctr"/>
            <a:lstStyle/>
            <a:p>
              <a:pPr algn="ctr">
                <a:lnSpc>
                  <a:spcPts val="3500"/>
                </a:lnSpc>
              </a:pPr>
              <a:endParaRPr/>
            </a:p>
          </p:txBody>
        </p:sp>
      </p:grpSp>
      <p:sp>
        <p:nvSpPr>
          <p:cNvPr id="17" name="TextBox 17"/>
          <p:cNvSpPr txBox="1"/>
          <p:nvPr/>
        </p:nvSpPr>
        <p:spPr>
          <a:xfrm>
            <a:off x="10306270" y="1793057"/>
            <a:ext cx="7432023" cy="1054001"/>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3045A"/>
                </a:solidFill>
                <a:latin typeface="Open Sauce"/>
                <a:ea typeface="Open Sauce"/>
                <a:cs typeface="Open Sauce"/>
                <a:sym typeface="Open Sauce"/>
              </a:rPr>
              <a:t>Efektivitas Komunikasi Bencana melalui Media Sosial dalam Sitem Peringatan Dini Cuaca Ekkstrem oleh BPBD Kabupaten Pinrang</a:t>
            </a:r>
          </a:p>
        </p:txBody>
      </p:sp>
      <p:grpSp>
        <p:nvGrpSpPr>
          <p:cNvPr id="18" name="Group 18"/>
          <p:cNvGrpSpPr/>
          <p:nvPr/>
        </p:nvGrpSpPr>
        <p:grpSpPr>
          <a:xfrm>
            <a:off x="11245390" y="4380618"/>
            <a:ext cx="3522231" cy="2228926"/>
            <a:chOff x="0" y="0"/>
            <a:chExt cx="927666" cy="587042"/>
          </a:xfrm>
        </p:grpSpPr>
        <p:sp>
          <p:nvSpPr>
            <p:cNvPr id="19" name="Freeform 19"/>
            <p:cNvSpPr/>
            <p:nvPr/>
          </p:nvSpPr>
          <p:spPr>
            <a:xfrm>
              <a:off x="0" y="0"/>
              <a:ext cx="927666" cy="587042"/>
            </a:xfrm>
            <a:custGeom>
              <a:avLst/>
              <a:gdLst/>
              <a:ahLst/>
              <a:cxnLst/>
              <a:rect l="l" t="t" r="r" b="b"/>
              <a:pathLst>
                <a:path w="927666" h="587042">
                  <a:moveTo>
                    <a:pt x="43960" y="0"/>
                  </a:moveTo>
                  <a:lnTo>
                    <a:pt x="883706" y="0"/>
                  </a:lnTo>
                  <a:cubicBezTo>
                    <a:pt x="907984" y="0"/>
                    <a:pt x="927666" y="19682"/>
                    <a:pt x="927666" y="43960"/>
                  </a:cubicBezTo>
                  <a:lnTo>
                    <a:pt x="927666" y="543082"/>
                  </a:lnTo>
                  <a:cubicBezTo>
                    <a:pt x="927666" y="567360"/>
                    <a:pt x="907984" y="587042"/>
                    <a:pt x="883706" y="587042"/>
                  </a:cubicBezTo>
                  <a:lnTo>
                    <a:pt x="43960" y="587042"/>
                  </a:lnTo>
                  <a:cubicBezTo>
                    <a:pt x="19682" y="587042"/>
                    <a:pt x="0" y="567360"/>
                    <a:pt x="0" y="543082"/>
                  </a:cubicBezTo>
                  <a:lnTo>
                    <a:pt x="0" y="43960"/>
                  </a:lnTo>
                  <a:cubicBezTo>
                    <a:pt x="0" y="19682"/>
                    <a:pt x="19682" y="0"/>
                    <a:pt x="43960" y="0"/>
                  </a:cubicBezTo>
                  <a:close/>
                </a:path>
              </a:pathLst>
            </a:custGeom>
            <a:solidFill>
              <a:srgbClr val="FFFFFF"/>
            </a:solidFill>
          </p:spPr>
        </p:sp>
        <p:sp>
          <p:nvSpPr>
            <p:cNvPr id="20" name="TextBox 20"/>
            <p:cNvSpPr txBox="1"/>
            <p:nvPr/>
          </p:nvSpPr>
          <p:spPr>
            <a:xfrm>
              <a:off x="0" y="-47625"/>
              <a:ext cx="927666" cy="634667"/>
            </a:xfrm>
            <a:prstGeom prst="rect">
              <a:avLst/>
            </a:prstGeom>
          </p:spPr>
          <p:txBody>
            <a:bodyPr lIns="50800" tIns="50800" rIns="50800" bIns="50800" rtlCol="0" anchor="ctr"/>
            <a:lstStyle/>
            <a:p>
              <a:pPr algn="ctr">
                <a:lnSpc>
                  <a:spcPts val="3500"/>
                </a:lnSpc>
              </a:pPr>
              <a:endParaRPr/>
            </a:p>
          </p:txBody>
        </p:sp>
      </p:grpSp>
      <p:sp>
        <p:nvSpPr>
          <p:cNvPr id="21" name="TextBox 21"/>
          <p:cNvSpPr txBox="1"/>
          <p:nvPr/>
        </p:nvSpPr>
        <p:spPr>
          <a:xfrm>
            <a:off x="11350581" y="4629055"/>
            <a:ext cx="3694192" cy="1758785"/>
          </a:xfrm>
          <a:prstGeom prst="rect">
            <a:avLst/>
          </a:prstGeom>
        </p:spPr>
        <p:txBody>
          <a:bodyPr lIns="0" tIns="0" rIns="0" bIns="0" rtlCol="0" anchor="t">
            <a:spAutoFit/>
          </a:bodyPr>
          <a:lstStyle/>
          <a:p>
            <a:pPr marL="0" lvl="0" indent="0" algn="l">
              <a:lnSpc>
                <a:spcPts val="2800"/>
              </a:lnSpc>
              <a:spcBef>
                <a:spcPct val="0"/>
              </a:spcBef>
            </a:pPr>
            <a:r>
              <a:rPr lang="en-US" sz="2000">
                <a:solidFill>
                  <a:srgbClr val="03045A"/>
                </a:solidFill>
                <a:latin typeface="Open Sauce"/>
                <a:ea typeface="Open Sauce"/>
                <a:cs typeface="Open Sauce"/>
                <a:sym typeface="Open Sauce"/>
              </a:rPr>
              <a:t>Teori </a:t>
            </a:r>
            <a:r>
              <a:rPr lang="en-US" sz="2000" u="none" strike="noStrike">
                <a:solidFill>
                  <a:srgbClr val="03045A"/>
                </a:solidFill>
                <a:latin typeface="Open Sauce"/>
                <a:ea typeface="Open Sauce"/>
                <a:cs typeface="Open Sauce"/>
                <a:sym typeface="Open Sauce"/>
              </a:rPr>
              <a:t>Efektivitas Duncan (1973)</a:t>
            </a:r>
          </a:p>
          <a:p>
            <a:pPr marL="431801" lvl="1" indent="-215900" algn="l">
              <a:lnSpc>
                <a:spcPts val="2800"/>
              </a:lnSpc>
              <a:buAutoNum type="arabicPeriod"/>
            </a:pPr>
            <a:r>
              <a:rPr lang="en-US" sz="2000" u="none" strike="noStrike">
                <a:solidFill>
                  <a:srgbClr val="03045A"/>
                </a:solidFill>
                <a:latin typeface="Open Sauce"/>
                <a:ea typeface="Open Sauce"/>
                <a:cs typeface="Open Sauce"/>
                <a:sym typeface="Open Sauce"/>
              </a:rPr>
              <a:t>Pencapaian Tujuan</a:t>
            </a:r>
          </a:p>
          <a:p>
            <a:pPr marL="431801" lvl="1" indent="-215900" algn="l">
              <a:lnSpc>
                <a:spcPts val="2800"/>
              </a:lnSpc>
              <a:buAutoNum type="arabicPeriod"/>
            </a:pPr>
            <a:r>
              <a:rPr lang="en-US" sz="2000" u="none" strike="noStrike">
                <a:solidFill>
                  <a:srgbClr val="03045A"/>
                </a:solidFill>
                <a:latin typeface="Open Sauce"/>
                <a:ea typeface="Open Sauce"/>
                <a:cs typeface="Open Sauce"/>
                <a:sym typeface="Open Sauce"/>
              </a:rPr>
              <a:t>Integrasi</a:t>
            </a:r>
          </a:p>
          <a:p>
            <a:pPr marL="431801" lvl="1" indent="-215900" algn="l">
              <a:lnSpc>
                <a:spcPts val="2800"/>
              </a:lnSpc>
              <a:buAutoNum type="arabicPeriod"/>
            </a:pPr>
            <a:r>
              <a:rPr lang="en-US" sz="2000" u="none" strike="noStrike">
                <a:solidFill>
                  <a:srgbClr val="03045A"/>
                </a:solidFill>
                <a:latin typeface="Open Sauce"/>
                <a:ea typeface="Open Sauce"/>
                <a:cs typeface="Open Sauce"/>
                <a:sym typeface="Open Sauce"/>
              </a:rPr>
              <a:t>Adaptasi</a:t>
            </a:r>
          </a:p>
        </p:txBody>
      </p:sp>
      <p:sp>
        <p:nvSpPr>
          <p:cNvPr id="22" name="Freeform 22"/>
          <p:cNvSpPr/>
          <p:nvPr/>
        </p:nvSpPr>
        <p:spPr>
          <a:xfrm rot="5400000">
            <a:off x="12662142" y="3519908"/>
            <a:ext cx="688729" cy="688729"/>
          </a:xfrm>
          <a:custGeom>
            <a:avLst/>
            <a:gdLst/>
            <a:ahLst/>
            <a:cxnLst/>
            <a:rect l="l" t="t" r="r" b="b"/>
            <a:pathLst>
              <a:path w="688729" h="688729">
                <a:moveTo>
                  <a:pt x="0" y="0"/>
                </a:moveTo>
                <a:lnTo>
                  <a:pt x="688728" y="0"/>
                </a:lnTo>
                <a:lnTo>
                  <a:pt x="688728"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3" name="Group 23"/>
          <p:cNvGrpSpPr/>
          <p:nvPr/>
        </p:nvGrpSpPr>
        <p:grpSpPr>
          <a:xfrm>
            <a:off x="8423833" y="4530329"/>
            <a:ext cx="1991653" cy="1651469"/>
            <a:chOff x="0" y="0"/>
            <a:chExt cx="524551" cy="434955"/>
          </a:xfrm>
        </p:grpSpPr>
        <p:sp>
          <p:nvSpPr>
            <p:cNvPr id="24" name="Freeform 24"/>
            <p:cNvSpPr/>
            <p:nvPr/>
          </p:nvSpPr>
          <p:spPr>
            <a:xfrm>
              <a:off x="0" y="0"/>
              <a:ext cx="524551" cy="434955"/>
            </a:xfrm>
            <a:custGeom>
              <a:avLst/>
              <a:gdLst/>
              <a:ahLst/>
              <a:cxnLst/>
              <a:rect l="l" t="t" r="r" b="b"/>
              <a:pathLst>
                <a:path w="524551" h="434955">
                  <a:moveTo>
                    <a:pt x="77744" y="0"/>
                  </a:moveTo>
                  <a:lnTo>
                    <a:pt x="446807" y="0"/>
                  </a:lnTo>
                  <a:cubicBezTo>
                    <a:pt x="467426" y="0"/>
                    <a:pt x="487200" y="8191"/>
                    <a:pt x="501780" y="22771"/>
                  </a:cubicBezTo>
                  <a:cubicBezTo>
                    <a:pt x="516360" y="37350"/>
                    <a:pt x="524551" y="57125"/>
                    <a:pt x="524551" y="77744"/>
                  </a:cubicBezTo>
                  <a:lnTo>
                    <a:pt x="524551" y="357211"/>
                  </a:lnTo>
                  <a:cubicBezTo>
                    <a:pt x="524551" y="377830"/>
                    <a:pt x="516360" y="397604"/>
                    <a:pt x="501780" y="412184"/>
                  </a:cubicBezTo>
                  <a:cubicBezTo>
                    <a:pt x="487200" y="426764"/>
                    <a:pt x="467426" y="434955"/>
                    <a:pt x="446807" y="434955"/>
                  </a:cubicBezTo>
                  <a:lnTo>
                    <a:pt x="77744" y="434955"/>
                  </a:lnTo>
                  <a:cubicBezTo>
                    <a:pt x="57125" y="434955"/>
                    <a:pt x="37350" y="426764"/>
                    <a:pt x="22771" y="412184"/>
                  </a:cubicBezTo>
                  <a:cubicBezTo>
                    <a:pt x="8191" y="397604"/>
                    <a:pt x="0" y="377830"/>
                    <a:pt x="0" y="357211"/>
                  </a:cubicBezTo>
                  <a:lnTo>
                    <a:pt x="0" y="77744"/>
                  </a:lnTo>
                  <a:cubicBezTo>
                    <a:pt x="0" y="57125"/>
                    <a:pt x="8191" y="37350"/>
                    <a:pt x="22771" y="22771"/>
                  </a:cubicBezTo>
                  <a:cubicBezTo>
                    <a:pt x="37350" y="8191"/>
                    <a:pt x="57125" y="0"/>
                    <a:pt x="77744" y="0"/>
                  </a:cubicBezTo>
                  <a:close/>
                </a:path>
              </a:pathLst>
            </a:custGeom>
            <a:solidFill>
              <a:srgbClr val="FFFFFF"/>
            </a:solidFill>
          </p:spPr>
        </p:sp>
        <p:sp>
          <p:nvSpPr>
            <p:cNvPr id="25" name="TextBox 25"/>
            <p:cNvSpPr txBox="1"/>
            <p:nvPr/>
          </p:nvSpPr>
          <p:spPr>
            <a:xfrm>
              <a:off x="0" y="-47625"/>
              <a:ext cx="524551" cy="482580"/>
            </a:xfrm>
            <a:prstGeom prst="rect">
              <a:avLst/>
            </a:prstGeom>
          </p:spPr>
          <p:txBody>
            <a:bodyPr lIns="50800" tIns="50800" rIns="50800" bIns="50800" rtlCol="0" anchor="ctr"/>
            <a:lstStyle/>
            <a:p>
              <a:pPr algn="ctr">
                <a:lnSpc>
                  <a:spcPts val="3500"/>
                </a:lnSpc>
              </a:pPr>
              <a:endParaRPr/>
            </a:p>
          </p:txBody>
        </p:sp>
      </p:grpSp>
      <p:sp>
        <p:nvSpPr>
          <p:cNvPr id="26" name="TextBox 26"/>
          <p:cNvSpPr txBox="1"/>
          <p:nvPr/>
        </p:nvSpPr>
        <p:spPr>
          <a:xfrm>
            <a:off x="8095028" y="4778766"/>
            <a:ext cx="2598493" cy="701609"/>
          </a:xfrm>
          <a:prstGeom prst="rect">
            <a:avLst/>
          </a:prstGeom>
        </p:spPr>
        <p:txBody>
          <a:bodyPr lIns="0" tIns="0" rIns="0" bIns="0" rtlCol="0" anchor="t">
            <a:spAutoFit/>
          </a:bodyPr>
          <a:lstStyle/>
          <a:p>
            <a:pPr algn="ctr">
              <a:lnSpc>
                <a:spcPts val="2800"/>
              </a:lnSpc>
            </a:pPr>
            <a:r>
              <a:rPr lang="en-US" sz="2000">
                <a:solidFill>
                  <a:srgbClr val="03045A"/>
                </a:solidFill>
                <a:latin typeface="Open Sauce"/>
                <a:ea typeface="Open Sauce"/>
                <a:cs typeface="Open Sauce"/>
                <a:sym typeface="Open Sauce"/>
              </a:rPr>
              <a:t>Upay</a:t>
            </a:r>
            <a:r>
              <a:rPr lang="en-US" sz="2000" u="none" strike="noStrike">
                <a:solidFill>
                  <a:srgbClr val="03045A"/>
                </a:solidFill>
                <a:latin typeface="Open Sauce"/>
                <a:ea typeface="Open Sauce"/>
                <a:cs typeface="Open Sauce"/>
                <a:sym typeface="Open Sauce"/>
              </a:rPr>
              <a:t>a untuk mengatasi hambatan</a:t>
            </a:r>
          </a:p>
        </p:txBody>
      </p:sp>
      <p:sp>
        <p:nvSpPr>
          <p:cNvPr id="27" name="Freeform 27"/>
          <p:cNvSpPr/>
          <p:nvPr/>
        </p:nvSpPr>
        <p:spPr>
          <a:xfrm>
            <a:off x="10486074" y="5069347"/>
            <a:ext cx="688729" cy="688729"/>
          </a:xfrm>
          <a:custGeom>
            <a:avLst/>
            <a:gdLst/>
            <a:ahLst/>
            <a:cxnLst/>
            <a:rect l="l" t="t" r="r" b="b"/>
            <a:pathLst>
              <a:path w="688729" h="688729">
                <a:moveTo>
                  <a:pt x="0" y="0"/>
                </a:moveTo>
                <a:lnTo>
                  <a:pt x="688729" y="0"/>
                </a:lnTo>
                <a:lnTo>
                  <a:pt x="688729"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8" name="Group 28"/>
          <p:cNvGrpSpPr/>
          <p:nvPr/>
        </p:nvGrpSpPr>
        <p:grpSpPr>
          <a:xfrm>
            <a:off x="15712813" y="4503844"/>
            <a:ext cx="1991653" cy="1651469"/>
            <a:chOff x="0" y="0"/>
            <a:chExt cx="524551" cy="434955"/>
          </a:xfrm>
        </p:grpSpPr>
        <p:sp>
          <p:nvSpPr>
            <p:cNvPr id="29" name="Freeform 29"/>
            <p:cNvSpPr/>
            <p:nvPr/>
          </p:nvSpPr>
          <p:spPr>
            <a:xfrm>
              <a:off x="0" y="0"/>
              <a:ext cx="524551" cy="434955"/>
            </a:xfrm>
            <a:custGeom>
              <a:avLst/>
              <a:gdLst/>
              <a:ahLst/>
              <a:cxnLst/>
              <a:rect l="l" t="t" r="r" b="b"/>
              <a:pathLst>
                <a:path w="524551" h="434955">
                  <a:moveTo>
                    <a:pt x="77744" y="0"/>
                  </a:moveTo>
                  <a:lnTo>
                    <a:pt x="446807" y="0"/>
                  </a:lnTo>
                  <a:cubicBezTo>
                    <a:pt x="467426" y="0"/>
                    <a:pt x="487200" y="8191"/>
                    <a:pt x="501780" y="22771"/>
                  </a:cubicBezTo>
                  <a:cubicBezTo>
                    <a:pt x="516360" y="37350"/>
                    <a:pt x="524551" y="57125"/>
                    <a:pt x="524551" y="77744"/>
                  </a:cubicBezTo>
                  <a:lnTo>
                    <a:pt x="524551" y="357211"/>
                  </a:lnTo>
                  <a:cubicBezTo>
                    <a:pt x="524551" y="377830"/>
                    <a:pt x="516360" y="397604"/>
                    <a:pt x="501780" y="412184"/>
                  </a:cubicBezTo>
                  <a:cubicBezTo>
                    <a:pt x="487200" y="426764"/>
                    <a:pt x="467426" y="434955"/>
                    <a:pt x="446807" y="434955"/>
                  </a:cubicBezTo>
                  <a:lnTo>
                    <a:pt x="77744" y="434955"/>
                  </a:lnTo>
                  <a:cubicBezTo>
                    <a:pt x="57125" y="434955"/>
                    <a:pt x="37350" y="426764"/>
                    <a:pt x="22771" y="412184"/>
                  </a:cubicBezTo>
                  <a:cubicBezTo>
                    <a:pt x="8191" y="397604"/>
                    <a:pt x="0" y="377830"/>
                    <a:pt x="0" y="357211"/>
                  </a:cubicBezTo>
                  <a:lnTo>
                    <a:pt x="0" y="77744"/>
                  </a:lnTo>
                  <a:cubicBezTo>
                    <a:pt x="0" y="57125"/>
                    <a:pt x="8191" y="37350"/>
                    <a:pt x="22771" y="22771"/>
                  </a:cubicBezTo>
                  <a:cubicBezTo>
                    <a:pt x="37350" y="8191"/>
                    <a:pt x="57125" y="0"/>
                    <a:pt x="77744" y="0"/>
                  </a:cubicBezTo>
                  <a:close/>
                </a:path>
              </a:pathLst>
            </a:custGeom>
            <a:solidFill>
              <a:srgbClr val="FFFFFF"/>
            </a:solidFill>
          </p:spPr>
        </p:sp>
        <p:sp>
          <p:nvSpPr>
            <p:cNvPr id="30" name="TextBox 30"/>
            <p:cNvSpPr txBox="1"/>
            <p:nvPr/>
          </p:nvSpPr>
          <p:spPr>
            <a:xfrm>
              <a:off x="0" y="-47625"/>
              <a:ext cx="524551" cy="482580"/>
            </a:xfrm>
            <a:prstGeom prst="rect">
              <a:avLst/>
            </a:prstGeom>
          </p:spPr>
          <p:txBody>
            <a:bodyPr lIns="50800" tIns="50800" rIns="50800" bIns="50800" rtlCol="0" anchor="ctr"/>
            <a:lstStyle/>
            <a:p>
              <a:pPr algn="ctr">
                <a:lnSpc>
                  <a:spcPts val="3500"/>
                </a:lnSpc>
              </a:pPr>
              <a:endParaRPr/>
            </a:p>
          </p:txBody>
        </p:sp>
      </p:grpSp>
      <p:sp>
        <p:nvSpPr>
          <p:cNvPr id="31" name="TextBox 31"/>
          <p:cNvSpPr txBox="1"/>
          <p:nvPr/>
        </p:nvSpPr>
        <p:spPr>
          <a:xfrm>
            <a:off x="15523025" y="4965124"/>
            <a:ext cx="2320458" cy="701609"/>
          </a:xfrm>
          <a:prstGeom prst="rect">
            <a:avLst/>
          </a:prstGeom>
        </p:spPr>
        <p:txBody>
          <a:bodyPr lIns="0" tIns="0" rIns="0" bIns="0" rtlCol="0" anchor="t">
            <a:spAutoFit/>
          </a:bodyPr>
          <a:lstStyle/>
          <a:p>
            <a:pPr algn="ctr">
              <a:lnSpc>
                <a:spcPts val="2800"/>
              </a:lnSpc>
            </a:pPr>
            <a:r>
              <a:rPr lang="en-US" sz="2000">
                <a:solidFill>
                  <a:srgbClr val="03045A"/>
                </a:solidFill>
                <a:latin typeface="Open Sauce"/>
                <a:ea typeface="Open Sauce"/>
                <a:cs typeface="Open Sauce"/>
                <a:sym typeface="Open Sauce"/>
              </a:rPr>
              <a:t>F</a:t>
            </a:r>
            <a:r>
              <a:rPr lang="en-US" sz="2000" u="none" strike="noStrike">
                <a:solidFill>
                  <a:srgbClr val="03045A"/>
                </a:solidFill>
                <a:latin typeface="Open Sauce"/>
                <a:ea typeface="Open Sauce"/>
                <a:cs typeface="Open Sauce"/>
                <a:sym typeface="Open Sauce"/>
              </a:rPr>
              <a:t>aktor Penghambat</a:t>
            </a:r>
          </a:p>
        </p:txBody>
      </p:sp>
      <p:sp>
        <p:nvSpPr>
          <p:cNvPr id="32" name="Freeform 32"/>
          <p:cNvSpPr/>
          <p:nvPr/>
        </p:nvSpPr>
        <p:spPr>
          <a:xfrm rot="-10799999">
            <a:off x="14834297" y="4958730"/>
            <a:ext cx="688729" cy="688729"/>
          </a:xfrm>
          <a:custGeom>
            <a:avLst/>
            <a:gdLst/>
            <a:ahLst/>
            <a:cxnLst/>
            <a:rect l="l" t="t" r="r" b="b"/>
            <a:pathLst>
              <a:path w="688729" h="688729">
                <a:moveTo>
                  <a:pt x="0" y="0"/>
                </a:moveTo>
                <a:lnTo>
                  <a:pt x="688728" y="0"/>
                </a:lnTo>
                <a:lnTo>
                  <a:pt x="688728"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3" name="Group 33"/>
          <p:cNvGrpSpPr/>
          <p:nvPr/>
        </p:nvGrpSpPr>
        <p:grpSpPr>
          <a:xfrm>
            <a:off x="9558405" y="7409644"/>
            <a:ext cx="7642405" cy="1950891"/>
            <a:chOff x="0" y="0"/>
            <a:chExt cx="2012815" cy="513815"/>
          </a:xfrm>
        </p:grpSpPr>
        <p:sp>
          <p:nvSpPr>
            <p:cNvPr id="34" name="Freeform 34"/>
            <p:cNvSpPr/>
            <p:nvPr/>
          </p:nvSpPr>
          <p:spPr>
            <a:xfrm>
              <a:off x="0" y="0"/>
              <a:ext cx="2012815" cy="513815"/>
            </a:xfrm>
            <a:custGeom>
              <a:avLst/>
              <a:gdLst/>
              <a:ahLst/>
              <a:cxnLst/>
              <a:rect l="l" t="t" r="r" b="b"/>
              <a:pathLst>
                <a:path w="2012815" h="513815">
                  <a:moveTo>
                    <a:pt x="20260" y="0"/>
                  </a:moveTo>
                  <a:lnTo>
                    <a:pt x="1992554" y="0"/>
                  </a:lnTo>
                  <a:cubicBezTo>
                    <a:pt x="1997927" y="0"/>
                    <a:pt x="2003081" y="2135"/>
                    <a:pt x="2006880" y="5934"/>
                  </a:cubicBezTo>
                  <a:cubicBezTo>
                    <a:pt x="2010680" y="9734"/>
                    <a:pt x="2012815" y="14887"/>
                    <a:pt x="2012815" y="20260"/>
                  </a:cubicBezTo>
                  <a:lnTo>
                    <a:pt x="2012815" y="493554"/>
                  </a:lnTo>
                  <a:cubicBezTo>
                    <a:pt x="2012815" y="498928"/>
                    <a:pt x="2010680" y="504081"/>
                    <a:pt x="2006880" y="507881"/>
                  </a:cubicBezTo>
                  <a:cubicBezTo>
                    <a:pt x="2003081" y="511680"/>
                    <a:pt x="1997927" y="513815"/>
                    <a:pt x="1992554" y="513815"/>
                  </a:cubicBezTo>
                  <a:lnTo>
                    <a:pt x="20260" y="513815"/>
                  </a:lnTo>
                  <a:cubicBezTo>
                    <a:pt x="14887" y="513815"/>
                    <a:pt x="9734" y="511680"/>
                    <a:pt x="5934" y="507881"/>
                  </a:cubicBezTo>
                  <a:cubicBezTo>
                    <a:pt x="2135" y="504081"/>
                    <a:pt x="0" y="498928"/>
                    <a:pt x="0" y="493554"/>
                  </a:cubicBezTo>
                  <a:lnTo>
                    <a:pt x="0" y="20260"/>
                  </a:lnTo>
                  <a:cubicBezTo>
                    <a:pt x="0" y="14887"/>
                    <a:pt x="2135" y="9734"/>
                    <a:pt x="5934" y="5934"/>
                  </a:cubicBezTo>
                  <a:cubicBezTo>
                    <a:pt x="9734" y="2135"/>
                    <a:pt x="14887" y="0"/>
                    <a:pt x="20260" y="0"/>
                  </a:cubicBezTo>
                  <a:close/>
                </a:path>
              </a:pathLst>
            </a:custGeom>
            <a:solidFill>
              <a:srgbClr val="FFFFFF"/>
            </a:solidFill>
          </p:spPr>
        </p:sp>
        <p:sp>
          <p:nvSpPr>
            <p:cNvPr id="35" name="TextBox 35"/>
            <p:cNvSpPr txBox="1"/>
            <p:nvPr/>
          </p:nvSpPr>
          <p:spPr>
            <a:xfrm>
              <a:off x="0" y="-47625"/>
              <a:ext cx="2012815" cy="561440"/>
            </a:xfrm>
            <a:prstGeom prst="rect">
              <a:avLst/>
            </a:prstGeom>
          </p:spPr>
          <p:txBody>
            <a:bodyPr lIns="50800" tIns="50800" rIns="50800" bIns="50800" rtlCol="0" anchor="ctr"/>
            <a:lstStyle/>
            <a:p>
              <a:pPr algn="ctr">
                <a:lnSpc>
                  <a:spcPts val="3500"/>
                </a:lnSpc>
              </a:pPr>
              <a:endParaRPr/>
            </a:p>
          </p:txBody>
        </p:sp>
      </p:grpSp>
      <p:sp>
        <p:nvSpPr>
          <p:cNvPr id="36" name="TextBox 36"/>
          <p:cNvSpPr txBox="1"/>
          <p:nvPr/>
        </p:nvSpPr>
        <p:spPr>
          <a:xfrm>
            <a:off x="9663596" y="7658081"/>
            <a:ext cx="7432023" cy="1406393"/>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3045A"/>
                </a:solidFill>
                <a:latin typeface="Open Sauce"/>
                <a:ea typeface="Open Sauce"/>
                <a:cs typeface="Open Sauce"/>
                <a:sym typeface="Open Sauce"/>
              </a:rPr>
              <a:t>T</a:t>
            </a:r>
            <a:r>
              <a:rPr lang="en-US" sz="2000" u="none" strike="noStrike">
                <a:solidFill>
                  <a:srgbClr val="03045A"/>
                </a:solidFill>
                <a:latin typeface="Open Sauce"/>
                <a:ea typeface="Open Sauce"/>
                <a:cs typeface="Open Sauce"/>
                <a:sym typeface="Open Sauce"/>
              </a:rPr>
              <a:t>erwujudnya sistem komunikasi kebencanaan berbasis media sosial yang efektif, interaktif, dan adaptif dalam meningkatkan kesiapsiagaan masyarakat terhadap cuaca ekstrem di Kabupaten Pinrang</a:t>
            </a:r>
          </a:p>
        </p:txBody>
      </p:sp>
      <p:sp>
        <p:nvSpPr>
          <p:cNvPr id="37" name="Freeform 37"/>
          <p:cNvSpPr/>
          <p:nvPr/>
        </p:nvSpPr>
        <p:spPr>
          <a:xfrm rot="5400000">
            <a:off x="12690879" y="6665230"/>
            <a:ext cx="688729" cy="688729"/>
          </a:xfrm>
          <a:custGeom>
            <a:avLst/>
            <a:gdLst/>
            <a:ahLst/>
            <a:cxnLst/>
            <a:rect l="l" t="t" r="r" b="b"/>
            <a:pathLst>
              <a:path w="688729" h="688729">
                <a:moveTo>
                  <a:pt x="0" y="0"/>
                </a:moveTo>
                <a:lnTo>
                  <a:pt x="688728" y="0"/>
                </a:lnTo>
                <a:lnTo>
                  <a:pt x="688728"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8" name="Freeform 38"/>
          <p:cNvSpPr/>
          <p:nvPr/>
        </p:nvSpPr>
        <p:spPr>
          <a:xfrm>
            <a:off x="8381542" y="171755"/>
            <a:ext cx="1176863" cy="1176863"/>
          </a:xfrm>
          <a:custGeom>
            <a:avLst/>
            <a:gdLst/>
            <a:ahLst/>
            <a:cxnLst/>
            <a:rect l="l" t="t" r="r" b="b"/>
            <a:pathLst>
              <a:path w="1176863" h="1176863">
                <a:moveTo>
                  <a:pt x="0" y="0"/>
                </a:moveTo>
                <a:lnTo>
                  <a:pt x="1176863" y="0"/>
                </a:lnTo>
                <a:lnTo>
                  <a:pt x="1176863" y="1176863"/>
                </a:lnTo>
                <a:lnTo>
                  <a:pt x="0" y="1176863"/>
                </a:lnTo>
                <a:lnTo>
                  <a:pt x="0" y="0"/>
                </a:lnTo>
                <a:close/>
              </a:path>
            </a:pathLst>
          </a:custGeom>
          <a:blipFill>
            <a:blip r:embed="rId8"/>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Freeform 2"/>
          <p:cNvSpPr/>
          <p:nvPr/>
        </p:nvSpPr>
        <p:spPr>
          <a:xfrm>
            <a:off x="1028700" y="3448791"/>
            <a:ext cx="243681" cy="243681"/>
          </a:xfrm>
          <a:custGeom>
            <a:avLst/>
            <a:gdLst/>
            <a:ahLst/>
            <a:cxnLst/>
            <a:rect l="l" t="t" r="r" b="b"/>
            <a:pathLst>
              <a:path w="243681" h="243681">
                <a:moveTo>
                  <a:pt x="0" y="0"/>
                </a:moveTo>
                <a:lnTo>
                  <a:pt x="243681" y="0"/>
                </a:lnTo>
                <a:lnTo>
                  <a:pt x="243681" y="243681"/>
                </a:lnTo>
                <a:lnTo>
                  <a:pt x="0" y="243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7653087"/>
            <a:ext cx="1544385" cy="154438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2961099" y="-5975616"/>
            <a:ext cx="3086100" cy="10287000"/>
            <a:chOff x="0" y="0"/>
            <a:chExt cx="812800" cy="2709333"/>
          </a:xfrm>
        </p:grpSpPr>
        <p:sp>
          <p:nvSpPr>
            <p:cNvPr id="7" name="Freeform 7"/>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8" name="TextBox 8"/>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a:off x="1415066" y="8029928"/>
            <a:ext cx="790703" cy="790703"/>
          </a:xfrm>
          <a:custGeom>
            <a:avLst/>
            <a:gdLst/>
            <a:ahLst/>
            <a:cxnLst/>
            <a:rect l="l" t="t" r="r" b="b"/>
            <a:pathLst>
              <a:path w="790703" h="790703">
                <a:moveTo>
                  <a:pt x="0" y="0"/>
                </a:moveTo>
                <a:lnTo>
                  <a:pt x="790703" y="0"/>
                </a:lnTo>
                <a:lnTo>
                  <a:pt x="790703" y="790703"/>
                </a:lnTo>
                <a:lnTo>
                  <a:pt x="0" y="7907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874654" y="7944992"/>
            <a:ext cx="3008405" cy="960574"/>
          </a:xfrm>
          <a:custGeom>
            <a:avLst/>
            <a:gdLst/>
            <a:ahLst/>
            <a:cxnLst/>
            <a:rect l="l" t="t" r="r" b="b"/>
            <a:pathLst>
              <a:path w="3008405" h="960574">
                <a:moveTo>
                  <a:pt x="0" y="0"/>
                </a:moveTo>
                <a:lnTo>
                  <a:pt x="3008404" y="0"/>
                </a:lnTo>
                <a:lnTo>
                  <a:pt x="3008404" y="960574"/>
                </a:lnTo>
                <a:lnTo>
                  <a:pt x="0" y="9605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028700" y="1028700"/>
            <a:ext cx="2655387" cy="847857"/>
          </a:xfrm>
          <a:custGeom>
            <a:avLst/>
            <a:gdLst/>
            <a:ahLst/>
            <a:cxnLst/>
            <a:rect l="l" t="t" r="r" b="b"/>
            <a:pathLst>
              <a:path w="2655387" h="847857">
                <a:moveTo>
                  <a:pt x="0" y="0"/>
                </a:moveTo>
                <a:lnTo>
                  <a:pt x="2655387" y="0"/>
                </a:lnTo>
                <a:lnTo>
                  <a:pt x="2655387" y="847857"/>
                </a:lnTo>
                <a:lnTo>
                  <a:pt x="0" y="8478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2718303" y="3349019"/>
            <a:ext cx="3571692" cy="3571692"/>
          </a:xfrm>
          <a:custGeom>
            <a:avLst/>
            <a:gdLst/>
            <a:ahLst/>
            <a:cxnLst/>
            <a:rect l="l" t="t" r="r" b="b"/>
            <a:pathLst>
              <a:path w="3571692" h="3571692">
                <a:moveTo>
                  <a:pt x="0" y="0"/>
                </a:moveTo>
                <a:lnTo>
                  <a:pt x="3571692" y="0"/>
                </a:lnTo>
                <a:lnTo>
                  <a:pt x="3571692" y="3571692"/>
                </a:lnTo>
                <a:lnTo>
                  <a:pt x="0" y="3571692"/>
                </a:lnTo>
                <a:lnTo>
                  <a:pt x="0" y="0"/>
                </a:lnTo>
                <a:close/>
              </a:path>
            </a:pathLst>
          </a:custGeom>
          <a:blipFill>
            <a:blip r:embed="rId8"/>
            <a:stretch>
              <a:fillRect/>
            </a:stretch>
          </a:blipFill>
        </p:spPr>
      </p:sp>
      <p:sp>
        <p:nvSpPr>
          <p:cNvPr id="13" name="Freeform 13"/>
          <p:cNvSpPr/>
          <p:nvPr/>
        </p:nvSpPr>
        <p:spPr>
          <a:xfrm>
            <a:off x="7975920" y="2548370"/>
            <a:ext cx="12484855" cy="8229600"/>
          </a:xfrm>
          <a:custGeom>
            <a:avLst/>
            <a:gdLst/>
            <a:ahLst/>
            <a:cxnLst/>
            <a:rect l="l" t="t" r="r" b="b"/>
            <a:pathLst>
              <a:path w="12484855" h="8229600">
                <a:moveTo>
                  <a:pt x="0" y="0"/>
                </a:moveTo>
                <a:lnTo>
                  <a:pt x="12484855" y="0"/>
                </a:lnTo>
                <a:lnTo>
                  <a:pt x="12484855" y="8229600"/>
                </a:lnTo>
                <a:lnTo>
                  <a:pt x="0" y="8229600"/>
                </a:lnTo>
                <a:lnTo>
                  <a:pt x="0" y="0"/>
                </a:lnTo>
                <a:close/>
              </a:path>
            </a:pathLst>
          </a:custGeom>
          <a:blipFill>
            <a:blip r:embed="rId9"/>
            <a:stretch>
              <a:fillRect/>
            </a:stretch>
          </a:blipFill>
        </p:spPr>
      </p:sp>
      <p:sp>
        <p:nvSpPr>
          <p:cNvPr id="14" name="TextBox 14"/>
          <p:cNvSpPr txBox="1"/>
          <p:nvPr/>
        </p:nvSpPr>
        <p:spPr>
          <a:xfrm>
            <a:off x="7640681" y="4420331"/>
            <a:ext cx="9476350" cy="1514793"/>
          </a:xfrm>
          <a:prstGeom prst="rect">
            <a:avLst/>
          </a:prstGeom>
        </p:spPr>
        <p:txBody>
          <a:bodyPr lIns="0" tIns="0" rIns="0" bIns="0" rtlCol="0" anchor="t">
            <a:spAutoFit/>
          </a:bodyPr>
          <a:lstStyle/>
          <a:p>
            <a:pPr algn="l">
              <a:lnSpc>
                <a:spcPts val="5862"/>
              </a:lnSpc>
            </a:pPr>
            <a:r>
              <a:rPr lang="en-US" sz="5637" b="1" spc="-186">
                <a:solidFill>
                  <a:srgbClr val="FFFFFF"/>
                </a:solidFill>
                <a:latin typeface="Open Sauce Bold"/>
                <a:ea typeface="Open Sauce Bold"/>
                <a:cs typeface="Open Sauce Bold"/>
                <a:sym typeface="Open Sauce Bold"/>
              </a:rPr>
              <a:t>BAB III</a:t>
            </a:r>
          </a:p>
          <a:p>
            <a:pPr algn="l">
              <a:lnSpc>
                <a:spcPts val="5862"/>
              </a:lnSpc>
            </a:pPr>
            <a:r>
              <a:rPr lang="en-US" sz="5637" b="1" spc="-186">
                <a:solidFill>
                  <a:srgbClr val="FFFFFF"/>
                </a:solidFill>
                <a:latin typeface="Open Sauce Bold"/>
                <a:ea typeface="Open Sauce Bold"/>
                <a:cs typeface="Open Sauce Bold"/>
                <a:sym typeface="Open Sauce Bold"/>
              </a:rPr>
              <a:t>METODOLOGI PENELITIAN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47A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2024"/>
            <a:ext cx="3942193" cy="9520324"/>
            <a:chOff x="0" y="0"/>
            <a:chExt cx="610749" cy="1474947"/>
          </a:xfrm>
        </p:grpSpPr>
        <p:sp>
          <p:nvSpPr>
            <p:cNvPr id="3" name="Freeform 3"/>
            <p:cNvSpPr/>
            <p:nvPr/>
          </p:nvSpPr>
          <p:spPr>
            <a:xfrm>
              <a:off x="0" y="0"/>
              <a:ext cx="610749" cy="1474947"/>
            </a:xfrm>
            <a:custGeom>
              <a:avLst/>
              <a:gdLst/>
              <a:ahLst/>
              <a:cxnLst/>
              <a:rect l="l" t="t" r="r" b="b"/>
              <a:pathLst>
                <a:path w="610749" h="1474947">
                  <a:moveTo>
                    <a:pt x="45169" y="0"/>
                  </a:moveTo>
                  <a:lnTo>
                    <a:pt x="565580" y="0"/>
                  </a:lnTo>
                  <a:cubicBezTo>
                    <a:pt x="577560" y="0"/>
                    <a:pt x="589048" y="4759"/>
                    <a:pt x="597519" y="13230"/>
                  </a:cubicBezTo>
                  <a:cubicBezTo>
                    <a:pt x="605990" y="21700"/>
                    <a:pt x="610749" y="33189"/>
                    <a:pt x="610749" y="45169"/>
                  </a:cubicBezTo>
                  <a:lnTo>
                    <a:pt x="610749" y="1429779"/>
                  </a:lnTo>
                  <a:cubicBezTo>
                    <a:pt x="610749" y="1441758"/>
                    <a:pt x="605990" y="1453247"/>
                    <a:pt x="597519" y="1461718"/>
                  </a:cubicBezTo>
                  <a:cubicBezTo>
                    <a:pt x="589048" y="1470189"/>
                    <a:pt x="577560" y="1474947"/>
                    <a:pt x="565580" y="1474947"/>
                  </a:cubicBezTo>
                  <a:lnTo>
                    <a:pt x="45169" y="1474947"/>
                  </a:lnTo>
                  <a:cubicBezTo>
                    <a:pt x="33189" y="1474947"/>
                    <a:pt x="21700" y="1470189"/>
                    <a:pt x="13230" y="1461718"/>
                  </a:cubicBezTo>
                  <a:cubicBezTo>
                    <a:pt x="4759" y="1453247"/>
                    <a:pt x="0" y="1441758"/>
                    <a:pt x="0" y="1429779"/>
                  </a:cubicBezTo>
                  <a:lnTo>
                    <a:pt x="0" y="45169"/>
                  </a:lnTo>
                  <a:cubicBezTo>
                    <a:pt x="0" y="33189"/>
                    <a:pt x="4759" y="21700"/>
                    <a:pt x="13230" y="13230"/>
                  </a:cubicBezTo>
                  <a:cubicBezTo>
                    <a:pt x="21700" y="4759"/>
                    <a:pt x="33189" y="0"/>
                    <a:pt x="45169" y="0"/>
                  </a:cubicBezTo>
                  <a:close/>
                </a:path>
              </a:pathLst>
            </a:custGeom>
            <a:blipFill>
              <a:blip r:embed="rId2"/>
              <a:stretch>
                <a:fillRect l="-131236" r="-131236"/>
              </a:stretch>
            </a:blipFill>
          </p:spPr>
        </p:sp>
      </p:grpSp>
      <p:grpSp>
        <p:nvGrpSpPr>
          <p:cNvPr id="4" name="Group 4"/>
          <p:cNvGrpSpPr/>
          <p:nvPr/>
        </p:nvGrpSpPr>
        <p:grpSpPr>
          <a:xfrm>
            <a:off x="16148113" y="0"/>
            <a:ext cx="3086100" cy="10287000"/>
            <a:chOff x="0" y="0"/>
            <a:chExt cx="812800" cy="2709333"/>
          </a:xfrm>
        </p:grpSpPr>
        <p:sp>
          <p:nvSpPr>
            <p:cNvPr id="5" name="Freeform 5"/>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6" name="TextBox 6"/>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7" name="Freeform 7"/>
          <p:cNvSpPr/>
          <p:nvPr/>
        </p:nvSpPr>
        <p:spPr>
          <a:xfrm rot="-10800000">
            <a:off x="5699931" y="3493782"/>
            <a:ext cx="3145523" cy="1004356"/>
          </a:xfrm>
          <a:custGeom>
            <a:avLst/>
            <a:gdLst/>
            <a:ahLst/>
            <a:cxnLst/>
            <a:rect l="l" t="t" r="r" b="b"/>
            <a:pathLst>
              <a:path w="3145523" h="1004356">
                <a:moveTo>
                  <a:pt x="0" y="0"/>
                </a:moveTo>
                <a:lnTo>
                  <a:pt x="3145523" y="0"/>
                </a:lnTo>
                <a:lnTo>
                  <a:pt x="3145523" y="1004356"/>
                </a:lnTo>
                <a:lnTo>
                  <a:pt x="0" y="10043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flipV="1">
            <a:off x="10661313" y="0"/>
            <a:ext cx="4440685" cy="2220342"/>
          </a:xfrm>
          <a:custGeom>
            <a:avLst/>
            <a:gdLst/>
            <a:ahLst/>
            <a:cxnLst/>
            <a:rect l="l" t="t" r="r" b="b"/>
            <a:pathLst>
              <a:path w="4440685" h="2220342">
                <a:moveTo>
                  <a:pt x="0" y="2220342"/>
                </a:moveTo>
                <a:lnTo>
                  <a:pt x="4440685" y="2220342"/>
                </a:lnTo>
                <a:lnTo>
                  <a:pt x="4440685" y="0"/>
                </a:lnTo>
                <a:lnTo>
                  <a:pt x="0" y="0"/>
                </a:lnTo>
                <a:lnTo>
                  <a:pt x="0" y="2220342"/>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6444629" y="1392279"/>
            <a:ext cx="1656127" cy="1656127"/>
          </a:xfrm>
          <a:custGeom>
            <a:avLst/>
            <a:gdLst/>
            <a:ahLst/>
            <a:cxnLst/>
            <a:rect l="l" t="t" r="r" b="b"/>
            <a:pathLst>
              <a:path w="1656127" h="1656127">
                <a:moveTo>
                  <a:pt x="0" y="0"/>
                </a:moveTo>
                <a:lnTo>
                  <a:pt x="1656127" y="0"/>
                </a:lnTo>
                <a:lnTo>
                  <a:pt x="1656127" y="1656127"/>
                </a:lnTo>
                <a:lnTo>
                  <a:pt x="0" y="1656127"/>
                </a:lnTo>
                <a:lnTo>
                  <a:pt x="0" y="0"/>
                </a:lnTo>
                <a:close/>
              </a:path>
            </a:pathLst>
          </a:custGeom>
          <a:blipFill>
            <a:blip r:embed="rId7"/>
            <a:stretch>
              <a:fillRect/>
            </a:stretch>
          </a:blipFill>
        </p:spPr>
      </p:sp>
      <p:sp>
        <p:nvSpPr>
          <p:cNvPr id="10" name="Freeform 10"/>
          <p:cNvSpPr/>
          <p:nvPr/>
        </p:nvSpPr>
        <p:spPr>
          <a:xfrm>
            <a:off x="11381624" y="906996"/>
            <a:ext cx="3000063" cy="4114800"/>
          </a:xfrm>
          <a:custGeom>
            <a:avLst/>
            <a:gdLst/>
            <a:ahLst/>
            <a:cxnLst/>
            <a:rect l="l" t="t" r="r" b="b"/>
            <a:pathLst>
              <a:path w="3000063" h="4114800">
                <a:moveTo>
                  <a:pt x="0" y="0"/>
                </a:moveTo>
                <a:lnTo>
                  <a:pt x="3000063" y="0"/>
                </a:lnTo>
                <a:lnTo>
                  <a:pt x="300006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5699931" y="6338399"/>
            <a:ext cx="9402067" cy="3338934"/>
          </a:xfrm>
          <a:prstGeom prst="rect">
            <a:avLst/>
          </a:prstGeom>
        </p:spPr>
        <p:txBody>
          <a:bodyPr lIns="0" tIns="0" rIns="0" bIns="0" rtlCol="0" anchor="t">
            <a:spAutoFit/>
          </a:bodyPr>
          <a:lstStyle/>
          <a:p>
            <a:pPr marL="0" lvl="0" indent="0" algn="just">
              <a:lnSpc>
                <a:spcPts val="3360"/>
              </a:lnSpc>
              <a:spcBef>
                <a:spcPct val="0"/>
              </a:spcBef>
            </a:pPr>
            <a:r>
              <a:rPr lang="en-US" sz="2400">
                <a:solidFill>
                  <a:srgbClr val="FFFFFF"/>
                </a:solidFill>
                <a:latin typeface="Open Sauce"/>
                <a:ea typeface="Open Sauce"/>
                <a:cs typeface="Open Sauce"/>
                <a:sym typeface="Open Sauce"/>
              </a:rPr>
              <a:t>P</a:t>
            </a:r>
            <a:r>
              <a:rPr lang="en-US" sz="2400" u="none" strike="noStrike">
                <a:solidFill>
                  <a:srgbClr val="FFFFFF"/>
                </a:solidFill>
                <a:latin typeface="Open Sauce"/>
                <a:ea typeface="Open Sauce"/>
                <a:cs typeface="Open Sauce"/>
                <a:sym typeface="Open Sauce"/>
              </a:rPr>
              <a:t>enelitian ini menggunakan pendekatan kualitatif dengan metode deskriptif-induktif yang bertujuan untuk memahami secara mendalam fenomena sosial mengenai efektivitas komunikasi bencana melalui media sosial dalam sistem peringatan dini cuaca ekstrem oleh BPBD Kabupaten Pinrang. Proses berpikir induktif berangkat dari pengamatan terhadap realitas empiris menuju pada pemahaman konseptual yang lebih umum</a:t>
            </a:r>
          </a:p>
        </p:txBody>
      </p:sp>
      <p:sp>
        <p:nvSpPr>
          <p:cNvPr id="12" name="TextBox 12"/>
          <p:cNvSpPr txBox="1"/>
          <p:nvPr/>
        </p:nvSpPr>
        <p:spPr>
          <a:xfrm>
            <a:off x="5699931" y="4955121"/>
            <a:ext cx="10625437" cy="1130367"/>
          </a:xfrm>
          <a:prstGeom prst="rect">
            <a:avLst/>
          </a:prstGeom>
        </p:spPr>
        <p:txBody>
          <a:bodyPr lIns="0" tIns="0" rIns="0" bIns="0" rtlCol="0" anchor="t">
            <a:spAutoFit/>
          </a:bodyPr>
          <a:lstStyle/>
          <a:p>
            <a:pPr marL="0" lvl="0" indent="0" algn="l">
              <a:lnSpc>
                <a:spcPts val="9099"/>
              </a:lnSpc>
              <a:spcBef>
                <a:spcPct val="0"/>
              </a:spcBef>
            </a:pPr>
            <a:r>
              <a:rPr lang="en-US" sz="6999" b="1" spc="-230">
                <a:solidFill>
                  <a:srgbClr val="FFFFFF"/>
                </a:solidFill>
                <a:latin typeface="Open Sauce Bold"/>
                <a:ea typeface="Open Sauce Bold"/>
                <a:cs typeface="Open Sauce Bold"/>
                <a:sym typeface="Open Sauce Bold"/>
              </a:rPr>
              <a:t>Pendekatan Pe</a:t>
            </a:r>
            <a:r>
              <a:rPr lang="en-US" sz="6999" b="1" u="none" strike="noStrike" spc="-230">
                <a:solidFill>
                  <a:srgbClr val="FFFFFF"/>
                </a:solidFill>
                <a:latin typeface="Open Sauce Bold"/>
                <a:ea typeface="Open Sauce Bold"/>
                <a:cs typeface="Open Sauce Bold"/>
                <a:sym typeface="Open Sauce Bold"/>
              </a:rPr>
              <a:t>nelitian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TextBox 2"/>
          <p:cNvSpPr txBox="1"/>
          <p:nvPr/>
        </p:nvSpPr>
        <p:spPr>
          <a:xfrm>
            <a:off x="4393344" y="2827481"/>
            <a:ext cx="9501313" cy="872490"/>
          </a:xfrm>
          <a:prstGeom prst="rect">
            <a:avLst/>
          </a:prstGeom>
        </p:spPr>
        <p:txBody>
          <a:bodyPr lIns="0" tIns="0" rIns="0" bIns="0" rtlCol="0" anchor="t">
            <a:spAutoFit/>
          </a:bodyPr>
          <a:lstStyle/>
          <a:p>
            <a:pPr marL="0" lvl="0" indent="0" algn="ctr">
              <a:lnSpc>
                <a:spcPts val="6779"/>
              </a:lnSpc>
              <a:spcBef>
                <a:spcPct val="0"/>
              </a:spcBef>
            </a:pPr>
            <a:r>
              <a:rPr lang="en-US" sz="5999" b="1" u="none" strike="noStrike" spc="-197">
                <a:solidFill>
                  <a:srgbClr val="FFFFFF"/>
                </a:solidFill>
                <a:latin typeface="Open Sauce Bold"/>
                <a:ea typeface="Open Sauce Bold"/>
                <a:cs typeface="Open Sauce Bold"/>
                <a:sym typeface="Open Sauce Bold"/>
              </a:rPr>
              <a:t>Sumber Data</a:t>
            </a:r>
          </a:p>
        </p:txBody>
      </p:sp>
      <p:grpSp>
        <p:nvGrpSpPr>
          <p:cNvPr id="3" name="Group 3"/>
          <p:cNvGrpSpPr/>
          <p:nvPr/>
        </p:nvGrpSpPr>
        <p:grpSpPr>
          <a:xfrm>
            <a:off x="9111444" y="4362613"/>
            <a:ext cx="7539193" cy="1950891"/>
            <a:chOff x="0" y="0"/>
            <a:chExt cx="1985631" cy="513815"/>
          </a:xfrm>
        </p:grpSpPr>
        <p:sp>
          <p:nvSpPr>
            <p:cNvPr id="4" name="Freeform 4"/>
            <p:cNvSpPr/>
            <p:nvPr/>
          </p:nvSpPr>
          <p:spPr>
            <a:xfrm>
              <a:off x="0" y="0"/>
              <a:ext cx="1985631" cy="513815"/>
            </a:xfrm>
            <a:custGeom>
              <a:avLst/>
              <a:gdLst/>
              <a:ahLst/>
              <a:cxnLst/>
              <a:rect l="l" t="t" r="r" b="b"/>
              <a:pathLst>
                <a:path w="1985631" h="513815">
                  <a:moveTo>
                    <a:pt x="20538" y="0"/>
                  </a:moveTo>
                  <a:lnTo>
                    <a:pt x="1965093" y="0"/>
                  </a:lnTo>
                  <a:cubicBezTo>
                    <a:pt x="1970540" y="0"/>
                    <a:pt x="1975764" y="2164"/>
                    <a:pt x="1979616" y="6015"/>
                  </a:cubicBezTo>
                  <a:cubicBezTo>
                    <a:pt x="1983467" y="9867"/>
                    <a:pt x="1985631" y="15091"/>
                    <a:pt x="1985631" y="20538"/>
                  </a:cubicBezTo>
                  <a:lnTo>
                    <a:pt x="1985631" y="493277"/>
                  </a:lnTo>
                  <a:cubicBezTo>
                    <a:pt x="1985631" y="504620"/>
                    <a:pt x="1976436" y="513815"/>
                    <a:pt x="1965093" y="513815"/>
                  </a:cubicBezTo>
                  <a:lnTo>
                    <a:pt x="20538" y="513815"/>
                  </a:lnTo>
                  <a:cubicBezTo>
                    <a:pt x="15091" y="513815"/>
                    <a:pt x="9867" y="511651"/>
                    <a:pt x="6015" y="507799"/>
                  </a:cubicBezTo>
                  <a:cubicBezTo>
                    <a:pt x="2164" y="503948"/>
                    <a:pt x="0" y="498724"/>
                    <a:pt x="0" y="493277"/>
                  </a:cubicBezTo>
                  <a:lnTo>
                    <a:pt x="0" y="20538"/>
                  </a:lnTo>
                  <a:cubicBezTo>
                    <a:pt x="0" y="15091"/>
                    <a:pt x="2164" y="9867"/>
                    <a:pt x="6015" y="6015"/>
                  </a:cubicBezTo>
                  <a:cubicBezTo>
                    <a:pt x="9867" y="2164"/>
                    <a:pt x="15091" y="0"/>
                    <a:pt x="20538" y="0"/>
                  </a:cubicBezTo>
                  <a:close/>
                </a:path>
              </a:pathLst>
            </a:custGeom>
            <a:solidFill>
              <a:srgbClr val="03045A"/>
            </a:solidFill>
          </p:spPr>
        </p:sp>
        <p:sp>
          <p:nvSpPr>
            <p:cNvPr id="5" name="TextBox 5"/>
            <p:cNvSpPr txBox="1"/>
            <p:nvPr/>
          </p:nvSpPr>
          <p:spPr>
            <a:xfrm>
              <a:off x="0" y="-47625"/>
              <a:ext cx="1985631" cy="561440"/>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1327104" y="4387066"/>
            <a:ext cx="6812933" cy="1950891"/>
            <a:chOff x="0" y="0"/>
            <a:chExt cx="1794353" cy="513815"/>
          </a:xfrm>
        </p:grpSpPr>
        <p:sp>
          <p:nvSpPr>
            <p:cNvPr id="7" name="Freeform 7"/>
            <p:cNvSpPr/>
            <p:nvPr/>
          </p:nvSpPr>
          <p:spPr>
            <a:xfrm>
              <a:off x="0" y="0"/>
              <a:ext cx="1794353" cy="513815"/>
            </a:xfrm>
            <a:custGeom>
              <a:avLst/>
              <a:gdLst/>
              <a:ahLst/>
              <a:cxnLst/>
              <a:rect l="l" t="t" r="r" b="b"/>
              <a:pathLst>
                <a:path w="1794353" h="513815">
                  <a:moveTo>
                    <a:pt x="22727" y="0"/>
                  </a:moveTo>
                  <a:lnTo>
                    <a:pt x="1771626" y="0"/>
                  </a:lnTo>
                  <a:cubicBezTo>
                    <a:pt x="1777653" y="0"/>
                    <a:pt x="1783434" y="2394"/>
                    <a:pt x="1787696" y="6657"/>
                  </a:cubicBezTo>
                  <a:cubicBezTo>
                    <a:pt x="1791958" y="10919"/>
                    <a:pt x="1794353" y="16700"/>
                    <a:pt x="1794353" y="22727"/>
                  </a:cubicBezTo>
                  <a:lnTo>
                    <a:pt x="1794353" y="491088"/>
                  </a:lnTo>
                  <a:cubicBezTo>
                    <a:pt x="1794353" y="497115"/>
                    <a:pt x="1791958" y="502896"/>
                    <a:pt x="1787696" y="507158"/>
                  </a:cubicBezTo>
                  <a:cubicBezTo>
                    <a:pt x="1783434" y="511420"/>
                    <a:pt x="1777653" y="513815"/>
                    <a:pt x="1771626" y="513815"/>
                  </a:cubicBezTo>
                  <a:lnTo>
                    <a:pt x="22727" y="513815"/>
                  </a:lnTo>
                  <a:cubicBezTo>
                    <a:pt x="16700" y="513815"/>
                    <a:pt x="10919" y="511420"/>
                    <a:pt x="6657" y="507158"/>
                  </a:cubicBezTo>
                  <a:cubicBezTo>
                    <a:pt x="2394" y="502896"/>
                    <a:pt x="0" y="497115"/>
                    <a:pt x="0" y="491088"/>
                  </a:cubicBezTo>
                  <a:lnTo>
                    <a:pt x="0" y="22727"/>
                  </a:lnTo>
                  <a:cubicBezTo>
                    <a:pt x="0" y="16700"/>
                    <a:pt x="2394" y="10919"/>
                    <a:pt x="6657" y="6657"/>
                  </a:cubicBezTo>
                  <a:cubicBezTo>
                    <a:pt x="10919" y="2394"/>
                    <a:pt x="16700" y="0"/>
                    <a:pt x="22727" y="0"/>
                  </a:cubicBezTo>
                  <a:close/>
                </a:path>
              </a:pathLst>
            </a:custGeom>
            <a:solidFill>
              <a:srgbClr val="03045A"/>
            </a:solidFill>
          </p:spPr>
        </p:sp>
        <p:sp>
          <p:nvSpPr>
            <p:cNvPr id="8" name="TextBox 8"/>
            <p:cNvSpPr txBox="1"/>
            <p:nvPr/>
          </p:nvSpPr>
          <p:spPr>
            <a:xfrm>
              <a:off x="0" y="-47625"/>
              <a:ext cx="1794353" cy="561440"/>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2930088" y="5083856"/>
            <a:ext cx="3727483" cy="42234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FFFFFF"/>
                </a:solidFill>
                <a:latin typeface="Open Sauce Bold"/>
                <a:ea typeface="Open Sauce Bold"/>
                <a:cs typeface="Open Sauce Bold"/>
                <a:sym typeface="Open Sauce Bold"/>
              </a:rPr>
              <a:t>Data Primer</a:t>
            </a:r>
          </a:p>
        </p:txBody>
      </p:sp>
      <p:sp>
        <p:nvSpPr>
          <p:cNvPr id="10" name="TextBox 10"/>
          <p:cNvSpPr txBox="1"/>
          <p:nvPr/>
        </p:nvSpPr>
        <p:spPr>
          <a:xfrm>
            <a:off x="10158498" y="5059086"/>
            <a:ext cx="5220218" cy="42234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FFFFFF"/>
                </a:solidFill>
                <a:latin typeface="Open Sauce Bold"/>
                <a:ea typeface="Open Sauce Bold"/>
                <a:cs typeface="Open Sauce Bold"/>
                <a:sym typeface="Open Sauce Bold"/>
              </a:rPr>
              <a:t>D</a:t>
            </a:r>
            <a:r>
              <a:rPr lang="en-US" sz="2500" b="1" u="none" strike="noStrike">
                <a:solidFill>
                  <a:srgbClr val="FFFFFF"/>
                </a:solidFill>
                <a:latin typeface="Open Sauce Bold"/>
                <a:ea typeface="Open Sauce Bold"/>
                <a:cs typeface="Open Sauce Bold"/>
                <a:sym typeface="Open Sauce Bold"/>
              </a:rPr>
              <a:t>ata Sekunder</a:t>
            </a:r>
          </a:p>
        </p:txBody>
      </p:sp>
      <p:sp>
        <p:nvSpPr>
          <p:cNvPr id="11" name="TextBox 11"/>
          <p:cNvSpPr txBox="1"/>
          <p:nvPr/>
        </p:nvSpPr>
        <p:spPr>
          <a:xfrm>
            <a:off x="1327104" y="6690382"/>
            <a:ext cx="6812933" cy="1479919"/>
          </a:xfrm>
          <a:prstGeom prst="rect">
            <a:avLst/>
          </a:prstGeom>
        </p:spPr>
        <p:txBody>
          <a:bodyPr lIns="0" tIns="0" rIns="0" bIns="0" rtlCol="0" anchor="t">
            <a:spAutoFit/>
          </a:bodyPr>
          <a:lstStyle/>
          <a:p>
            <a:pPr marL="453406" lvl="1" indent="-226703" algn="just">
              <a:lnSpc>
                <a:spcPts val="2940"/>
              </a:lnSpc>
              <a:buAutoNum type="arabicPeriod"/>
            </a:pPr>
            <a:r>
              <a:rPr lang="en-US" sz="2100">
                <a:solidFill>
                  <a:srgbClr val="FFFFFF"/>
                </a:solidFill>
                <a:latin typeface="Open Sauce"/>
                <a:ea typeface="Open Sauce"/>
                <a:cs typeface="Open Sauce"/>
                <a:sym typeface="Open Sauce"/>
              </a:rPr>
              <a:t>·Wawancara mendalam (in-depth interview) untuk menggali pemaknaan subjektif dari informan,</a:t>
            </a:r>
          </a:p>
          <a:p>
            <a:pPr marL="453406" lvl="1" indent="-226703" algn="just">
              <a:lnSpc>
                <a:spcPts val="2940"/>
              </a:lnSpc>
              <a:buAutoNum type="arabicPeriod"/>
            </a:pPr>
            <a:r>
              <a:rPr lang="en-US" sz="2100">
                <a:solidFill>
                  <a:srgbClr val="FFFFFF"/>
                </a:solidFill>
                <a:latin typeface="Open Sauce"/>
                <a:ea typeface="Open Sauce"/>
                <a:cs typeface="Open Sauce"/>
                <a:sym typeface="Open Sauce"/>
              </a:rPr>
              <a:t>·Observasi langsung terhadap aktivitas atau situasi sosial yang diteliti.</a:t>
            </a:r>
          </a:p>
        </p:txBody>
      </p:sp>
      <p:sp>
        <p:nvSpPr>
          <p:cNvPr id="12" name="TextBox 12"/>
          <p:cNvSpPr txBox="1"/>
          <p:nvPr/>
        </p:nvSpPr>
        <p:spPr>
          <a:xfrm>
            <a:off x="8999010" y="6504678"/>
            <a:ext cx="7961886" cy="2222736"/>
          </a:xfrm>
          <a:prstGeom prst="rect">
            <a:avLst/>
          </a:prstGeom>
        </p:spPr>
        <p:txBody>
          <a:bodyPr lIns="0" tIns="0" rIns="0" bIns="0" rtlCol="0" anchor="t">
            <a:spAutoFit/>
          </a:bodyPr>
          <a:lstStyle/>
          <a:p>
            <a:pPr marL="453406" lvl="1" indent="-226703" algn="just">
              <a:lnSpc>
                <a:spcPts val="2940"/>
              </a:lnSpc>
              <a:buFont typeface="Arial"/>
              <a:buChar char="•"/>
            </a:pPr>
            <a:r>
              <a:rPr lang="en-US" sz="2100">
                <a:solidFill>
                  <a:srgbClr val="FFFFFF"/>
                </a:solidFill>
                <a:latin typeface="Open Sauce"/>
                <a:ea typeface="Open Sauce"/>
                <a:cs typeface="Open Sauce"/>
                <a:sym typeface="Open Sauce"/>
              </a:rPr>
              <a:t>·Laporan instansi atau lembaga pemerintah,</a:t>
            </a:r>
          </a:p>
          <a:p>
            <a:pPr marL="453406" lvl="1" indent="-226703" algn="just">
              <a:lnSpc>
                <a:spcPts val="2940"/>
              </a:lnSpc>
              <a:buFont typeface="Arial"/>
              <a:buChar char="•"/>
            </a:pPr>
            <a:r>
              <a:rPr lang="en-US" sz="2100">
                <a:solidFill>
                  <a:srgbClr val="FFFFFF"/>
                </a:solidFill>
                <a:latin typeface="Open Sauce"/>
                <a:ea typeface="Open Sauce"/>
                <a:cs typeface="Open Sauce"/>
                <a:sym typeface="Open Sauce"/>
              </a:rPr>
              <a:t>·Arsip organisasi, hasil penelitian terdahulu, atau jurnal ilmiah,</a:t>
            </a:r>
          </a:p>
          <a:p>
            <a:pPr marL="453406" lvl="1" indent="-226703" algn="just">
              <a:lnSpc>
                <a:spcPts val="2940"/>
              </a:lnSpc>
              <a:buFont typeface="Arial"/>
              <a:buChar char="•"/>
            </a:pPr>
            <a:r>
              <a:rPr lang="en-US" sz="2100">
                <a:solidFill>
                  <a:srgbClr val="FFFFFF"/>
                </a:solidFill>
                <a:latin typeface="Open Sauce"/>
                <a:ea typeface="Open Sauce"/>
                <a:cs typeface="Open Sauce"/>
                <a:sym typeface="Open Sauce"/>
              </a:rPr>
              <a:t>·Peraturan, kebijakan, dan publikasi media yang relevan.</a:t>
            </a:r>
          </a:p>
          <a:p>
            <a:pPr marL="453406" lvl="1" indent="-226703" algn="just">
              <a:lnSpc>
                <a:spcPts val="2940"/>
              </a:lnSpc>
              <a:buFont typeface="Arial"/>
              <a:buChar char="•"/>
            </a:pPr>
            <a:r>
              <a:rPr lang="en-US" sz="2100">
                <a:solidFill>
                  <a:srgbClr val="FFFFFF"/>
                </a:solidFill>
                <a:latin typeface="Open Sauce"/>
                <a:ea typeface="Open Sauce"/>
                <a:cs typeface="Open Sauce"/>
                <a:sym typeface="Open Sauce"/>
              </a:rPr>
              <a:t>·Dokumentasi lapangan, seperti catatan harian, foto, atau rekaman percakapan.</a:t>
            </a:r>
          </a:p>
        </p:txBody>
      </p:sp>
      <p:sp>
        <p:nvSpPr>
          <p:cNvPr id="13" name="Freeform 13"/>
          <p:cNvSpPr/>
          <p:nvPr/>
        </p:nvSpPr>
        <p:spPr>
          <a:xfrm rot="5400000">
            <a:off x="4389206" y="4018249"/>
            <a:ext cx="688729" cy="688729"/>
          </a:xfrm>
          <a:custGeom>
            <a:avLst/>
            <a:gdLst/>
            <a:ahLst/>
            <a:cxnLst/>
            <a:rect l="l" t="t" r="r" b="b"/>
            <a:pathLst>
              <a:path w="688729" h="688729">
                <a:moveTo>
                  <a:pt x="0" y="0"/>
                </a:moveTo>
                <a:lnTo>
                  <a:pt x="688728" y="0"/>
                </a:lnTo>
                <a:lnTo>
                  <a:pt x="688728"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rot="-10800000">
            <a:off x="1670119" y="2426430"/>
            <a:ext cx="1657164" cy="529128"/>
          </a:xfrm>
          <a:custGeom>
            <a:avLst/>
            <a:gdLst/>
            <a:ahLst/>
            <a:cxnLst/>
            <a:rect l="l" t="t" r="r" b="b"/>
            <a:pathLst>
              <a:path w="1657164" h="529128">
                <a:moveTo>
                  <a:pt x="0" y="0"/>
                </a:moveTo>
                <a:lnTo>
                  <a:pt x="1657164" y="0"/>
                </a:lnTo>
                <a:lnTo>
                  <a:pt x="1657164" y="529127"/>
                </a:lnTo>
                <a:lnTo>
                  <a:pt x="0" y="52912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5" name="Freeform 15"/>
          <p:cNvSpPr/>
          <p:nvPr/>
        </p:nvSpPr>
        <p:spPr>
          <a:xfrm rot="-10800000">
            <a:off x="14961456" y="2445480"/>
            <a:ext cx="1657164" cy="529128"/>
          </a:xfrm>
          <a:custGeom>
            <a:avLst/>
            <a:gdLst/>
            <a:ahLst/>
            <a:cxnLst/>
            <a:rect l="l" t="t" r="r" b="b"/>
            <a:pathLst>
              <a:path w="1657164" h="529128">
                <a:moveTo>
                  <a:pt x="0" y="0"/>
                </a:moveTo>
                <a:lnTo>
                  <a:pt x="1657165" y="0"/>
                </a:lnTo>
                <a:lnTo>
                  <a:pt x="1657165" y="529127"/>
                </a:lnTo>
                <a:lnTo>
                  <a:pt x="0" y="52912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6" name="Freeform 16"/>
          <p:cNvSpPr/>
          <p:nvPr/>
        </p:nvSpPr>
        <p:spPr>
          <a:xfrm rot="5400000">
            <a:off x="12635589" y="4018249"/>
            <a:ext cx="688729" cy="688729"/>
          </a:xfrm>
          <a:custGeom>
            <a:avLst/>
            <a:gdLst/>
            <a:ahLst/>
            <a:cxnLst/>
            <a:rect l="l" t="t" r="r" b="b"/>
            <a:pathLst>
              <a:path w="688729" h="688729">
                <a:moveTo>
                  <a:pt x="0" y="0"/>
                </a:moveTo>
                <a:lnTo>
                  <a:pt x="688728" y="0"/>
                </a:lnTo>
                <a:lnTo>
                  <a:pt x="688728"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8283381" y="1053916"/>
            <a:ext cx="1656127" cy="1656127"/>
          </a:xfrm>
          <a:custGeom>
            <a:avLst/>
            <a:gdLst/>
            <a:ahLst/>
            <a:cxnLst/>
            <a:rect l="l" t="t" r="r" b="b"/>
            <a:pathLst>
              <a:path w="1656127" h="1656127">
                <a:moveTo>
                  <a:pt x="0" y="0"/>
                </a:moveTo>
                <a:lnTo>
                  <a:pt x="1656127" y="0"/>
                </a:lnTo>
                <a:lnTo>
                  <a:pt x="1656127" y="1656127"/>
                </a:lnTo>
                <a:lnTo>
                  <a:pt x="0" y="1656127"/>
                </a:lnTo>
                <a:lnTo>
                  <a:pt x="0" y="0"/>
                </a:lnTo>
                <a:close/>
              </a:path>
            </a:pathLst>
          </a:custGeom>
          <a:blipFill>
            <a:blip r:embed="rId6"/>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319767"/>
            <a:ext cx="4536687" cy="1286071"/>
            <a:chOff x="0" y="0"/>
            <a:chExt cx="1194848" cy="338718"/>
          </a:xfrm>
        </p:grpSpPr>
        <p:sp>
          <p:nvSpPr>
            <p:cNvPr id="3" name="Freeform 3"/>
            <p:cNvSpPr/>
            <p:nvPr/>
          </p:nvSpPr>
          <p:spPr>
            <a:xfrm>
              <a:off x="0" y="0"/>
              <a:ext cx="1194848" cy="338718"/>
            </a:xfrm>
            <a:custGeom>
              <a:avLst/>
              <a:gdLst/>
              <a:ahLst/>
              <a:cxnLst/>
              <a:rect l="l" t="t" r="r" b="b"/>
              <a:pathLst>
                <a:path w="1194848" h="338718">
                  <a:moveTo>
                    <a:pt x="34130" y="0"/>
                  </a:moveTo>
                  <a:lnTo>
                    <a:pt x="1160717" y="0"/>
                  </a:lnTo>
                  <a:cubicBezTo>
                    <a:pt x="1179567" y="0"/>
                    <a:pt x="1194848" y="15281"/>
                    <a:pt x="1194848" y="34130"/>
                  </a:cubicBezTo>
                  <a:lnTo>
                    <a:pt x="1194848" y="304588"/>
                  </a:lnTo>
                  <a:cubicBezTo>
                    <a:pt x="1194848" y="323438"/>
                    <a:pt x="1179567" y="338718"/>
                    <a:pt x="1160717" y="338718"/>
                  </a:cubicBezTo>
                  <a:lnTo>
                    <a:pt x="34130" y="338718"/>
                  </a:lnTo>
                  <a:cubicBezTo>
                    <a:pt x="15281" y="338718"/>
                    <a:pt x="0" y="323438"/>
                    <a:pt x="0" y="304588"/>
                  </a:cubicBezTo>
                  <a:lnTo>
                    <a:pt x="0" y="34130"/>
                  </a:lnTo>
                  <a:cubicBezTo>
                    <a:pt x="0" y="15281"/>
                    <a:pt x="15281" y="0"/>
                    <a:pt x="34130" y="0"/>
                  </a:cubicBezTo>
                  <a:close/>
                </a:path>
              </a:pathLst>
            </a:custGeom>
            <a:solidFill>
              <a:srgbClr val="03045A"/>
            </a:solidFill>
          </p:spPr>
        </p:sp>
        <p:sp>
          <p:nvSpPr>
            <p:cNvPr id="4" name="TextBox 4"/>
            <p:cNvSpPr txBox="1"/>
            <p:nvPr/>
          </p:nvSpPr>
          <p:spPr>
            <a:xfrm>
              <a:off x="0" y="-47625"/>
              <a:ext cx="1194848" cy="386343"/>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a:off x="5221023" y="4618439"/>
            <a:ext cx="688729" cy="688729"/>
          </a:xfrm>
          <a:custGeom>
            <a:avLst/>
            <a:gdLst/>
            <a:ahLst/>
            <a:cxnLst/>
            <a:rect l="l" t="t" r="r" b="b"/>
            <a:pathLst>
              <a:path w="688729" h="688729">
                <a:moveTo>
                  <a:pt x="0" y="0"/>
                </a:moveTo>
                <a:lnTo>
                  <a:pt x="688728" y="0"/>
                </a:lnTo>
                <a:lnTo>
                  <a:pt x="688728" y="688728"/>
                </a:lnTo>
                <a:lnTo>
                  <a:pt x="0" y="6887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028700" y="5805864"/>
            <a:ext cx="4536687" cy="1286071"/>
            <a:chOff x="0" y="0"/>
            <a:chExt cx="1194848" cy="338718"/>
          </a:xfrm>
        </p:grpSpPr>
        <p:sp>
          <p:nvSpPr>
            <p:cNvPr id="7" name="Freeform 7"/>
            <p:cNvSpPr/>
            <p:nvPr/>
          </p:nvSpPr>
          <p:spPr>
            <a:xfrm>
              <a:off x="0" y="0"/>
              <a:ext cx="1194848" cy="338718"/>
            </a:xfrm>
            <a:custGeom>
              <a:avLst/>
              <a:gdLst/>
              <a:ahLst/>
              <a:cxnLst/>
              <a:rect l="l" t="t" r="r" b="b"/>
              <a:pathLst>
                <a:path w="1194848" h="338718">
                  <a:moveTo>
                    <a:pt x="34130" y="0"/>
                  </a:moveTo>
                  <a:lnTo>
                    <a:pt x="1160717" y="0"/>
                  </a:lnTo>
                  <a:cubicBezTo>
                    <a:pt x="1179567" y="0"/>
                    <a:pt x="1194848" y="15281"/>
                    <a:pt x="1194848" y="34130"/>
                  </a:cubicBezTo>
                  <a:lnTo>
                    <a:pt x="1194848" y="304588"/>
                  </a:lnTo>
                  <a:cubicBezTo>
                    <a:pt x="1194848" y="323438"/>
                    <a:pt x="1179567" y="338718"/>
                    <a:pt x="1160717" y="338718"/>
                  </a:cubicBezTo>
                  <a:lnTo>
                    <a:pt x="34130" y="338718"/>
                  </a:lnTo>
                  <a:cubicBezTo>
                    <a:pt x="15281" y="338718"/>
                    <a:pt x="0" y="323438"/>
                    <a:pt x="0" y="304588"/>
                  </a:cubicBezTo>
                  <a:lnTo>
                    <a:pt x="0" y="34130"/>
                  </a:lnTo>
                  <a:cubicBezTo>
                    <a:pt x="0" y="15281"/>
                    <a:pt x="15281" y="0"/>
                    <a:pt x="34130" y="0"/>
                  </a:cubicBezTo>
                  <a:close/>
                </a:path>
              </a:pathLst>
            </a:custGeom>
            <a:solidFill>
              <a:srgbClr val="03045A"/>
            </a:solidFill>
          </p:spPr>
        </p:sp>
        <p:sp>
          <p:nvSpPr>
            <p:cNvPr id="8" name="TextBox 8"/>
            <p:cNvSpPr txBox="1"/>
            <p:nvPr/>
          </p:nvSpPr>
          <p:spPr>
            <a:xfrm>
              <a:off x="0" y="-47625"/>
              <a:ext cx="1194848" cy="386343"/>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a:off x="5221023" y="6104535"/>
            <a:ext cx="688729" cy="688729"/>
          </a:xfrm>
          <a:custGeom>
            <a:avLst/>
            <a:gdLst/>
            <a:ahLst/>
            <a:cxnLst/>
            <a:rect l="l" t="t" r="r" b="b"/>
            <a:pathLst>
              <a:path w="688729" h="688729">
                <a:moveTo>
                  <a:pt x="0" y="0"/>
                </a:moveTo>
                <a:lnTo>
                  <a:pt x="688728" y="0"/>
                </a:lnTo>
                <a:lnTo>
                  <a:pt x="688728" y="688729"/>
                </a:lnTo>
                <a:lnTo>
                  <a:pt x="0" y="6887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flipV="1">
            <a:off x="14875056" y="0"/>
            <a:ext cx="4867569" cy="2433784"/>
          </a:xfrm>
          <a:custGeom>
            <a:avLst/>
            <a:gdLst/>
            <a:ahLst/>
            <a:cxnLst/>
            <a:rect l="l" t="t" r="r" b="b"/>
            <a:pathLst>
              <a:path w="4867569" h="2433784">
                <a:moveTo>
                  <a:pt x="0" y="2433784"/>
                </a:moveTo>
                <a:lnTo>
                  <a:pt x="4867569" y="2433784"/>
                </a:lnTo>
                <a:lnTo>
                  <a:pt x="4867569" y="0"/>
                </a:lnTo>
                <a:lnTo>
                  <a:pt x="0" y="0"/>
                </a:lnTo>
                <a:lnTo>
                  <a:pt x="0" y="243378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2106724" y="2433784"/>
            <a:ext cx="2768332" cy="883920"/>
          </a:xfrm>
          <a:custGeom>
            <a:avLst/>
            <a:gdLst/>
            <a:ahLst/>
            <a:cxnLst/>
            <a:rect l="l" t="t" r="r" b="b"/>
            <a:pathLst>
              <a:path w="2768332" h="883920">
                <a:moveTo>
                  <a:pt x="0" y="0"/>
                </a:moveTo>
                <a:lnTo>
                  <a:pt x="2768332" y="0"/>
                </a:lnTo>
                <a:lnTo>
                  <a:pt x="2768332" y="883920"/>
                </a:lnTo>
                <a:lnTo>
                  <a:pt x="0" y="8839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1028700" y="3218677"/>
            <a:ext cx="7608364" cy="872490"/>
          </a:xfrm>
          <a:prstGeom prst="rect">
            <a:avLst/>
          </a:prstGeom>
        </p:spPr>
        <p:txBody>
          <a:bodyPr lIns="0" tIns="0" rIns="0" bIns="0" rtlCol="0" anchor="t">
            <a:spAutoFit/>
          </a:bodyPr>
          <a:lstStyle/>
          <a:p>
            <a:pPr marL="0" lvl="0" indent="0" algn="l">
              <a:lnSpc>
                <a:spcPts val="6779"/>
              </a:lnSpc>
              <a:spcBef>
                <a:spcPct val="0"/>
              </a:spcBef>
            </a:pPr>
            <a:r>
              <a:rPr lang="en-US" sz="5999" b="1" spc="-197">
                <a:solidFill>
                  <a:srgbClr val="FFFFFF"/>
                </a:solidFill>
                <a:latin typeface="Open Sauce Bold"/>
                <a:ea typeface="Open Sauce Bold"/>
                <a:cs typeface="Open Sauce Bold"/>
                <a:sym typeface="Open Sauce Bold"/>
              </a:rPr>
              <a:t>I</a:t>
            </a:r>
            <a:r>
              <a:rPr lang="en-US" sz="5999" b="1" u="none" strike="noStrike" spc="-197">
                <a:solidFill>
                  <a:srgbClr val="FFFFFF"/>
                </a:solidFill>
                <a:latin typeface="Open Sauce Bold"/>
                <a:ea typeface="Open Sauce Bold"/>
                <a:cs typeface="Open Sauce Bold"/>
                <a:sym typeface="Open Sauce Bold"/>
              </a:rPr>
              <a:t>nforman</a:t>
            </a:r>
          </a:p>
        </p:txBody>
      </p:sp>
      <p:sp>
        <p:nvSpPr>
          <p:cNvPr id="13" name="Freeform 13"/>
          <p:cNvSpPr/>
          <p:nvPr/>
        </p:nvSpPr>
        <p:spPr>
          <a:xfrm>
            <a:off x="7089530" y="1661577"/>
            <a:ext cx="1656127" cy="1656127"/>
          </a:xfrm>
          <a:custGeom>
            <a:avLst/>
            <a:gdLst/>
            <a:ahLst/>
            <a:cxnLst/>
            <a:rect l="l" t="t" r="r" b="b"/>
            <a:pathLst>
              <a:path w="1656127" h="1656127">
                <a:moveTo>
                  <a:pt x="0" y="0"/>
                </a:moveTo>
                <a:lnTo>
                  <a:pt x="1656127" y="0"/>
                </a:lnTo>
                <a:lnTo>
                  <a:pt x="1656127" y="1656127"/>
                </a:lnTo>
                <a:lnTo>
                  <a:pt x="0" y="1656127"/>
                </a:lnTo>
                <a:lnTo>
                  <a:pt x="0" y="0"/>
                </a:lnTo>
                <a:close/>
              </a:path>
            </a:pathLst>
          </a:custGeom>
          <a:blipFill>
            <a:blip r:embed="rId8"/>
            <a:stretch>
              <a:fillRect/>
            </a:stretch>
          </a:blipFill>
        </p:spPr>
      </p:sp>
      <p:sp>
        <p:nvSpPr>
          <p:cNvPr id="14" name="Freeform 14"/>
          <p:cNvSpPr/>
          <p:nvPr/>
        </p:nvSpPr>
        <p:spPr>
          <a:xfrm>
            <a:off x="10417299" y="2488436"/>
            <a:ext cx="9325326" cy="8229600"/>
          </a:xfrm>
          <a:custGeom>
            <a:avLst/>
            <a:gdLst/>
            <a:ahLst/>
            <a:cxnLst/>
            <a:rect l="l" t="t" r="r" b="b"/>
            <a:pathLst>
              <a:path w="9325326" h="8229600">
                <a:moveTo>
                  <a:pt x="0" y="0"/>
                </a:moveTo>
                <a:lnTo>
                  <a:pt x="9325326" y="0"/>
                </a:lnTo>
                <a:lnTo>
                  <a:pt x="9325326" y="8229600"/>
                </a:lnTo>
                <a:lnTo>
                  <a:pt x="0" y="8229600"/>
                </a:lnTo>
                <a:lnTo>
                  <a:pt x="0" y="0"/>
                </a:lnTo>
                <a:close/>
              </a:path>
            </a:pathLst>
          </a:custGeom>
          <a:blipFill>
            <a:blip r:embed="rId9"/>
            <a:stretch>
              <a:fillRect/>
            </a:stretch>
          </a:blipFill>
        </p:spPr>
      </p:sp>
      <p:sp>
        <p:nvSpPr>
          <p:cNvPr id="15" name="TextBox 15"/>
          <p:cNvSpPr txBox="1"/>
          <p:nvPr/>
        </p:nvSpPr>
        <p:spPr>
          <a:xfrm>
            <a:off x="1535315" y="4750675"/>
            <a:ext cx="3542507" cy="405697"/>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FFFFFF"/>
                </a:solidFill>
                <a:latin typeface="Open Sauce Bold"/>
                <a:ea typeface="Open Sauce Bold"/>
                <a:cs typeface="Open Sauce Bold"/>
                <a:sym typeface="Open Sauce Bold"/>
              </a:rPr>
              <a:t>Purposive Sampling</a:t>
            </a:r>
          </a:p>
        </p:txBody>
      </p:sp>
      <p:sp>
        <p:nvSpPr>
          <p:cNvPr id="16" name="TextBox 16"/>
          <p:cNvSpPr txBox="1"/>
          <p:nvPr/>
        </p:nvSpPr>
        <p:spPr>
          <a:xfrm>
            <a:off x="6327114" y="4605560"/>
            <a:ext cx="4837087" cy="1053999"/>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FFFFFF"/>
                </a:solidFill>
                <a:latin typeface="Open Sauce"/>
                <a:ea typeface="Open Sauce"/>
                <a:cs typeface="Open Sauce"/>
                <a:sym typeface="Open Sauce"/>
              </a:rPr>
              <a:t>Dalam </a:t>
            </a:r>
            <a:r>
              <a:rPr lang="en-US" sz="2000" u="none" strike="noStrike">
                <a:solidFill>
                  <a:srgbClr val="FFFFFF"/>
                </a:solidFill>
                <a:latin typeface="Open Sauce"/>
                <a:ea typeface="Open Sauce"/>
                <a:cs typeface="Open Sauce"/>
                <a:sym typeface="Open Sauce"/>
              </a:rPr>
              <a:t>penelitian kualitatif, penentuan informan dilakukan menggunakan teknik purposive sampling</a:t>
            </a:r>
          </a:p>
        </p:txBody>
      </p:sp>
      <p:sp>
        <p:nvSpPr>
          <p:cNvPr id="17" name="TextBox 17"/>
          <p:cNvSpPr txBox="1"/>
          <p:nvPr/>
        </p:nvSpPr>
        <p:spPr>
          <a:xfrm>
            <a:off x="1535315" y="6197539"/>
            <a:ext cx="2982659" cy="405697"/>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FFFFFF"/>
                </a:solidFill>
                <a:latin typeface="Open Sauce Bold"/>
                <a:ea typeface="Open Sauce Bold"/>
                <a:cs typeface="Open Sauce Bold"/>
                <a:sym typeface="Open Sauce Bold"/>
              </a:rPr>
              <a:t>snowball sampling</a:t>
            </a:r>
          </a:p>
        </p:txBody>
      </p:sp>
      <p:sp>
        <p:nvSpPr>
          <p:cNvPr id="18" name="TextBox 18"/>
          <p:cNvSpPr txBox="1"/>
          <p:nvPr/>
        </p:nvSpPr>
        <p:spPr>
          <a:xfrm>
            <a:off x="6327114" y="6052424"/>
            <a:ext cx="4837087" cy="1053999"/>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FFFFFF"/>
                </a:solidFill>
                <a:latin typeface="Open Sauce"/>
                <a:ea typeface="Open Sauce"/>
                <a:cs typeface="Open Sauce"/>
                <a:sym typeface="Open Sauce"/>
              </a:rPr>
              <a:t>U</a:t>
            </a:r>
            <a:r>
              <a:rPr lang="en-US" sz="2000" u="none" strike="noStrike">
                <a:solidFill>
                  <a:srgbClr val="FFFFFF"/>
                </a:solidFill>
                <a:latin typeface="Open Sauce"/>
                <a:ea typeface="Open Sauce"/>
                <a:cs typeface="Open Sauce"/>
                <a:sym typeface="Open Sauce"/>
              </a:rPr>
              <a:t>ntuk melengkapi serta memperluas cakupan data, penelitian ini juga menerapkan teknik snowball sampling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147AE"/>
        </a:solidFill>
        <a:effectLst/>
      </p:bgPr>
    </p:bg>
    <p:spTree>
      <p:nvGrpSpPr>
        <p:cNvPr id="1" name=""/>
        <p:cNvGrpSpPr/>
        <p:nvPr/>
      </p:nvGrpSpPr>
      <p:grpSpPr>
        <a:xfrm>
          <a:off x="0" y="0"/>
          <a:ext cx="0" cy="0"/>
          <a:chOff x="0" y="0"/>
          <a:chExt cx="0" cy="0"/>
        </a:xfrm>
      </p:grpSpPr>
      <p:grpSp>
        <p:nvGrpSpPr>
          <p:cNvPr id="2" name="Group 2"/>
          <p:cNvGrpSpPr/>
          <p:nvPr/>
        </p:nvGrpSpPr>
        <p:grpSpPr>
          <a:xfrm>
            <a:off x="16148113" y="0"/>
            <a:ext cx="3086100" cy="10287000"/>
            <a:chOff x="0" y="0"/>
            <a:chExt cx="812800" cy="2709333"/>
          </a:xfrm>
        </p:grpSpPr>
        <p:sp>
          <p:nvSpPr>
            <p:cNvPr id="3" name="Freeform 3"/>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4" name="TextBox 4"/>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rot="-10800000">
            <a:off x="1028700" y="3099309"/>
            <a:ext cx="3145523" cy="1004356"/>
          </a:xfrm>
          <a:custGeom>
            <a:avLst/>
            <a:gdLst/>
            <a:ahLst/>
            <a:cxnLst/>
            <a:rect l="l" t="t" r="r" b="b"/>
            <a:pathLst>
              <a:path w="3145523" h="1004356">
                <a:moveTo>
                  <a:pt x="0" y="0"/>
                </a:moveTo>
                <a:lnTo>
                  <a:pt x="3145523" y="0"/>
                </a:lnTo>
                <a:lnTo>
                  <a:pt x="3145523" y="1004356"/>
                </a:lnTo>
                <a:lnTo>
                  <a:pt x="0" y="1004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V="1">
            <a:off x="10661313" y="0"/>
            <a:ext cx="4440685" cy="2220342"/>
          </a:xfrm>
          <a:custGeom>
            <a:avLst/>
            <a:gdLst/>
            <a:ahLst/>
            <a:cxnLst/>
            <a:rect l="l" t="t" r="r" b="b"/>
            <a:pathLst>
              <a:path w="4440685" h="2220342">
                <a:moveTo>
                  <a:pt x="0" y="2220342"/>
                </a:moveTo>
                <a:lnTo>
                  <a:pt x="4440685" y="2220342"/>
                </a:lnTo>
                <a:lnTo>
                  <a:pt x="4440685" y="0"/>
                </a:lnTo>
                <a:lnTo>
                  <a:pt x="0" y="0"/>
                </a:lnTo>
                <a:lnTo>
                  <a:pt x="0" y="222034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4466493" y="2773423"/>
            <a:ext cx="1656127" cy="1656127"/>
          </a:xfrm>
          <a:custGeom>
            <a:avLst/>
            <a:gdLst/>
            <a:ahLst/>
            <a:cxnLst/>
            <a:rect l="l" t="t" r="r" b="b"/>
            <a:pathLst>
              <a:path w="1656127" h="1656127">
                <a:moveTo>
                  <a:pt x="0" y="0"/>
                </a:moveTo>
                <a:lnTo>
                  <a:pt x="1656128" y="0"/>
                </a:lnTo>
                <a:lnTo>
                  <a:pt x="1656128" y="1656127"/>
                </a:lnTo>
                <a:lnTo>
                  <a:pt x="0" y="1656127"/>
                </a:lnTo>
                <a:lnTo>
                  <a:pt x="0" y="0"/>
                </a:lnTo>
                <a:close/>
              </a:path>
            </a:pathLst>
          </a:custGeom>
          <a:blipFill>
            <a:blip r:embed="rId6"/>
            <a:stretch>
              <a:fillRect/>
            </a:stretch>
          </a:blipFill>
        </p:spPr>
      </p:sp>
      <p:sp>
        <p:nvSpPr>
          <p:cNvPr id="8" name="Freeform 8"/>
          <p:cNvSpPr/>
          <p:nvPr/>
        </p:nvSpPr>
        <p:spPr>
          <a:xfrm>
            <a:off x="10430767" y="2474821"/>
            <a:ext cx="5462397" cy="8229600"/>
          </a:xfrm>
          <a:custGeom>
            <a:avLst/>
            <a:gdLst/>
            <a:ahLst/>
            <a:cxnLst/>
            <a:rect l="l" t="t" r="r" b="b"/>
            <a:pathLst>
              <a:path w="5462397" h="8229600">
                <a:moveTo>
                  <a:pt x="0" y="0"/>
                </a:moveTo>
                <a:lnTo>
                  <a:pt x="5462397" y="0"/>
                </a:lnTo>
                <a:lnTo>
                  <a:pt x="5462397" y="8229600"/>
                </a:lnTo>
                <a:lnTo>
                  <a:pt x="0" y="8229600"/>
                </a:lnTo>
                <a:lnTo>
                  <a:pt x="0" y="0"/>
                </a:lnTo>
                <a:close/>
              </a:path>
            </a:pathLst>
          </a:custGeom>
          <a:blipFill>
            <a:blip r:embed="rId7"/>
            <a:stretch>
              <a:fillRect/>
            </a:stretch>
          </a:blipFill>
        </p:spPr>
      </p:sp>
      <p:sp>
        <p:nvSpPr>
          <p:cNvPr id="9" name="TextBox 9"/>
          <p:cNvSpPr txBox="1"/>
          <p:nvPr/>
        </p:nvSpPr>
        <p:spPr>
          <a:xfrm>
            <a:off x="1028700" y="5943926"/>
            <a:ext cx="9402067" cy="1243765"/>
          </a:xfrm>
          <a:prstGeom prst="rect">
            <a:avLst/>
          </a:prstGeom>
        </p:spPr>
        <p:txBody>
          <a:bodyPr lIns="0" tIns="0" rIns="0" bIns="0" rtlCol="0" anchor="t">
            <a:spAutoFit/>
          </a:bodyPr>
          <a:lstStyle/>
          <a:p>
            <a:pPr marL="0" lvl="0" indent="0" algn="just">
              <a:lnSpc>
                <a:spcPts val="3360"/>
              </a:lnSpc>
              <a:spcBef>
                <a:spcPct val="0"/>
              </a:spcBef>
            </a:pPr>
            <a:r>
              <a:rPr lang="en-US" sz="2400">
                <a:solidFill>
                  <a:srgbClr val="FFFFFF"/>
                </a:solidFill>
                <a:latin typeface="Open Sauce"/>
                <a:ea typeface="Open Sauce"/>
                <a:cs typeface="Open Sauce"/>
                <a:sym typeface="Open Sauce"/>
              </a:rPr>
              <a:t>Dala</a:t>
            </a:r>
            <a:r>
              <a:rPr lang="en-US" sz="2400" u="none" strike="noStrike">
                <a:solidFill>
                  <a:srgbClr val="FFFFFF"/>
                </a:solidFill>
                <a:latin typeface="Open Sauce"/>
                <a:ea typeface="Open Sauce"/>
                <a:cs typeface="Open Sauce"/>
                <a:sym typeface="Open Sauce"/>
              </a:rPr>
              <a:t>m penelitian ini, peneliti berperan sebagai instrumen utama (human instrument) yang secara langsung terlibat dalam proses pengumpulan, pengamatan, dan penafsiran data di lapangan. </a:t>
            </a:r>
          </a:p>
        </p:txBody>
      </p:sp>
      <p:sp>
        <p:nvSpPr>
          <p:cNvPr id="10" name="TextBox 10"/>
          <p:cNvSpPr txBox="1"/>
          <p:nvPr/>
        </p:nvSpPr>
        <p:spPr>
          <a:xfrm>
            <a:off x="1028700" y="4560648"/>
            <a:ext cx="10187841" cy="1130367"/>
          </a:xfrm>
          <a:prstGeom prst="rect">
            <a:avLst/>
          </a:prstGeom>
        </p:spPr>
        <p:txBody>
          <a:bodyPr lIns="0" tIns="0" rIns="0" bIns="0" rtlCol="0" anchor="t">
            <a:spAutoFit/>
          </a:bodyPr>
          <a:lstStyle/>
          <a:p>
            <a:pPr marL="0" lvl="0" indent="0" algn="l">
              <a:lnSpc>
                <a:spcPts val="9099"/>
              </a:lnSpc>
              <a:spcBef>
                <a:spcPct val="0"/>
              </a:spcBef>
            </a:pPr>
            <a:r>
              <a:rPr lang="en-US" sz="6999" b="1" spc="-230">
                <a:solidFill>
                  <a:srgbClr val="FFFFFF"/>
                </a:solidFill>
                <a:latin typeface="Open Sauce Bold"/>
                <a:ea typeface="Open Sauce Bold"/>
                <a:cs typeface="Open Sauce Bold"/>
                <a:sym typeface="Open Sauce Bold"/>
              </a:rPr>
              <a:t>I</a:t>
            </a:r>
            <a:r>
              <a:rPr lang="en-US" sz="6999" b="1" u="none" strike="noStrike" spc="-230">
                <a:solidFill>
                  <a:srgbClr val="FFFFFF"/>
                </a:solidFill>
                <a:latin typeface="Open Sauce Bold"/>
                <a:ea typeface="Open Sauce Bold"/>
                <a:cs typeface="Open Sauce Bold"/>
                <a:sym typeface="Open Sauce Bold"/>
              </a:rPr>
              <a:t>nstrumen Penelitian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grpSp>
        <p:nvGrpSpPr>
          <p:cNvPr id="2" name="Group 2"/>
          <p:cNvGrpSpPr/>
          <p:nvPr/>
        </p:nvGrpSpPr>
        <p:grpSpPr>
          <a:xfrm>
            <a:off x="771260" y="3945519"/>
            <a:ext cx="6868396" cy="953662"/>
            <a:chOff x="0" y="0"/>
            <a:chExt cx="1808960" cy="251170"/>
          </a:xfrm>
        </p:grpSpPr>
        <p:sp>
          <p:nvSpPr>
            <p:cNvPr id="3" name="Freeform 3"/>
            <p:cNvSpPr/>
            <p:nvPr/>
          </p:nvSpPr>
          <p:spPr>
            <a:xfrm>
              <a:off x="0" y="0"/>
              <a:ext cx="1808960" cy="251170"/>
            </a:xfrm>
            <a:custGeom>
              <a:avLst/>
              <a:gdLst/>
              <a:ahLst/>
              <a:cxnLst/>
              <a:rect l="l" t="t" r="r" b="b"/>
              <a:pathLst>
                <a:path w="1808960" h="251170">
                  <a:moveTo>
                    <a:pt x="112718" y="0"/>
                  </a:moveTo>
                  <a:lnTo>
                    <a:pt x="1696242" y="0"/>
                  </a:lnTo>
                  <a:cubicBezTo>
                    <a:pt x="1758495" y="0"/>
                    <a:pt x="1808960" y="50466"/>
                    <a:pt x="1808960" y="112718"/>
                  </a:cubicBezTo>
                  <a:lnTo>
                    <a:pt x="1808960" y="138452"/>
                  </a:lnTo>
                  <a:cubicBezTo>
                    <a:pt x="1808960" y="200705"/>
                    <a:pt x="1758495" y="251170"/>
                    <a:pt x="1696242" y="251170"/>
                  </a:cubicBezTo>
                  <a:lnTo>
                    <a:pt x="112718" y="251170"/>
                  </a:lnTo>
                  <a:cubicBezTo>
                    <a:pt x="50466" y="251170"/>
                    <a:pt x="0" y="200705"/>
                    <a:pt x="0" y="138452"/>
                  </a:cubicBezTo>
                  <a:lnTo>
                    <a:pt x="0" y="112718"/>
                  </a:lnTo>
                  <a:cubicBezTo>
                    <a:pt x="0" y="50466"/>
                    <a:pt x="50466" y="0"/>
                    <a:pt x="112718" y="0"/>
                  </a:cubicBezTo>
                  <a:close/>
                </a:path>
              </a:pathLst>
            </a:custGeom>
            <a:solidFill>
              <a:srgbClr val="FFFFFF"/>
            </a:solidFill>
          </p:spPr>
        </p:sp>
        <p:sp>
          <p:nvSpPr>
            <p:cNvPr id="4" name="TextBox 4"/>
            <p:cNvSpPr txBox="1"/>
            <p:nvPr/>
          </p:nvSpPr>
          <p:spPr>
            <a:xfrm>
              <a:off x="0" y="-47625"/>
              <a:ext cx="1808960" cy="298795"/>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a:off x="15519668" y="600075"/>
            <a:ext cx="2768332" cy="883920"/>
          </a:xfrm>
          <a:custGeom>
            <a:avLst/>
            <a:gdLst/>
            <a:ahLst/>
            <a:cxnLst/>
            <a:rect l="l" t="t" r="r" b="b"/>
            <a:pathLst>
              <a:path w="2768332" h="883920">
                <a:moveTo>
                  <a:pt x="0" y="0"/>
                </a:moveTo>
                <a:lnTo>
                  <a:pt x="2768332" y="0"/>
                </a:lnTo>
                <a:lnTo>
                  <a:pt x="2768332" y="883920"/>
                </a:lnTo>
                <a:lnTo>
                  <a:pt x="0" y="883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236794" y="8755113"/>
            <a:ext cx="4867569" cy="2433784"/>
          </a:xfrm>
          <a:custGeom>
            <a:avLst/>
            <a:gdLst/>
            <a:ahLst/>
            <a:cxnLst/>
            <a:rect l="l" t="t" r="r" b="b"/>
            <a:pathLst>
              <a:path w="4867569" h="2433784">
                <a:moveTo>
                  <a:pt x="0" y="0"/>
                </a:moveTo>
                <a:lnTo>
                  <a:pt x="4867569" y="0"/>
                </a:lnTo>
                <a:lnTo>
                  <a:pt x="4867569" y="2433785"/>
                </a:lnTo>
                <a:lnTo>
                  <a:pt x="0" y="2433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6126917" y="9258300"/>
            <a:ext cx="4867569" cy="2433784"/>
          </a:xfrm>
          <a:custGeom>
            <a:avLst/>
            <a:gdLst/>
            <a:ahLst/>
            <a:cxnLst/>
            <a:rect l="l" t="t" r="r" b="b"/>
            <a:pathLst>
              <a:path w="4867569" h="2433784">
                <a:moveTo>
                  <a:pt x="0" y="0"/>
                </a:moveTo>
                <a:lnTo>
                  <a:pt x="4867569" y="0"/>
                </a:lnTo>
                <a:lnTo>
                  <a:pt x="4867569" y="2433784"/>
                </a:lnTo>
                <a:lnTo>
                  <a:pt x="0" y="2433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771260" y="5264839"/>
            <a:ext cx="6868396" cy="953662"/>
            <a:chOff x="0" y="0"/>
            <a:chExt cx="1808960" cy="251170"/>
          </a:xfrm>
        </p:grpSpPr>
        <p:sp>
          <p:nvSpPr>
            <p:cNvPr id="9" name="Freeform 9"/>
            <p:cNvSpPr/>
            <p:nvPr/>
          </p:nvSpPr>
          <p:spPr>
            <a:xfrm>
              <a:off x="0" y="0"/>
              <a:ext cx="1808960" cy="251170"/>
            </a:xfrm>
            <a:custGeom>
              <a:avLst/>
              <a:gdLst/>
              <a:ahLst/>
              <a:cxnLst/>
              <a:rect l="l" t="t" r="r" b="b"/>
              <a:pathLst>
                <a:path w="1808960" h="251170">
                  <a:moveTo>
                    <a:pt x="112718" y="0"/>
                  </a:moveTo>
                  <a:lnTo>
                    <a:pt x="1696242" y="0"/>
                  </a:lnTo>
                  <a:cubicBezTo>
                    <a:pt x="1758495" y="0"/>
                    <a:pt x="1808960" y="50466"/>
                    <a:pt x="1808960" y="112718"/>
                  </a:cubicBezTo>
                  <a:lnTo>
                    <a:pt x="1808960" y="138452"/>
                  </a:lnTo>
                  <a:cubicBezTo>
                    <a:pt x="1808960" y="200705"/>
                    <a:pt x="1758495" y="251170"/>
                    <a:pt x="1696242" y="251170"/>
                  </a:cubicBezTo>
                  <a:lnTo>
                    <a:pt x="112718" y="251170"/>
                  </a:lnTo>
                  <a:cubicBezTo>
                    <a:pt x="50466" y="251170"/>
                    <a:pt x="0" y="200705"/>
                    <a:pt x="0" y="138452"/>
                  </a:cubicBezTo>
                  <a:lnTo>
                    <a:pt x="0" y="112718"/>
                  </a:lnTo>
                  <a:cubicBezTo>
                    <a:pt x="0" y="50466"/>
                    <a:pt x="50466" y="0"/>
                    <a:pt x="112718" y="0"/>
                  </a:cubicBezTo>
                  <a:close/>
                </a:path>
              </a:pathLst>
            </a:custGeom>
            <a:solidFill>
              <a:srgbClr val="FFFFFF"/>
            </a:solidFill>
          </p:spPr>
        </p:sp>
        <p:sp>
          <p:nvSpPr>
            <p:cNvPr id="10" name="TextBox 10"/>
            <p:cNvSpPr txBox="1"/>
            <p:nvPr/>
          </p:nvSpPr>
          <p:spPr>
            <a:xfrm>
              <a:off x="0" y="-47625"/>
              <a:ext cx="1808960" cy="298795"/>
            </a:xfrm>
            <a:prstGeom prst="rect">
              <a:avLst/>
            </a:prstGeom>
          </p:spPr>
          <p:txBody>
            <a:bodyPr lIns="50800" tIns="50800" rIns="50800" bIns="50800" rtlCol="0" anchor="ctr"/>
            <a:lstStyle/>
            <a:p>
              <a:pPr algn="ctr">
                <a:lnSpc>
                  <a:spcPts val="3500"/>
                </a:lnSpc>
              </a:pPr>
              <a:endParaRPr/>
            </a:p>
          </p:txBody>
        </p:sp>
      </p:grpSp>
      <p:grpSp>
        <p:nvGrpSpPr>
          <p:cNvPr id="11" name="Group 11"/>
          <p:cNvGrpSpPr/>
          <p:nvPr/>
        </p:nvGrpSpPr>
        <p:grpSpPr>
          <a:xfrm>
            <a:off x="771260" y="6584159"/>
            <a:ext cx="6868396" cy="953662"/>
            <a:chOff x="0" y="0"/>
            <a:chExt cx="1808960" cy="251170"/>
          </a:xfrm>
        </p:grpSpPr>
        <p:sp>
          <p:nvSpPr>
            <p:cNvPr id="12" name="Freeform 12"/>
            <p:cNvSpPr/>
            <p:nvPr/>
          </p:nvSpPr>
          <p:spPr>
            <a:xfrm>
              <a:off x="0" y="0"/>
              <a:ext cx="1808960" cy="251170"/>
            </a:xfrm>
            <a:custGeom>
              <a:avLst/>
              <a:gdLst/>
              <a:ahLst/>
              <a:cxnLst/>
              <a:rect l="l" t="t" r="r" b="b"/>
              <a:pathLst>
                <a:path w="1808960" h="251170">
                  <a:moveTo>
                    <a:pt x="112718" y="0"/>
                  </a:moveTo>
                  <a:lnTo>
                    <a:pt x="1696242" y="0"/>
                  </a:lnTo>
                  <a:cubicBezTo>
                    <a:pt x="1758495" y="0"/>
                    <a:pt x="1808960" y="50466"/>
                    <a:pt x="1808960" y="112718"/>
                  </a:cubicBezTo>
                  <a:lnTo>
                    <a:pt x="1808960" y="138452"/>
                  </a:lnTo>
                  <a:cubicBezTo>
                    <a:pt x="1808960" y="200705"/>
                    <a:pt x="1758495" y="251170"/>
                    <a:pt x="1696242" y="251170"/>
                  </a:cubicBezTo>
                  <a:lnTo>
                    <a:pt x="112718" y="251170"/>
                  </a:lnTo>
                  <a:cubicBezTo>
                    <a:pt x="50466" y="251170"/>
                    <a:pt x="0" y="200705"/>
                    <a:pt x="0" y="138452"/>
                  </a:cubicBezTo>
                  <a:lnTo>
                    <a:pt x="0" y="112718"/>
                  </a:lnTo>
                  <a:cubicBezTo>
                    <a:pt x="0" y="50466"/>
                    <a:pt x="50466" y="0"/>
                    <a:pt x="112718" y="0"/>
                  </a:cubicBezTo>
                  <a:close/>
                </a:path>
              </a:pathLst>
            </a:custGeom>
            <a:solidFill>
              <a:srgbClr val="FFFFFF"/>
            </a:solidFill>
          </p:spPr>
        </p:sp>
        <p:sp>
          <p:nvSpPr>
            <p:cNvPr id="13" name="TextBox 13"/>
            <p:cNvSpPr txBox="1"/>
            <p:nvPr/>
          </p:nvSpPr>
          <p:spPr>
            <a:xfrm>
              <a:off x="0" y="-47625"/>
              <a:ext cx="1808960" cy="298795"/>
            </a:xfrm>
            <a:prstGeom prst="rect">
              <a:avLst/>
            </a:prstGeom>
          </p:spPr>
          <p:txBody>
            <a:bodyPr lIns="50800" tIns="50800" rIns="50800" bIns="50800" rtlCol="0" anchor="ctr"/>
            <a:lstStyle/>
            <a:p>
              <a:pPr algn="ctr">
                <a:lnSpc>
                  <a:spcPts val="3500"/>
                </a:lnSpc>
              </a:pPr>
              <a:endParaRPr/>
            </a:p>
          </p:txBody>
        </p:sp>
      </p:grpSp>
      <p:sp>
        <p:nvSpPr>
          <p:cNvPr id="14" name="Freeform 14"/>
          <p:cNvSpPr/>
          <p:nvPr/>
        </p:nvSpPr>
        <p:spPr>
          <a:xfrm>
            <a:off x="2909343" y="1028700"/>
            <a:ext cx="1656127" cy="1656127"/>
          </a:xfrm>
          <a:custGeom>
            <a:avLst/>
            <a:gdLst/>
            <a:ahLst/>
            <a:cxnLst/>
            <a:rect l="l" t="t" r="r" b="b"/>
            <a:pathLst>
              <a:path w="1656127" h="1656127">
                <a:moveTo>
                  <a:pt x="0" y="0"/>
                </a:moveTo>
                <a:lnTo>
                  <a:pt x="1656127" y="0"/>
                </a:lnTo>
                <a:lnTo>
                  <a:pt x="1656127" y="1656127"/>
                </a:lnTo>
                <a:lnTo>
                  <a:pt x="0" y="1656127"/>
                </a:lnTo>
                <a:lnTo>
                  <a:pt x="0" y="0"/>
                </a:lnTo>
                <a:close/>
              </a:path>
            </a:pathLst>
          </a:custGeom>
          <a:blipFill>
            <a:blip r:embed="rId6"/>
            <a:stretch>
              <a:fillRect/>
            </a:stretch>
          </a:blipFill>
        </p:spPr>
      </p:sp>
      <p:sp>
        <p:nvSpPr>
          <p:cNvPr id="15" name="Freeform 15"/>
          <p:cNvSpPr/>
          <p:nvPr/>
        </p:nvSpPr>
        <p:spPr>
          <a:xfrm>
            <a:off x="8936973" y="5554313"/>
            <a:ext cx="7433904" cy="4999300"/>
          </a:xfrm>
          <a:custGeom>
            <a:avLst/>
            <a:gdLst/>
            <a:ahLst/>
            <a:cxnLst/>
            <a:rect l="l" t="t" r="r" b="b"/>
            <a:pathLst>
              <a:path w="7433904" h="4999300">
                <a:moveTo>
                  <a:pt x="0" y="0"/>
                </a:moveTo>
                <a:lnTo>
                  <a:pt x="7433904" y="0"/>
                </a:lnTo>
                <a:lnTo>
                  <a:pt x="7433904" y="4999300"/>
                </a:lnTo>
                <a:lnTo>
                  <a:pt x="0" y="49993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TextBox 16"/>
          <p:cNvSpPr txBox="1"/>
          <p:nvPr/>
        </p:nvSpPr>
        <p:spPr>
          <a:xfrm>
            <a:off x="771260" y="2787279"/>
            <a:ext cx="10994653" cy="872490"/>
          </a:xfrm>
          <a:prstGeom prst="rect">
            <a:avLst/>
          </a:prstGeom>
        </p:spPr>
        <p:txBody>
          <a:bodyPr lIns="0" tIns="0" rIns="0" bIns="0" rtlCol="0" anchor="t">
            <a:spAutoFit/>
          </a:bodyPr>
          <a:lstStyle/>
          <a:p>
            <a:pPr marL="0" lvl="0" indent="0" algn="l">
              <a:lnSpc>
                <a:spcPts val="6779"/>
              </a:lnSpc>
              <a:spcBef>
                <a:spcPct val="0"/>
              </a:spcBef>
            </a:pPr>
            <a:r>
              <a:rPr lang="en-US" sz="5999" b="1" spc="-197">
                <a:solidFill>
                  <a:srgbClr val="FFFFFF"/>
                </a:solidFill>
                <a:latin typeface="Open Sauce Bold"/>
                <a:ea typeface="Open Sauce Bold"/>
                <a:cs typeface="Open Sauce Bold"/>
                <a:sym typeface="Open Sauce Bold"/>
              </a:rPr>
              <a:t>Teknik Pengumpulan D</a:t>
            </a:r>
            <a:r>
              <a:rPr lang="en-US" sz="5999" b="1" u="none" strike="noStrike" spc="-197">
                <a:solidFill>
                  <a:srgbClr val="FFFFFF"/>
                </a:solidFill>
                <a:latin typeface="Open Sauce Bold"/>
                <a:ea typeface="Open Sauce Bold"/>
                <a:cs typeface="Open Sauce Bold"/>
                <a:sym typeface="Open Sauce Bold"/>
              </a:rPr>
              <a:t>ata</a:t>
            </a:r>
          </a:p>
        </p:txBody>
      </p:sp>
      <p:sp>
        <p:nvSpPr>
          <p:cNvPr id="17" name="TextBox 17"/>
          <p:cNvSpPr txBox="1"/>
          <p:nvPr/>
        </p:nvSpPr>
        <p:spPr>
          <a:xfrm>
            <a:off x="1595537" y="4187367"/>
            <a:ext cx="5219842" cy="422340"/>
          </a:xfrm>
          <a:prstGeom prst="rect">
            <a:avLst/>
          </a:prstGeom>
        </p:spPr>
        <p:txBody>
          <a:bodyPr lIns="0" tIns="0" rIns="0" bIns="0" rtlCol="0" anchor="t">
            <a:spAutoFit/>
          </a:bodyPr>
          <a:lstStyle/>
          <a:p>
            <a:pPr marL="0" lvl="0" indent="0" algn="ctr">
              <a:lnSpc>
                <a:spcPts val="3500"/>
              </a:lnSpc>
              <a:spcBef>
                <a:spcPct val="0"/>
              </a:spcBef>
            </a:pPr>
            <a:r>
              <a:rPr lang="en-US" sz="2500">
                <a:solidFill>
                  <a:srgbClr val="03045A"/>
                </a:solidFill>
                <a:latin typeface="Open Sauce"/>
                <a:ea typeface="Open Sauce"/>
                <a:cs typeface="Open Sauce"/>
                <a:sym typeface="Open Sauce"/>
              </a:rPr>
              <a:t>Wawancara (Interview)</a:t>
            </a:r>
          </a:p>
        </p:txBody>
      </p:sp>
      <p:sp>
        <p:nvSpPr>
          <p:cNvPr id="18" name="TextBox 18"/>
          <p:cNvSpPr txBox="1"/>
          <p:nvPr/>
        </p:nvSpPr>
        <p:spPr>
          <a:xfrm>
            <a:off x="1595537" y="5506688"/>
            <a:ext cx="5219842" cy="422340"/>
          </a:xfrm>
          <a:prstGeom prst="rect">
            <a:avLst/>
          </a:prstGeom>
        </p:spPr>
        <p:txBody>
          <a:bodyPr lIns="0" tIns="0" rIns="0" bIns="0" rtlCol="0" anchor="t">
            <a:spAutoFit/>
          </a:bodyPr>
          <a:lstStyle/>
          <a:p>
            <a:pPr marL="0" lvl="0" indent="0" algn="ctr">
              <a:lnSpc>
                <a:spcPts val="3500"/>
              </a:lnSpc>
              <a:spcBef>
                <a:spcPct val="0"/>
              </a:spcBef>
            </a:pPr>
            <a:r>
              <a:rPr lang="en-US" sz="2500">
                <a:solidFill>
                  <a:srgbClr val="03045A"/>
                </a:solidFill>
                <a:latin typeface="Open Sauce"/>
                <a:ea typeface="Open Sauce"/>
                <a:cs typeface="Open Sauce"/>
                <a:sym typeface="Open Sauce"/>
              </a:rPr>
              <a:t>Observasi (Observation)</a:t>
            </a:r>
          </a:p>
        </p:txBody>
      </p:sp>
      <p:sp>
        <p:nvSpPr>
          <p:cNvPr id="19" name="TextBox 19"/>
          <p:cNvSpPr txBox="1"/>
          <p:nvPr/>
        </p:nvSpPr>
        <p:spPr>
          <a:xfrm>
            <a:off x="1595537" y="6826008"/>
            <a:ext cx="5219842" cy="422340"/>
          </a:xfrm>
          <a:prstGeom prst="rect">
            <a:avLst/>
          </a:prstGeom>
        </p:spPr>
        <p:txBody>
          <a:bodyPr lIns="0" tIns="0" rIns="0" bIns="0" rtlCol="0" anchor="t">
            <a:spAutoFit/>
          </a:bodyPr>
          <a:lstStyle/>
          <a:p>
            <a:pPr marL="0" lvl="0" indent="0" algn="ctr">
              <a:lnSpc>
                <a:spcPts val="3500"/>
              </a:lnSpc>
              <a:spcBef>
                <a:spcPct val="0"/>
              </a:spcBef>
            </a:pPr>
            <a:r>
              <a:rPr lang="en-US" sz="2500">
                <a:solidFill>
                  <a:srgbClr val="03045A"/>
                </a:solidFill>
                <a:latin typeface="Open Sauce"/>
                <a:ea typeface="Open Sauce"/>
                <a:cs typeface="Open Sauce"/>
                <a:sym typeface="Open Sauce"/>
              </a:rPr>
              <a:t>Dokumentasi (Documentation)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grpSp>
        <p:nvGrpSpPr>
          <p:cNvPr id="2" name="Group 2"/>
          <p:cNvGrpSpPr/>
          <p:nvPr/>
        </p:nvGrpSpPr>
        <p:grpSpPr>
          <a:xfrm>
            <a:off x="10390904" y="3865231"/>
            <a:ext cx="6868396" cy="953662"/>
            <a:chOff x="0" y="0"/>
            <a:chExt cx="1808960" cy="251170"/>
          </a:xfrm>
        </p:grpSpPr>
        <p:sp>
          <p:nvSpPr>
            <p:cNvPr id="3" name="Freeform 3"/>
            <p:cNvSpPr/>
            <p:nvPr/>
          </p:nvSpPr>
          <p:spPr>
            <a:xfrm>
              <a:off x="0" y="0"/>
              <a:ext cx="1808960" cy="251170"/>
            </a:xfrm>
            <a:custGeom>
              <a:avLst/>
              <a:gdLst/>
              <a:ahLst/>
              <a:cxnLst/>
              <a:rect l="l" t="t" r="r" b="b"/>
              <a:pathLst>
                <a:path w="1808960" h="251170">
                  <a:moveTo>
                    <a:pt x="112718" y="0"/>
                  </a:moveTo>
                  <a:lnTo>
                    <a:pt x="1696242" y="0"/>
                  </a:lnTo>
                  <a:cubicBezTo>
                    <a:pt x="1758495" y="0"/>
                    <a:pt x="1808960" y="50466"/>
                    <a:pt x="1808960" y="112718"/>
                  </a:cubicBezTo>
                  <a:lnTo>
                    <a:pt x="1808960" y="138452"/>
                  </a:lnTo>
                  <a:cubicBezTo>
                    <a:pt x="1808960" y="200705"/>
                    <a:pt x="1758495" y="251170"/>
                    <a:pt x="1696242" y="251170"/>
                  </a:cubicBezTo>
                  <a:lnTo>
                    <a:pt x="112718" y="251170"/>
                  </a:lnTo>
                  <a:cubicBezTo>
                    <a:pt x="50466" y="251170"/>
                    <a:pt x="0" y="200705"/>
                    <a:pt x="0" y="138452"/>
                  </a:cubicBezTo>
                  <a:lnTo>
                    <a:pt x="0" y="112718"/>
                  </a:lnTo>
                  <a:cubicBezTo>
                    <a:pt x="0" y="50466"/>
                    <a:pt x="50466" y="0"/>
                    <a:pt x="112718" y="0"/>
                  </a:cubicBezTo>
                  <a:close/>
                </a:path>
              </a:pathLst>
            </a:custGeom>
            <a:solidFill>
              <a:srgbClr val="FFFFFF"/>
            </a:solidFill>
          </p:spPr>
        </p:sp>
        <p:sp>
          <p:nvSpPr>
            <p:cNvPr id="4" name="TextBox 4"/>
            <p:cNvSpPr txBox="1"/>
            <p:nvPr/>
          </p:nvSpPr>
          <p:spPr>
            <a:xfrm>
              <a:off x="0" y="-47625"/>
              <a:ext cx="1808960" cy="298795"/>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a:off x="15519668" y="600075"/>
            <a:ext cx="2768332" cy="883920"/>
          </a:xfrm>
          <a:custGeom>
            <a:avLst/>
            <a:gdLst/>
            <a:ahLst/>
            <a:cxnLst/>
            <a:rect l="l" t="t" r="r" b="b"/>
            <a:pathLst>
              <a:path w="2768332" h="883920">
                <a:moveTo>
                  <a:pt x="0" y="0"/>
                </a:moveTo>
                <a:lnTo>
                  <a:pt x="2768332" y="0"/>
                </a:lnTo>
                <a:lnTo>
                  <a:pt x="2768332" y="883920"/>
                </a:lnTo>
                <a:lnTo>
                  <a:pt x="0" y="883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236794" y="8755113"/>
            <a:ext cx="4867569" cy="2433784"/>
          </a:xfrm>
          <a:custGeom>
            <a:avLst/>
            <a:gdLst/>
            <a:ahLst/>
            <a:cxnLst/>
            <a:rect l="l" t="t" r="r" b="b"/>
            <a:pathLst>
              <a:path w="4867569" h="2433784">
                <a:moveTo>
                  <a:pt x="0" y="0"/>
                </a:moveTo>
                <a:lnTo>
                  <a:pt x="4867569" y="0"/>
                </a:lnTo>
                <a:lnTo>
                  <a:pt x="4867569" y="2433785"/>
                </a:lnTo>
                <a:lnTo>
                  <a:pt x="0" y="2433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6126917" y="9258300"/>
            <a:ext cx="4867569" cy="2433784"/>
          </a:xfrm>
          <a:custGeom>
            <a:avLst/>
            <a:gdLst/>
            <a:ahLst/>
            <a:cxnLst/>
            <a:rect l="l" t="t" r="r" b="b"/>
            <a:pathLst>
              <a:path w="4867569" h="2433784">
                <a:moveTo>
                  <a:pt x="0" y="0"/>
                </a:moveTo>
                <a:lnTo>
                  <a:pt x="4867569" y="0"/>
                </a:lnTo>
                <a:lnTo>
                  <a:pt x="4867569" y="2433784"/>
                </a:lnTo>
                <a:lnTo>
                  <a:pt x="0" y="2433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10390904" y="5184552"/>
            <a:ext cx="6868396" cy="953662"/>
            <a:chOff x="0" y="0"/>
            <a:chExt cx="1808960" cy="251170"/>
          </a:xfrm>
        </p:grpSpPr>
        <p:sp>
          <p:nvSpPr>
            <p:cNvPr id="9" name="Freeform 9"/>
            <p:cNvSpPr/>
            <p:nvPr/>
          </p:nvSpPr>
          <p:spPr>
            <a:xfrm>
              <a:off x="0" y="0"/>
              <a:ext cx="1808960" cy="251170"/>
            </a:xfrm>
            <a:custGeom>
              <a:avLst/>
              <a:gdLst/>
              <a:ahLst/>
              <a:cxnLst/>
              <a:rect l="l" t="t" r="r" b="b"/>
              <a:pathLst>
                <a:path w="1808960" h="251170">
                  <a:moveTo>
                    <a:pt x="112718" y="0"/>
                  </a:moveTo>
                  <a:lnTo>
                    <a:pt x="1696242" y="0"/>
                  </a:lnTo>
                  <a:cubicBezTo>
                    <a:pt x="1758495" y="0"/>
                    <a:pt x="1808960" y="50466"/>
                    <a:pt x="1808960" y="112718"/>
                  </a:cubicBezTo>
                  <a:lnTo>
                    <a:pt x="1808960" y="138452"/>
                  </a:lnTo>
                  <a:cubicBezTo>
                    <a:pt x="1808960" y="200705"/>
                    <a:pt x="1758495" y="251170"/>
                    <a:pt x="1696242" y="251170"/>
                  </a:cubicBezTo>
                  <a:lnTo>
                    <a:pt x="112718" y="251170"/>
                  </a:lnTo>
                  <a:cubicBezTo>
                    <a:pt x="50466" y="251170"/>
                    <a:pt x="0" y="200705"/>
                    <a:pt x="0" y="138452"/>
                  </a:cubicBezTo>
                  <a:lnTo>
                    <a:pt x="0" y="112718"/>
                  </a:lnTo>
                  <a:cubicBezTo>
                    <a:pt x="0" y="50466"/>
                    <a:pt x="50466" y="0"/>
                    <a:pt x="112718" y="0"/>
                  </a:cubicBezTo>
                  <a:close/>
                </a:path>
              </a:pathLst>
            </a:custGeom>
            <a:solidFill>
              <a:srgbClr val="FFFFFF"/>
            </a:solidFill>
          </p:spPr>
        </p:sp>
        <p:sp>
          <p:nvSpPr>
            <p:cNvPr id="10" name="TextBox 10"/>
            <p:cNvSpPr txBox="1"/>
            <p:nvPr/>
          </p:nvSpPr>
          <p:spPr>
            <a:xfrm>
              <a:off x="0" y="-47625"/>
              <a:ext cx="1808960" cy="298795"/>
            </a:xfrm>
            <a:prstGeom prst="rect">
              <a:avLst/>
            </a:prstGeom>
          </p:spPr>
          <p:txBody>
            <a:bodyPr lIns="50800" tIns="50800" rIns="50800" bIns="50800" rtlCol="0" anchor="ctr"/>
            <a:lstStyle/>
            <a:p>
              <a:pPr algn="ctr">
                <a:lnSpc>
                  <a:spcPts val="3500"/>
                </a:lnSpc>
              </a:pPr>
              <a:endParaRPr/>
            </a:p>
          </p:txBody>
        </p:sp>
      </p:grpSp>
      <p:grpSp>
        <p:nvGrpSpPr>
          <p:cNvPr id="11" name="Group 11"/>
          <p:cNvGrpSpPr/>
          <p:nvPr/>
        </p:nvGrpSpPr>
        <p:grpSpPr>
          <a:xfrm>
            <a:off x="10390904" y="6503872"/>
            <a:ext cx="6868396" cy="1901785"/>
            <a:chOff x="0" y="0"/>
            <a:chExt cx="1808960" cy="500882"/>
          </a:xfrm>
        </p:grpSpPr>
        <p:sp>
          <p:nvSpPr>
            <p:cNvPr id="12" name="Freeform 12"/>
            <p:cNvSpPr/>
            <p:nvPr/>
          </p:nvSpPr>
          <p:spPr>
            <a:xfrm>
              <a:off x="0" y="0"/>
              <a:ext cx="1808960" cy="500882"/>
            </a:xfrm>
            <a:custGeom>
              <a:avLst/>
              <a:gdLst/>
              <a:ahLst/>
              <a:cxnLst/>
              <a:rect l="l" t="t" r="r" b="b"/>
              <a:pathLst>
                <a:path w="1808960" h="500882">
                  <a:moveTo>
                    <a:pt x="112718" y="0"/>
                  </a:moveTo>
                  <a:lnTo>
                    <a:pt x="1696242" y="0"/>
                  </a:lnTo>
                  <a:cubicBezTo>
                    <a:pt x="1758495" y="0"/>
                    <a:pt x="1808960" y="50466"/>
                    <a:pt x="1808960" y="112718"/>
                  </a:cubicBezTo>
                  <a:lnTo>
                    <a:pt x="1808960" y="388164"/>
                  </a:lnTo>
                  <a:cubicBezTo>
                    <a:pt x="1808960" y="450416"/>
                    <a:pt x="1758495" y="500882"/>
                    <a:pt x="1696242" y="500882"/>
                  </a:cubicBezTo>
                  <a:lnTo>
                    <a:pt x="112718" y="500882"/>
                  </a:lnTo>
                  <a:cubicBezTo>
                    <a:pt x="50466" y="500882"/>
                    <a:pt x="0" y="450416"/>
                    <a:pt x="0" y="388164"/>
                  </a:cubicBezTo>
                  <a:lnTo>
                    <a:pt x="0" y="112718"/>
                  </a:lnTo>
                  <a:cubicBezTo>
                    <a:pt x="0" y="50466"/>
                    <a:pt x="50466" y="0"/>
                    <a:pt x="112718" y="0"/>
                  </a:cubicBezTo>
                  <a:close/>
                </a:path>
              </a:pathLst>
            </a:custGeom>
            <a:solidFill>
              <a:srgbClr val="FFFFFF"/>
            </a:solidFill>
          </p:spPr>
        </p:sp>
        <p:sp>
          <p:nvSpPr>
            <p:cNvPr id="13" name="TextBox 13"/>
            <p:cNvSpPr txBox="1"/>
            <p:nvPr/>
          </p:nvSpPr>
          <p:spPr>
            <a:xfrm>
              <a:off x="0" y="-47625"/>
              <a:ext cx="1808960" cy="548507"/>
            </a:xfrm>
            <a:prstGeom prst="rect">
              <a:avLst/>
            </a:prstGeom>
          </p:spPr>
          <p:txBody>
            <a:bodyPr lIns="50800" tIns="50800" rIns="50800" bIns="50800" rtlCol="0" anchor="ctr"/>
            <a:lstStyle/>
            <a:p>
              <a:pPr algn="ctr">
                <a:lnSpc>
                  <a:spcPts val="3500"/>
                </a:lnSpc>
              </a:pPr>
              <a:endParaRPr/>
            </a:p>
          </p:txBody>
        </p:sp>
      </p:grpSp>
      <p:sp>
        <p:nvSpPr>
          <p:cNvPr id="14" name="Freeform 14"/>
          <p:cNvSpPr/>
          <p:nvPr/>
        </p:nvSpPr>
        <p:spPr>
          <a:xfrm>
            <a:off x="14778895" y="655931"/>
            <a:ext cx="1656127" cy="1656127"/>
          </a:xfrm>
          <a:custGeom>
            <a:avLst/>
            <a:gdLst/>
            <a:ahLst/>
            <a:cxnLst/>
            <a:rect l="l" t="t" r="r" b="b"/>
            <a:pathLst>
              <a:path w="1656127" h="1656127">
                <a:moveTo>
                  <a:pt x="0" y="0"/>
                </a:moveTo>
                <a:lnTo>
                  <a:pt x="1656128" y="0"/>
                </a:lnTo>
                <a:lnTo>
                  <a:pt x="1656128" y="1656128"/>
                </a:lnTo>
                <a:lnTo>
                  <a:pt x="0" y="1656128"/>
                </a:lnTo>
                <a:lnTo>
                  <a:pt x="0" y="0"/>
                </a:lnTo>
                <a:close/>
              </a:path>
            </a:pathLst>
          </a:custGeom>
          <a:blipFill>
            <a:blip r:embed="rId6"/>
            <a:stretch>
              <a:fillRect/>
            </a:stretch>
          </a:blipFill>
        </p:spPr>
      </p:sp>
      <p:sp>
        <p:nvSpPr>
          <p:cNvPr id="15" name="Freeform 15"/>
          <p:cNvSpPr/>
          <p:nvPr/>
        </p:nvSpPr>
        <p:spPr>
          <a:xfrm>
            <a:off x="606258" y="2312059"/>
            <a:ext cx="6882003" cy="8229600"/>
          </a:xfrm>
          <a:custGeom>
            <a:avLst/>
            <a:gdLst/>
            <a:ahLst/>
            <a:cxnLst/>
            <a:rect l="l" t="t" r="r" b="b"/>
            <a:pathLst>
              <a:path w="6882003" h="8229600">
                <a:moveTo>
                  <a:pt x="0" y="0"/>
                </a:moveTo>
                <a:lnTo>
                  <a:pt x="6882003" y="0"/>
                </a:lnTo>
                <a:lnTo>
                  <a:pt x="6882003" y="8229600"/>
                </a:lnTo>
                <a:lnTo>
                  <a:pt x="0" y="8229600"/>
                </a:lnTo>
                <a:lnTo>
                  <a:pt x="0" y="0"/>
                </a:lnTo>
                <a:close/>
              </a:path>
            </a:pathLst>
          </a:custGeom>
          <a:blipFill>
            <a:blip r:embed="rId7"/>
            <a:stretch>
              <a:fillRect/>
            </a:stretch>
          </a:blipFill>
        </p:spPr>
      </p:sp>
      <p:sp>
        <p:nvSpPr>
          <p:cNvPr id="16" name="TextBox 16"/>
          <p:cNvSpPr txBox="1"/>
          <p:nvPr/>
        </p:nvSpPr>
        <p:spPr>
          <a:xfrm>
            <a:off x="6264647" y="2867566"/>
            <a:ext cx="10994653" cy="872490"/>
          </a:xfrm>
          <a:prstGeom prst="rect">
            <a:avLst/>
          </a:prstGeom>
        </p:spPr>
        <p:txBody>
          <a:bodyPr lIns="0" tIns="0" rIns="0" bIns="0" rtlCol="0" anchor="t">
            <a:spAutoFit/>
          </a:bodyPr>
          <a:lstStyle/>
          <a:p>
            <a:pPr marL="0" lvl="0" indent="0" algn="r">
              <a:lnSpc>
                <a:spcPts val="6779"/>
              </a:lnSpc>
              <a:spcBef>
                <a:spcPct val="0"/>
              </a:spcBef>
            </a:pPr>
            <a:r>
              <a:rPr lang="en-US" sz="5999" b="1" spc="-197">
                <a:solidFill>
                  <a:srgbClr val="FFFFFF"/>
                </a:solidFill>
                <a:latin typeface="Open Sauce Bold"/>
                <a:ea typeface="Open Sauce Bold"/>
                <a:cs typeface="Open Sauce Bold"/>
                <a:sym typeface="Open Sauce Bold"/>
              </a:rPr>
              <a:t>Teknik Analisis D</a:t>
            </a:r>
            <a:r>
              <a:rPr lang="en-US" sz="5999" b="1" u="none" strike="noStrike" spc="-197">
                <a:solidFill>
                  <a:srgbClr val="FFFFFF"/>
                </a:solidFill>
                <a:latin typeface="Open Sauce Bold"/>
                <a:ea typeface="Open Sauce Bold"/>
                <a:cs typeface="Open Sauce Bold"/>
                <a:sym typeface="Open Sauce Bold"/>
              </a:rPr>
              <a:t>ata</a:t>
            </a:r>
          </a:p>
        </p:txBody>
      </p:sp>
      <p:sp>
        <p:nvSpPr>
          <p:cNvPr id="17" name="TextBox 17"/>
          <p:cNvSpPr txBox="1"/>
          <p:nvPr/>
        </p:nvSpPr>
        <p:spPr>
          <a:xfrm>
            <a:off x="11215181" y="4107080"/>
            <a:ext cx="5219842" cy="422340"/>
          </a:xfrm>
          <a:prstGeom prst="rect">
            <a:avLst/>
          </a:prstGeom>
        </p:spPr>
        <p:txBody>
          <a:bodyPr lIns="0" tIns="0" rIns="0" bIns="0" rtlCol="0" anchor="t">
            <a:spAutoFit/>
          </a:bodyPr>
          <a:lstStyle/>
          <a:p>
            <a:pPr marL="0" lvl="0" indent="0" algn="ctr">
              <a:lnSpc>
                <a:spcPts val="3500"/>
              </a:lnSpc>
              <a:spcBef>
                <a:spcPct val="0"/>
              </a:spcBef>
            </a:pPr>
            <a:r>
              <a:rPr lang="en-US" sz="2500">
                <a:solidFill>
                  <a:srgbClr val="03045A"/>
                </a:solidFill>
                <a:latin typeface="Open Sauce"/>
                <a:ea typeface="Open Sauce"/>
                <a:cs typeface="Open Sauce"/>
                <a:sym typeface="Open Sauce"/>
              </a:rPr>
              <a:t>Reduksi Data (Data Reduction)</a:t>
            </a:r>
          </a:p>
        </p:txBody>
      </p:sp>
      <p:sp>
        <p:nvSpPr>
          <p:cNvPr id="18" name="TextBox 18"/>
          <p:cNvSpPr txBox="1"/>
          <p:nvPr/>
        </p:nvSpPr>
        <p:spPr>
          <a:xfrm>
            <a:off x="11215181" y="5426400"/>
            <a:ext cx="5219842" cy="422340"/>
          </a:xfrm>
          <a:prstGeom prst="rect">
            <a:avLst/>
          </a:prstGeom>
        </p:spPr>
        <p:txBody>
          <a:bodyPr lIns="0" tIns="0" rIns="0" bIns="0" rtlCol="0" anchor="t">
            <a:spAutoFit/>
          </a:bodyPr>
          <a:lstStyle/>
          <a:p>
            <a:pPr marL="0" lvl="0" indent="0" algn="ctr">
              <a:lnSpc>
                <a:spcPts val="3500"/>
              </a:lnSpc>
              <a:spcBef>
                <a:spcPct val="0"/>
              </a:spcBef>
            </a:pPr>
            <a:r>
              <a:rPr lang="en-US" sz="2500">
                <a:solidFill>
                  <a:srgbClr val="03045A"/>
                </a:solidFill>
                <a:latin typeface="Open Sauce"/>
                <a:ea typeface="Open Sauce"/>
                <a:cs typeface="Open Sauce"/>
                <a:sym typeface="Open Sauce"/>
              </a:rPr>
              <a:t>Penyajian Data (Data Display)</a:t>
            </a:r>
          </a:p>
        </p:txBody>
      </p:sp>
      <p:sp>
        <p:nvSpPr>
          <p:cNvPr id="19" name="TextBox 19"/>
          <p:cNvSpPr txBox="1"/>
          <p:nvPr/>
        </p:nvSpPr>
        <p:spPr>
          <a:xfrm>
            <a:off x="11215181" y="6745721"/>
            <a:ext cx="5219842" cy="1298772"/>
          </a:xfrm>
          <a:prstGeom prst="rect">
            <a:avLst/>
          </a:prstGeom>
        </p:spPr>
        <p:txBody>
          <a:bodyPr lIns="0" tIns="0" rIns="0" bIns="0" rtlCol="0" anchor="t">
            <a:spAutoFit/>
          </a:bodyPr>
          <a:lstStyle/>
          <a:p>
            <a:pPr marL="0" lvl="0" indent="0" algn="ctr">
              <a:lnSpc>
                <a:spcPts val="3500"/>
              </a:lnSpc>
              <a:spcBef>
                <a:spcPct val="0"/>
              </a:spcBef>
            </a:pPr>
            <a:r>
              <a:rPr lang="en-US" sz="2500">
                <a:solidFill>
                  <a:srgbClr val="03045A"/>
                </a:solidFill>
                <a:latin typeface="Open Sauce"/>
                <a:ea typeface="Open Sauce"/>
                <a:cs typeface="Open Sauce"/>
                <a:sym typeface="Open Sauce"/>
              </a:rPr>
              <a:t>Penarikan Kesimpulan dan Verifikasi (Conclusion Drawing/Verification)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855BF"/>
        </a:solidFill>
        <a:effectLst/>
      </p:bgPr>
    </p:bg>
    <p:spTree>
      <p:nvGrpSpPr>
        <p:cNvPr id="1" name=""/>
        <p:cNvGrpSpPr/>
        <p:nvPr/>
      </p:nvGrpSpPr>
      <p:grpSpPr>
        <a:xfrm>
          <a:off x="0" y="0"/>
          <a:ext cx="0" cy="0"/>
          <a:chOff x="0" y="0"/>
          <a:chExt cx="0" cy="0"/>
        </a:xfrm>
      </p:grpSpPr>
      <p:sp>
        <p:nvSpPr>
          <p:cNvPr id="2" name="Freeform 2"/>
          <p:cNvSpPr/>
          <p:nvPr/>
        </p:nvSpPr>
        <p:spPr>
          <a:xfrm>
            <a:off x="1028700" y="3448791"/>
            <a:ext cx="243681" cy="243681"/>
          </a:xfrm>
          <a:custGeom>
            <a:avLst/>
            <a:gdLst/>
            <a:ahLst/>
            <a:cxnLst/>
            <a:rect l="l" t="t" r="r" b="b"/>
            <a:pathLst>
              <a:path w="243681" h="243681">
                <a:moveTo>
                  <a:pt x="0" y="0"/>
                </a:moveTo>
                <a:lnTo>
                  <a:pt x="243681" y="0"/>
                </a:lnTo>
                <a:lnTo>
                  <a:pt x="243681" y="243681"/>
                </a:lnTo>
                <a:lnTo>
                  <a:pt x="0" y="243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7653087"/>
            <a:ext cx="1544385" cy="154438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045A"/>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0" y="0"/>
            <a:ext cx="15201900" cy="2876911"/>
            <a:chOff x="0" y="0"/>
            <a:chExt cx="2355172" cy="445709"/>
          </a:xfrm>
        </p:grpSpPr>
        <p:sp>
          <p:nvSpPr>
            <p:cNvPr id="7" name="Freeform 7"/>
            <p:cNvSpPr/>
            <p:nvPr/>
          </p:nvSpPr>
          <p:spPr>
            <a:xfrm>
              <a:off x="0" y="0"/>
              <a:ext cx="2355172" cy="445709"/>
            </a:xfrm>
            <a:custGeom>
              <a:avLst/>
              <a:gdLst/>
              <a:ahLst/>
              <a:cxnLst/>
              <a:rect l="l" t="t" r="r" b="b"/>
              <a:pathLst>
                <a:path w="2355172" h="445709">
                  <a:moveTo>
                    <a:pt x="0" y="0"/>
                  </a:moveTo>
                  <a:lnTo>
                    <a:pt x="2355172" y="0"/>
                  </a:lnTo>
                  <a:lnTo>
                    <a:pt x="2355172" y="445709"/>
                  </a:lnTo>
                  <a:lnTo>
                    <a:pt x="0" y="445709"/>
                  </a:lnTo>
                  <a:close/>
                </a:path>
              </a:pathLst>
            </a:custGeom>
            <a:blipFill>
              <a:blip r:embed="rId4">
                <a:alphaModFix amt="30000"/>
              </a:blip>
              <a:stretch>
                <a:fillRect l="-9298" t="-217853" b="-66936"/>
              </a:stretch>
            </a:blipFill>
          </p:spPr>
        </p:sp>
      </p:grpSp>
      <p:grpSp>
        <p:nvGrpSpPr>
          <p:cNvPr id="8" name="Group 8"/>
          <p:cNvGrpSpPr/>
          <p:nvPr/>
        </p:nvGrpSpPr>
        <p:grpSpPr>
          <a:xfrm>
            <a:off x="9938068" y="0"/>
            <a:ext cx="4617975" cy="6972888"/>
            <a:chOff x="0" y="0"/>
            <a:chExt cx="660400" cy="997168"/>
          </a:xfrm>
        </p:grpSpPr>
        <p:sp>
          <p:nvSpPr>
            <p:cNvPr id="9" name="Freeform 9"/>
            <p:cNvSpPr/>
            <p:nvPr/>
          </p:nvSpPr>
          <p:spPr>
            <a:xfrm>
              <a:off x="0" y="0"/>
              <a:ext cx="660400" cy="997168"/>
            </a:xfrm>
            <a:custGeom>
              <a:avLst/>
              <a:gdLst/>
              <a:ahLst/>
              <a:cxnLst/>
              <a:rect l="l" t="t" r="r" b="b"/>
              <a:pathLst>
                <a:path w="660400" h="997168">
                  <a:moveTo>
                    <a:pt x="220252" y="978099"/>
                  </a:moveTo>
                  <a:cubicBezTo>
                    <a:pt x="254109" y="989613"/>
                    <a:pt x="292600" y="997168"/>
                    <a:pt x="330378" y="997168"/>
                  </a:cubicBezTo>
                  <a:cubicBezTo>
                    <a:pt x="368157" y="997168"/>
                    <a:pt x="404509" y="990691"/>
                    <a:pt x="438009" y="979177"/>
                  </a:cubicBezTo>
                  <a:cubicBezTo>
                    <a:pt x="438723" y="978817"/>
                    <a:pt x="439435" y="978817"/>
                    <a:pt x="440148" y="978458"/>
                  </a:cubicBezTo>
                  <a:cubicBezTo>
                    <a:pt x="565955" y="932403"/>
                    <a:pt x="658618" y="810789"/>
                    <a:pt x="660400" y="664570"/>
                  </a:cubicBezTo>
                  <a:lnTo>
                    <a:pt x="660400" y="0"/>
                  </a:lnTo>
                  <a:lnTo>
                    <a:pt x="0" y="0"/>
                  </a:lnTo>
                  <a:lnTo>
                    <a:pt x="0" y="664077"/>
                  </a:lnTo>
                  <a:cubicBezTo>
                    <a:pt x="1782" y="811508"/>
                    <a:pt x="93019" y="933123"/>
                    <a:pt x="220252" y="978099"/>
                  </a:cubicBezTo>
                  <a:close/>
                </a:path>
              </a:pathLst>
            </a:custGeom>
            <a:blipFill>
              <a:blip r:embed="rId5"/>
              <a:stretch>
                <a:fillRect l="-153240"/>
              </a:stretch>
            </a:blipFill>
          </p:spPr>
        </p:sp>
      </p:grpSp>
      <p:grpSp>
        <p:nvGrpSpPr>
          <p:cNvPr id="10" name="Group 10"/>
          <p:cNvGrpSpPr/>
          <p:nvPr/>
        </p:nvGrpSpPr>
        <p:grpSpPr>
          <a:xfrm>
            <a:off x="15201900" y="0"/>
            <a:ext cx="3086100" cy="10287000"/>
            <a:chOff x="0" y="0"/>
            <a:chExt cx="812800" cy="2709333"/>
          </a:xfrm>
        </p:grpSpPr>
        <p:sp>
          <p:nvSpPr>
            <p:cNvPr id="11" name="Freeform 11"/>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12" name="TextBox 12"/>
            <p:cNvSpPr txBox="1"/>
            <p:nvPr/>
          </p:nvSpPr>
          <p:spPr>
            <a:xfrm>
              <a:off x="0" y="-47625"/>
              <a:ext cx="812800" cy="2756958"/>
            </a:xfrm>
            <a:prstGeom prst="rect">
              <a:avLst/>
            </a:prstGeom>
          </p:spPr>
          <p:txBody>
            <a:bodyPr lIns="50800" tIns="50800" rIns="50800" bIns="50800" rtlCol="0" anchor="ctr"/>
            <a:lstStyle/>
            <a:p>
              <a:pPr algn="ctr">
                <a:lnSpc>
                  <a:spcPts val="3500"/>
                </a:lnSpc>
              </a:pPr>
              <a:endParaRPr/>
            </a:p>
          </p:txBody>
        </p:sp>
      </p:grpSp>
      <p:sp>
        <p:nvSpPr>
          <p:cNvPr id="13" name="Freeform 13"/>
          <p:cNvSpPr/>
          <p:nvPr/>
        </p:nvSpPr>
        <p:spPr>
          <a:xfrm>
            <a:off x="1415066" y="8029928"/>
            <a:ext cx="790703" cy="790703"/>
          </a:xfrm>
          <a:custGeom>
            <a:avLst/>
            <a:gdLst/>
            <a:ahLst/>
            <a:cxnLst/>
            <a:rect l="l" t="t" r="r" b="b"/>
            <a:pathLst>
              <a:path w="790703" h="790703">
                <a:moveTo>
                  <a:pt x="0" y="0"/>
                </a:moveTo>
                <a:lnTo>
                  <a:pt x="790703" y="0"/>
                </a:lnTo>
                <a:lnTo>
                  <a:pt x="790703" y="790703"/>
                </a:lnTo>
                <a:lnTo>
                  <a:pt x="0" y="790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rot="5400000">
            <a:off x="15274810" y="7212982"/>
            <a:ext cx="3008405" cy="960574"/>
          </a:xfrm>
          <a:custGeom>
            <a:avLst/>
            <a:gdLst/>
            <a:ahLst/>
            <a:cxnLst/>
            <a:rect l="l" t="t" r="r" b="b"/>
            <a:pathLst>
              <a:path w="3008405" h="960574">
                <a:moveTo>
                  <a:pt x="0" y="0"/>
                </a:moveTo>
                <a:lnTo>
                  <a:pt x="3008405" y="0"/>
                </a:lnTo>
                <a:lnTo>
                  <a:pt x="3008405" y="960574"/>
                </a:lnTo>
                <a:lnTo>
                  <a:pt x="0" y="9605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rot="-5400000">
            <a:off x="15463640" y="1976503"/>
            <a:ext cx="3791214" cy="1895607"/>
          </a:xfrm>
          <a:custGeom>
            <a:avLst/>
            <a:gdLst/>
            <a:ahLst/>
            <a:cxnLst/>
            <a:rect l="l" t="t" r="r" b="b"/>
            <a:pathLst>
              <a:path w="3791214" h="1895607">
                <a:moveTo>
                  <a:pt x="0" y="0"/>
                </a:moveTo>
                <a:lnTo>
                  <a:pt x="3791213" y="0"/>
                </a:lnTo>
                <a:lnTo>
                  <a:pt x="3791213" y="1895607"/>
                </a:lnTo>
                <a:lnTo>
                  <a:pt x="0" y="189560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a:off x="7077871" y="1014527"/>
            <a:ext cx="2655387" cy="847857"/>
          </a:xfrm>
          <a:custGeom>
            <a:avLst/>
            <a:gdLst/>
            <a:ahLst/>
            <a:cxnLst/>
            <a:rect l="l" t="t" r="r" b="b"/>
            <a:pathLst>
              <a:path w="2655387" h="847857">
                <a:moveTo>
                  <a:pt x="0" y="0"/>
                </a:moveTo>
                <a:lnTo>
                  <a:pt x="2655387" y="0"/>
                </a:lnTo>
                <a:lnTo>
                  <a:pt x="2655387" y="847857"/>
                </a:lnTo>
                <a:lnTo>
                  <a:pt x="0" y="84785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TextBox 17"/>
          <p:cNvSpPr txBox="1"/>
          <p:nvPr/>
        </p:nvSpPr>
        <p:spPr>
          <a:xfrm>
            <a:off x="1028700" y="4385724"/>
            <a:ext cx="10480633" cy="2586596"/>
          </a:xfrm>
          <a:prstGeom prst="rect">
            <a:avLst/>
          </a:prstGeom>
        </p:spPr>
        <p:txBody>
          <a:bodyPr lIns="0" tIns="0" rIns="0" bIns="0" rtlCol="0" anchor="t">
            <a:spAutoFit/>
          </a:bodyPr>
          <a:lstStyle/>
          <a:p>
            <a:pPr algn="l">
              <a:lnSpc>
                <a:spcPts val="10018"/>
              </a:lnSpc>
            </a:pPr>
            <a:r>
              <a:rPr lang="en-US" sz="9633" b="1" spc="-317">
                <a:solidFill>
                  <a:srgbClr val="FFFFFF"/>
                </a:solidFill>
                <a:latin typeface="Open Sauce Bold"/>
                <a:ea typeface="Open Sauce Bold"/>
                <a:cs typeface="Open Sauce Bold"/>
                <a:sym typeface="Open Sauce Bold"/>
              </a:rPr>
              <a:t>SEKIAN </a:t>
            </a:r>
          </a:p>
          <a:p>
            <a:pPr algn="l">
              <a:lnSpc>
                <a:spcPts val="10018"/>
              </a:lnSpc>
            </a:pPr>
            <a:r>
              <a:rPr lang="en-US" sz="9633" b="1" spc="-317">
                <a:solidFill>
                  <a:srgbClr val="FFFFFF"/>
                </a:solidFill>
                <a:latin typeface="Open Sauce Bold"/>
                <a:ea typeface="Open Sauce Bold"/>
                <a:cs typeface="Open Sauce Bold"/>
                <a:sym typeface="Open Sauce Bold"/>
              </a:rPr>
              <a:t>TERIMA KASIH</a:t>
            </a:r>
          </a:p>
        </p:txBody>
      </p:sp>
      <p:sp>
        <p:nvSpPr>
          <p:cNvPr id="18" name="Freeform 18"/>
          <p:cNvSpPr/>
          <p:nvPr/>
        </p:nvSpPr>
        <p:spPr>
          <a:xfrm>
            <a:off x="11325979" y="2754852"/>
            <a:ext cx="4777296" cy="4777296"/>
          </a:xfrm>
          <a:custGeom>
            <a:avLst/>
            <a:gdLst/>
            <a:ahLst/>
            <a:cxnLst/>
            <a:rect l="l" t="t" r="r" b="b"/>
            <a:pathLst>
              <a:path w="4777296" h="4777296">
                <a:moveTo>
                  <a:pt x="0" y="0"/>
                </a:moveTo>
                <a:lnTo>
                  <a:pt x="4777296" y="0"/>
                </a:lnTo>
                <a:lnTo>
                  <a:pt x="4777296" y="4777296"/>
                </a:lnTo>
                <a:lnTo>
                  <a:pt x="0" y="4777296"/>
                </a:lnTo>
                <a:lnTo>
                  <a:pt x="0" y="0"/>
                </a:lnTo>
                <a:close/>
              </a:path>
            </a:pathLst>
          </a:custGeom>
          <a:blipFill>
            <a:blip r:embed="rId12"/>
            <a:stretch>
              <a:fillRect/>
            </a:stretch>
          </a:blipFill>
        </p:spPr>
      </p:sp>
      <p:sp>
        <p:nvSpPr>
          <p:cNvPr id="19" name="TextBox 19"/>
          <p:cNvSpPr txBox="1"/>
          <p:nvPr/>
        </p:nvSpPr>
        <p:spPr>
          <a:xfrm>
            <a:off x="1440053" y="3353161"/>
            <a:ext cx="3636760" cy="365692"/>
          </a:xfrm>
          <a:prstGeom prst="rect">
            <a:avLst/>
          </a:prstGeom>
        </p:spPr>
        <p:txBody>
          <a:bodyPr lIns="0" tIns="0" rIns="0" bIns="0" rtlCol="0" anchor="t">
            <a:spAutoFit/>
          </a:bodyPr>
          <a:lstStyle/>
          <a:p>
            <a:pPr marL="0" lvl="0" indent="0" algn="l">
              <a:lnSpc>
                <a:spcPts val="2940"/>
              </a:lnSpc>
              <a:spcBef>
                <a:spcPct val="0"/>
              </a:spcBef>
            </a:pPr>
            <a:r>
              <a:rPr lang="en-US" sz="2100">
                <a:solidFill>
                  <a:srgbClr val="FFFFFF"/>
                </a:solidFill>
                <a:latin typeface="Open Sauce"/>
                <a:ea typeface="Open Sauce"/>
                <a:cs typeface="Open Sauce"/>
                <a:sym typeface="Open Sauce"/>
              </a:rPr>
              <a:t>PROPSAL SKRIPSI</a:t>
            </a:r>
          </a:p>
        </p:txBody>
      </p:sp>
      <p:sp>
        <p:nvSpPr>
          <p:cNvPr id="20" name="TextBox 20"/>
          <p:cNvSpPr txBox="1"/>
          <p:nvPr/>
        </p:nvSpPr>
        <p:spPr>
          <a:xfrm>
            <a:off x="1028700" y="1072644"/>
            <a:ext cx="5839621" cy="365692"/>
          </a:xfrm>
          <a:prstGeom prst="rect">
            <a:avLst/>
          </a:prstGeom>
        </p:spPr>
        <p:txBody>
          <a:bodyPr lIns="0" tIns="0" rIns="0" bIns="0" rtlCol="0" anchor="t">
            <a:spAutoFit/>
          </a:bodyPr>
          <a:lstStyle/>
          <a:p>
            <a:pPr marL="0" lvl="0" indent="0" algn="l">
              <a:lnSpc>
                <a:spcPts val="2940"/>
              </a:lnSpc>
              <a:spcBef>
                <a:spcPct val="0"/>
              </a:spcBef>
            </a:pPr>
            <a:r>
              <a:rPr lang="en-US" sz="2100">
                <a:solidFill>
                  <a:srgbClr val="FFFFFF"/>
                </a:solidFill>
                <a:latin typeface="Open Sauce"/>
                <a:ea typeface="Open Sauce"/>
                <a:cs typeface="Open Sauce"/>
                <a:sym typeface="Open Sauce"/>
              </a:rPr>
              <a:t>Reqwes By : Mohamad Rafli Firmansyah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1181</Words>
  <Application>Microsoft Office PowerPoint</Application>
  <PresentationFormat>Custom</PresentationFormat>
  <Paragraphs>92</Paragraphs>
  <Slides>19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5" baseType="lpstr">
      <vt:lpstr>Open Sauce Bold</vt:lpstr>
      <vt:lpstr>Arial</vt:lpstr>
      <vt:lpstr>Open Sauce</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POLITEKNIK NEGERI MADIUN</dc:title>
  <cp:lastModifiedBy>DESA SINIU</cp:lastModifiedBy>
  <cp:revision>2</cp:revision>
  <dcterms:created xsi:type="dcterms:W3CDTF">2006-08-16T00:00:00Z</dcterms:created>
  <dcterms:modified xsi:type="dcterms:W3CDTF">2025-11-19T14:25:52Z</dcterms:modified>
  <dc:identifier>DAG3_NPECZ8</dc:identifier>
</cp:coreProperties>
</file>